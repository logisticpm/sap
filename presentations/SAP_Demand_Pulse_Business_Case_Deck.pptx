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mand Pulse business case" id="{396a3685-f2f9-cc9a-884a-5e93e0147278}">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353A"/>
                </a:solidFill>
                <a:latin typeface="+mn-lt"/>
              </a:defRPr>
            </a:pPr>
            <a:r>
              <a:rPr sz="1200" b="0" i="0" u="none" strike="noStrike">
                <a:solidFill>
                  <a:srgbClr val="14353A"/>
                </a:solidFill>
                <a:latin typeface="+mn-lt"/>
              </a:rPr>
              <a:t>Measured model cost per exception, USD (real calls on three synthetic items)</a:t>
            </a:r>
          </a:p>
        </c:rich>
      </c:tx>
      <c:layout/>
      <c:overlay val="0"/>
    </c:title>
    <c:autoTitleDeleted val="0"/>
    <c:plotArea>
      <c:layout/>
      <c:barChart>
        <c:barDir val="col"/>
        <c:grouping val="stacked"/>
        <c:varyColors val="0"/>
        <c:ser>
          <c:idx val="0"/>
          <c:order val="0"/>
          <c:tx>
            <c:strRef>
              <c:f>Sheet1!$B$1</c:f>
              <c:strCache>
                <c:ptCount val="1"/>
                <c:pt idx="0">
                  <c:v>Initial review</c:v>
                </c:pt>
              </c:strCache>
            </c:strRef>
          </c:tx>
          <c:spPr>
            <a:solidFill>
              <a:srgbClr val="16765F"/>
            </a:solidFill>
            <a:effectLst/>
          </c:spPr>
          <c:invertIfNegative val="0"/>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Item A (140 cases)</c:v>
                  </c:pt>
                  <c:pt idx="1">
                    <c:v>Item B (0 cases)</c:v>
                  </c:pt>
                  <c:pt idx="2">
                    <c:v>Item C (blocked, repaired)</c:v>
                  </c:pt>
                </c:lvl>
              </c:multiLvlStrCache>
            </c:multiLvlStrRef>
          </c:cat>
          <c:val>
            <c:numRef>
              <c:f>Sheet1!$B$2:$B$4</c:f>
              <c:numCache>
                <c:formatCode>General</c:formatCode>
                <c:ptCount val="3"/>
                <c:pt idx="0">
                  <c:v>0.475</c:v>
                </c:pt>
                <c:pt idx="1">
                  <c:v>0.359</c:v>
                </c:pt>
                <c:pt idx="2">
                  <c:v>0.277</c:v>
                </c:pt>
              </c:numCache>
            </c:numRef>
          </c:val>
        </c:ser>
        <c:ser>
          <c:idx val="1"/>
          <c:order val="1"/>
          <c:tx>
            <c:strRef>
              <c:f>Sheet1!$C$1</c:f>
              <c:strCache>
                <c:ptCount val="1"/>
                <c:pt idx="0">
                  <c:v>Correction round</c:v>
                </c:pt>
              </c:strCache>
            </c:strRef>
          </c:tx>
          <c:spPr>
            <a:solidFill>
              <a:srgbClr val="C8781E"/>
            </a:solidFill>
            <a:effectLst/>
          </c:spPr>
          <c:invertIfNegative val="0"/>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Item A (140 cases)</c:v>
                  </c:pt>
                  <c:pt idx="1">
                    <c:v>Item B (0 cases)</c:v>
                  </c:pt>
                  <c:pt idx="2">
                    <c:v>Item C (blocked, repaired)</c:v>
                  </c:pt>
                </c:lvl>
              </c:multiLvlStrCache>
            </c:multiLvlStrRef>
          </c:cat>
          <c:val>
            <c:numRef>
              <c:f>Sheet1!$C$2:$C$4</c:f>
              <c:numCache>
                <c:formatCode>General</c:formatCode>
                <c:ptCount val="3"/>
                <c:pt idx="0">
                  <c:v>0.085</c:v>
                </c:pt>
                <c:pt idx="1">
                  <c:v>0</c:v>
                </c:pt>
                <c:pt idx="2">
                  <c:v>0.063</c:v>
                </c:pt>
              </c:numCache>
            </c:numRef>
          </c:val>
        </c:ser>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4353A"/>
                </a:solidFill>
                <a:latin typeface="+mn-lt"/>
              </a:defRPr>
            </a:pPr>
            <a:endParaRPr lang="en-US"/>
          </a:p>
        </c:txPr>
        <c:crossAx val="2094734552"/>
        <c:crosses val="autoZero"/>
        <c:auto val="1"/>
        <c:lblAlgn val="ctr"/>
        <c:noMultiLvlLbl val="1"/>
      </c:catAx>
      <c:valAx>
        <c:axId val="2094734552"/>
        <c:scaling>
          <c:orientation val="minMax"/>
          <c:max val="0.6"/>
        </c:scaling>
        <c:delete val="0"/>
        <c:axPos val="l"/>
        <c:majorGridlines>
          <c:spPr>
            <a:ln w="6350" cap="flat">
              <a:solidFill>
                <a:srgbClr val="D9E6E1"/>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70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4353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(15 s)] Open with the boundary. This is a business case for a pilot, not a claim of realised benefit. The story has three beats: the problem is a handoff, not a forecast; the model reads while rules decide and humans authorise; we have said in advance how we lose. Then one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[0:15–0:50 (35 s)] Beat one: the problem is a handoff, not a forecast, and it is a class, not a case. Name the triggers on the chips, then walk the five generic steps. CASE-1042 is the instance we built against; say that once and move on. The pain is that the information exists and nothing carries it 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[0:50–1:25 (35 s)] Problem definition carries twenty percent. Name the user, the workflow, and then the evidence ladder: two regulator studies, two retailer documents, one real SAP purchasing log with a 9.3-day median, and our own negative simulation results, which are why the handoff and not the forecast is the problem to solve. Say what is still missing: planner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[1:25–1:50 (25 s)] The end point is the handoff to procurement approval. Not 'the Agent made a suggestion', not 'the goods arrived'. Dwell on WAIT: missing evidence stays missing and resumable. Then the two boundaries: the demand evidence gate (continue / clarify / pause; it judges whether the demand evidence supports pursuing supply, it does not estimate unrecorded demand) and the quantity boundary (approved requests or an explicit rule, never supply as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[1:50–2:20 (30 s)] Product solution carries twenty percent: improvement over alternatives, feature priority, adoption, value against cost. Read the table by rows, not columns. Dwell on the second column: a strong form with our rules may be enough, and we will find out before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[2:20–2:45 (25 s)] Beat two: the model reads, rules decide, humans authorise. Point at the dashed box: the demand evidence gate. The model gives a cited continue / clarify / pause judgment on the retailer's demand records; rules let only a current continue open investigation. It judges whether the evidence supports pursuing supply; it never estimates unrecorded demand. The demo follows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[2:45–3:00 (15 s) · LIVE DEMO 3:00–5:00 (2:00)] Prototype carries twenty percent. Fifteen seconds on this slide, then two minutes live. Narrate the authority at each step, not the UI: who may see what, who may authorise what, what the rules refused. If the live demo fails, walk these six frames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[5:00–5:15 (15 s, point, do not read)] One slide for 'what do you actually have'. Top row: the four evidence labels used throughout and what each cannot establish. Table: each artefact with its strongest label and the thing it does not prove. The in-progress reply flow is deliberately not used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[5:15–5:45 (30 s)] Say the weaknesses before the panel does. Each column is one real failure, what caught it, and the rule that now exists because of it. This is why the correction loop and preserved records matter more than any single good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[5:45–6:10 (25 s)] Beat three begins: three measured numbers, one hypothesis, never blended. Pilot model spend for 10 to 20 exceptions across three arms is under USD 50; the real budget line is participant time and an integration scoping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[6:10–6:50 (40 s)] Stakeholder alignment carries twenty percent. Read one row per function: what they need, what we chose, what we gave up. Then the conflict and how the gates resolve it. End on the limitations we own; docs/STAKEHOLDER_BRIEF.md has a full page per function for follow-up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[6:50–7:25 (35 s)] Implementation plan carries ten percent. Milestones, resources, dependencies, success criteria and stop rules in one view. The twelve days produce an engineering report, never a business number; the pilot needs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[7:25–7:45 (20 s) · 15 s buffer] Close on decisions, not features. One yes-or-no per function. If there are thirty seconds left: we proved the loop runs, stays inside its authority, and catches and repairs its own errors; we have not proved it is worth buying; the pilot answers that, and we have written down what losing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548640" y="6419088"/>
            <a:ext cx="9692640" cy="274320"/>
          </a:xfrm>
          <a:prstGeom prst="rect">
            <a:avLst/>
          </a:prstGeom>
          <a:noFill/>
          <a:ln/>
        </p:spPr>
        <p:txBody>
          <a:bodyPr wrap="square" lIns="0" tIns="0" rIns="0" bIns="0" rtlCol="0" anchor="ctr"/>
          <a:lstStyle/>
          <a:p>
            <a:pPr indent="0" marL="0">
              <a:buNone/>
            </a:pPr>
            <a:r>
              <a:rPr lang="en-US" sz="1000" dirty="0">
                <a:solidFill>
                  <a:schemeClr val="accent4"/>
                </a:solidFill>
              </a:rPr>
              <a:t>Demand Pulse · internal stakeholder review · synthetic business facts · procurement sandbox, not SAP connected</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353A"/>
        </a:solidFill>
      </p:bgPr>
    </p:bg>
    <p:spTree>
      <p:nvGrpSpPr>
        <p:cNvPr id="1" name=""/>
        <p:cNvGrpSpPr/>
        <p:nvPr/>
      </p:nvGrpSpPr>
      <p:grpSpPr>
        <a:xfrm>
          <a:off x="0" y="0"/>
          <a:ext cx="0" cy="0"/>
          <a:chOff x="0" y="0"/>
          <a:chExt cx="0" cy="0"/>
        </a:xfrm>
      </p:grpSpPr>
      <p:sp>
        <p:nvSpPr>
          <p:cNvPr id="2" name="Text 0"/>
          <p:cNvSpPr/>
          <p:nvPr/>
        </p:nvSpPr>
        <p:spPr>
          <a:xfrm>
            <a:off x="548640" y="6419088"/>
            <a:ext cx="9692640" cy="274320"/>
          </a:xfrm>
          <a:prstGeom prst="rect">
            <a:avLst/>
          </a:prstGeom>
          <a:noFill/>
          <a:ln/>
        </p:spPr>
        <p:txBody>
          <a:bodyPr wrap="square" lIns="0" tIns="0" rIns="0" bIns="0" rtlCol="0" anchor="ctr"/>
          <a:lstStyle/>
          <a:p>
            <a:pPr indent="0" marL="0">
              <a:buNone/>
            </a:pPr>
            <a:r>
              <a:rPr lang="en-US" sz="1000" dirty="0">
                <a:solidFill>
                  <a:schemeClr val="accent6"/>
                </a:solidFill>
              </a:rPr>
              <a:t>Demand Pulse · internal stakeholder review · synthetic business facts · procurement sandbox, not SAP connected</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972800" cy="1005840"/>
          </a:xfrm>
          <a:prstGeom prst="rect">
            <a:avLst/>
          </a:prstGeom>
          <a:noFill/>
          <a:ln/>
        </p:spPr>
        <p:txBody>
          <a:bodyPr wrap="square" lIns="0" tIns="0" rIns="0" bIns="0" rtlCol="0" anchor="t"/>
          <a:lstStyle/>
          <a:p>
            <a:pPr indent="0" marL="0">
              <a:buNone/>
            </a:pPr>
            <a:r>
              <a:rPr lang="en-US" sz="5400" b="1" dirty="0">
                <a:solidFill>
                  <a:schemeClr val="bg1"/>
                </a:solidFill>
                <a:latin typeface="Cambria" pitchFamily="34" charset="0"/>
                <a:ea typeface="Cambria" pitchFamily="34" charset="-122"/>
                <a:cs typeface="Cambria" pitchFamily="34" charset="-120"/>
              </a:rPr>
              <a:t>Demand Pulse</a:t>
            </a:r>
            <a:endParaRPr lang="en-US" sz="5400" dirty="0"/>
          </a:p>
        </p:txBody>
      </p:sp>
      <p:sp>
        <p:nvSpPr>
          <p:cNvPr id="3" name="Text 1"/>
          <p:cNvSpPr txBox="1"/>
          <p:nvPr/>
        </p:nvSpPr>
        <p:spPr>
          <a:xfrm>
            <a:off x="548640" y="2468880"/>
            <a:ext cx="10424160" cy="914400"/>
          </a:xfrm>
          <a:prstGeom prst="rect">
            <a:avLst/>
          </a:prstGeom>
          <a:noFill/>
          <a:ln/>
        </p:spPr>
        <p:txBody>
          <a:bodyPr wrap="square" lIns="0" tIns="0" rIns="0" bIns="0" rtlCol="0" anchor="t"/>
          <a:lstStyle/>
          <a:p>
            <a:pPr indent="0" marL="0">
              <a:buNone/>
            </a:pPr>
            <a:r>
              <a:rPr lang="en-US" sz="2400" dirty="0">
                <a:solidFill>
                  <a:schemeClr val="accent6"/>
                </a:solidFill>
              </a:rPr>
              <a:t>Business case: closing a replenishment exception from supplier reply to procurement handoff</a:t>
            </a:r>
            <a:endParaRPr lang="en-US" sz="2400" dirty="0"/>
          </a:p>
        </p:txBody>
      </p:sp>
      <p:sp>
        <p:nvSpPr>
          <p:cNvPr id="4" name="Text 2"/>
          <p:cNvSpPr txBox="1"/>
          <p:nvPr/>
        </p:nvSpPr>
        <p:spPr>
          <a:xfrm>
            <a:off x="548640" y="3611880"/>
            <a:ext cx="10058400" cy="365760"/>
          </a:xfrm>
          <a:prstGeom prst="rect">
            <a:avLst/>
          </a:prstGeom>
          <a:noFill/>
          <a:ln/>
        </p:spPr>
        <p:txBody>
          <a:bodyPr wrap="square" lIns="0" tIns="0" rIns="0" bIns="0" rtlCol="0" anchor="t"/>
          <a:lstStyle/>
          <a:p>
            <a:pPr indent="0" marL="0">
              <a:buNone/>
            </a:pPr>
            <a:r>
              <a:rPr lang="en-US" sz="1400" dirty="0">
                <a:solidFill>
                  <a:schemeClr val="accent6"/>
                </a:solidFill>
              </a:rPr>
              <a:t>The J Collective  ·  internal stakeholder review  ·  25 October 2026</a:t>
            </a:r>
            <a:endParaRPr lang="en-US" sz="1400" dirty="0"/>
          </a:p>
        </p:txBody>
      </p:sp>
      <p:sp>
        <p:nvSpPr>
          <p:cNvPr id="5" name="Shape 3"/>
          <p:cNvSpPr/>
          <p:nvPr/>
        </p:nvSpPr>
        <p:spPr>
          <a:xfrm>
            <a:off x="548640" y="4572000"/>
            <a:ext cx="11064240" cy="1188720"/>
          </a:xfrm>
          <a:prstGeom prst="roundRect">
            <a:avLst>
              <a:gd name="adj" fmla="val 4615"/>
            </a:avLst>
          </a:prstGeom>
          <a:solidFill>
            <a:schemeClr val="tx2"/>
          </a:solidFill>
          <a:ln w="12700">
            <a:solidFill>
              <a:srgbClr val="0F5C4D"/>
            </a:solidFill>
            <a:prstDash val="solid"/>
          </a:ln>
        </p:spPr>
      </p:sp>
      <p:sp>
        <p:nvSpPr>
          <p:cNvPr id="6" name="Text 4"/>
          <p:cNvSpPr txBox="1"/>
          <p:nvPr/>
        </p:nvSpPr>
        <p:spPr>
          <a:xfrm>
            <a:off x="822960" y="4709160"/>
            <a:ext cx="5486400" cy="320040"/>
          </a:xfrm>
          <a:prstGeom prst="rect">
            <a:avLst/>
          </a:prstGeom>
          <a:noFill/>
          <a:ln/>
        </p:spPr>
        <p:txBody>
          <a:bodyPr wrap="square" lIns="0" tIns="0" rIns="0" bIns="0" rtlCol="0" anchor="t"/>
          <a:lstStyle/>
          <a:p>
            <a:pPr indent="0" marL="0">
              <a:buNone/>
            </a:pPr>
            <a:r>
              <a:rPr lang="en-US" sz="1300" b="1" dirty="0">
                <a:solidFill>
                  <a:schemeClr val="accent6"/>
                </a:solidFill>
              </a:rPr>
              <a:t>Read before judging the rest</a:t>
            </a:r>
            <a:endParaRPr lang="en-US" sz="1300" dirty="0"/>
          </a:p>
        </p:txBody>
      </p:sp>
      <p:sp>
        <p:nvSpPr>
          <p:cNvPr id="7" name="Text 5"/>
          <p:cNvSpPr txBox="1"/>
          <p:nvPr/>
        </p:nvSpPr>
        <p:spPr>
          <a:xfrm>
            <a:off x="822960" y="5029200"/>
            <a:ext cx="10515600" cy="685800"/>
          </a:xfrm>
          <a:prstGeom prst="rect">
            <a:avLst/>
          </a:prstGeom>
          <a:noFill/>
          <a:ln/>
        </p:spPr>
        <p:txBody>
          <a:bodyPr wrap="square" lIns="0" tIns="0" rIns="0" bIns="0" rtlCol="0" anchor="t"/>
          <a:lstStyle/>
          <a:p>
            <a:pPr indent="0" marL="0">
              <a:buNone/>
            </a:pPr>
            <a:r>
              <a:rPr lang="en-US" sz="1300" dirty="0">
                <a:solidFill>
                  <a:schemeClr val="bg1"/>
                </a:solidFill>
              </a:rPr>
              <a:t>Every business fact in this deck is synthetic. The procurement target is a sandbox that says "not SAP connected" on every response. Model costs are measured; savings, adoption and profit are hypotheses that a pilot is designed to test. We would rather you hear that from us.</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The exception we handle: a plan change meets a free-form supplier reply</a:t>
            </a:r>
            <a:endParaRPr lang="en-US" sz="3000" dirty="0"/>
          </a:p>
        </p:txBody>
      </p:sp>
      <p:sp>
        <p:nvSpPr>
          <p:cNvPr id="3" name="Text 1"/>
          <p:cNvSpPr txBox="1"/>
          <p:nvPr/>
        </p:nvSpPr>
        <p:spPr>
          <a:xfrm>
            <a:off x="548640" y="1371600"/>
            <a:ext cx="822960" cy="274320"/>
          </a:xfrm>
          <a:prstGeom prst="rect">
            <a:avLst/>
          </a:prstGeom>
          <a:noFill/>
          <a:ln/>
        </p:spPr>
        <p:txBody>
          <a:bodyPr wrap="square" lIns="0" tIns="0" rIns="0" bIns="0" rtlCol="0" anchor="ctr"/>
          <a:lstStyle/>
          <a:p>
            <a:pPr indent="0" marL="0">
              <a:buNone/>
            </a:pPr>
            <a:r>
              <a:rPr lang="en-US" sz="1150" dirty="0">
                <a:solidFill>
                  <a:schemeClr val="accent4"/>
                </a:solidFill>
              </a:rPr>
              <a:t>Triggers:</a:t>
            </a:r>
            <a:endParaRPr lang="en-US" sz="1150" dirty="0"/>
          </a:p>
        </p:txBody>
      </p:sp>
      <p:sp>
        <p:nvSpPr>
          <p:cNvPr id="4" name="Shape 2"/>
          <p:cNvSpPr/>
          <p:nvPr/>
        </p:nvSpPr>
        <p:spPr>
          <a:xfrm>
            <a:off x="1417320" y="1371600"/>
            <a:ext cx="1440180" cy="274320"/>
          </a:xfrm>
          <a:prstGeom prst="roundRect">
            <a:avLst>
              <a:gd name="adj" fmla="val 50000"/>
            </a:avLst>
          </a:prstGeom>
          <a:solidFill>
            <a:schemeClr val="bg2"/>
          </a:solidFill>
          <a:ln w="9525">
            <a:solidFill>
              <a:srgbClr val="D9E6E1"/>
            </a:solidFill>
            <a:prstDash val="solid"/>
          </a:ln>
        </p:spPr>
      </p:sp>
      <p:sp>
        <p:nvSpPr>
          <p:cNvPr id="5" name="Text 3"/>
          <p:cNvSpPr txBox="1"/>
          <p:nvPr/>
        </p:nvSpPr>
        <p:spPr>
          <a:xfrm>
            <a:off x="1417320" y="1371600"/>
            <a:ext cx="1440180" cy="274320"/>
          </a:xfrm>
          <a:prstGeom prst="rect">
            <a:avLst/>
          </a:prstGeom>
          <a:noFill/>
          <a:ln/>
        </p:spPr>
        <p:txBody>
          <a:bodyPr wrap="square" lIns="0" tIns="0" rIns="0" bIns="0" rtlCol="0" anchor="ctr"/>
          <a:lstStyle/>
          <a:p>
            <a:pPr algn="ctr" indent="0" marL="0">
              <a:buNone/>
            </a:pPr>
            <a:r>
              <a:rPr lang="en-US" sz="1050" dirty="0">
                <a:solidFill>
                  <a:schemeClr val="tx1"/>
                </a:solidFill>
              </a:rPr>
              <a:t>Promotion surge</a:t>
            </a:r>
            <a:endParaRPr lang="en-US" sz="1050" dirty="0"/>
          </a:p>
        </p:txBody>
      </p:sp>
      <p:sp>
        <p:nvSpPr>
          <p:cNvPr id="6" name="Shape 4"/>
          <p:cNvSpPr/>
          <p:nvPr/>
        </p:nvSpPr>
        <p:spPr>
          <a:xfrm>
            <a:off x="2948940" y="1371600"/>
            <a:ext cx="896112" cy="274320"/>
          </a:xfrm>
          <a:prstGeom prst="roundRect">
            <a:avLst>
              <a:gd name="adj" fmla="val 50000"/>
            </a:avLst>
          </a:prstGeom>
          <a:solidFill>
            <a:schemeClr val="bg2"/>
          </a:solidFill>
          <a:ln w="9525">
            <a:solidFill>
              <a:srgbClr val="D9E6E1"/>
            </a:solidFill>
            <a:prstDash val="solid"/>
          </a:ln>
        </p:spPr>
      </p:sp>
      <p:sp>
        <p:nvSpPr>
          <p:cNvPr id="7" name="Text 5"/>
          <p:cNvSpPr txBox="1"/>
          <p:nvPr/>
        </p:nvSpPr>
        <p:spPr>
          <a:xfrm>
            <a:off x="2948940" y="1371600"/>
            <a:ext cx="896112" cy="274320"/>
          </a:xfrm>
          <a:prstGeom prst="rect">
            <a:avLst/>
          </a:prstGeom>
          <a:noFill/>
          <a:ln/>
        </p:spPr>
        <p:txBody>
          <a:bodyPr wrap="square" lIns="0" tIns="0" rIns="0" bIns="0" rtlCol="0" anchor="ctr"/>
          <a:lstStyle/>
          <a:p>
            <a:pPr algn="ctr" indent="0" marL="0">
              <a:buNone/>
            </a:pPr>
            <a:r>
              <a:rPr lang="en-US" sz="1050" dirty="0">
                <a:solidFill>
                  <a:schemeClr val="tx1"/>
                </a:solidFill>
              </a:rPr>
              <a:t>Stockout</a:t>
            </a:r>
            <a:endParaRPr lang="en-US" sz="1050" dirty="0"/>
          </a:p>
        </p:txBody>
      </p:sp>
      <p:sp>
        <p:nvSpPr>
          <p:cNvPr id="8" name="Shape 6"/>
          <p:cNvSpPr/>
          <p:nvPr/>
        </p:nvSpPr>
        <p:spPr>
          <a:xfrm>
            <a:off x="3936492" y="1371600"/>
            <a:ext cx="1362456" cy="274320"/>
          </a:xfrm>
          <a:prstGeom prst="roundRect">
            <a:avLst>
              <a:gd name="adj" fmla="val 50000"/>
            </a:avLst>
          </a:prstGeom>
          <a:solidFill>
            <a:schemeClr val="bg2"/>
          </a:solidFill>
          <a:ln w="9525">
            <a:solidFill>
              <a:srgbClr val="D9E6E1"/>
            </a:solidFill>
            <a:prstDash val="solid"/>
          </a:ln>
        </p:spPr>
      </p:sp>
      <p:sp>
        <p:nvSpPr>
          <p:cNvPr id="9" name="Text 7"/>
          <p:cNvSpPr txBox="1"/>
          <p:nvPr/>
        </p:nvSpPr>
        <p:spPr>
          <a:xfrm>
            <a:off x="3936492" y="1371600"/>
            <a:ext cx="1362456" cy="274320"/>
          </a:xfrm>
          <a:prstGeom prst="rect">
            <a:avLst/>
          </a:prstGeom>
          <a:noFill/>
          <a:ln/>
        </p:spPr>
        <p:txBody>
          <a:bodyPr wrap="square" lIns="0" tIns="0" rIns="0" bIns="0" rtlCol="0" anchor="ctr"/>
          <a:lstStyle/>
          <a:p>
            <a:pPr algn="ctr" indent="0" marL="0">
              <a:buNone/>
            </a:pPr>
            <a:r>
              <a:rPr lang="en-US" sz="1050" dirty="0">
                <a:solidFill>
                  <a:schemeClr val="tx1"/>
                </a:solidFill>
              </a:rPr>
              <a:t>Short shipment</a:t>
            </a:r>
            <a:endParaRPr lang="en-US" sz="1050" dirty="0"/>
          </a:p>
        </p:txBody>
      </p:sp>
      <p:sp>
        <p:nvSpPr>
          <p:cNvPr id="10" name="Shape 8"/>
          <p:cNvSpPr/>
          <p:nvPr/>
        </p:nvSpPr>
        <p:spPr>
          <a:xfrm>
            <a:off x="5390388" y="1371600"/>
            <a:ext cx="2139696" cy="274320"/>
          </a:xfrm>
          <a:prstGeom prst="roundRect">
            <a:avLst>
              <a:gd name="adj" fmla="val 50000"/>
            </a:avLst>
          </a:prstGeom>
          <a:solidFill>
            <a:schemeClr val="bg2"/>
          </a:solidFill>
          <a:ln w="9525">
            <a:solidFill>
              <a:srgbClr val="D9E6E1"/>
            </a:solidFill>
            <a:prstDash val="solid"/>
          </a:ln>
        </p:spPr>
      </p:sp>
      <p:sp>
        <p:nvSpPr>
          <p:cNvPr id="11" name="Text 9"/>
          <p:cNvSpPr txBox="1"/>
          <p:nvPr/>
        </p:nvSpPr>
        <p:spPr>
          <a:xfrm>
            <a:off x="5390388" y="1371600"/>
            <a:ext cx="2139696" cy="274320"/>
          </a:xfrm>
          <a:prstGeom prst="rect">
            <a:avLst/>
          </a:prstGeom>
          <a:noFill/>
          <a:ln/>
        </p:spPr>
        <p:txBody>
          <a:bodyPr wrap="square" lIns="0" tIns="0" rIns="0" bIns="0" rtlCol="0" anchor="ctr"/>
          <a:lstStyle/>
          <a:p>
            <a:pPr algn="ctr" indent="0" marL="0">
              <a:buNone/>
            </a:pPr>
            <a:r>
              <a:rPr lang="en-US" sz="1050" dirty="0">
                <a:solidFill>
                  <a:schemeClr val="tx1"/>
                </a:solidFill>
              </a:rPr>
              <a:t>Carrier or QA disruption</a:t>
            </a:r>
            <a:endParaRPr lang="en-US" sz="1050" dirty="0"/>
          </a:p>
        </p:txBody>
      </p:sp>
      <p:sp>
        <p:nvSpPr>
          <p:cNvPr id="12" name="Shape 10"/>
          <p:cNvSpPr/>
          <p:nvPr/>
        </p:nvSpPr>
        <p:spPr>
          <a:xfrm>
            <a:off x="7621524" y="1371600"/>
            <a:ext cx="2139696" cy="274320"/>
          </a:xfrm>
          <a:prstGeom prst="roundRect">
            <a:avLst>
              <a:gd name="adj" fmla="val 50000"/>
            </a:avLst>
          </a:prstGeom>
          <a:solidFill>
            <a:schemeClr val="bg2"/>
          </a:solidFill>
          <a:ln w="9525">
            <a:solidFill>
              <a:srgbClr val="D9E6E1"/>
            </a:solidFill>
            <a:prstDash val="solid"/>
          </a:ln>
        </p:spPr>
      </p:sp>
      <p:sp>
        <p:nvSpPr>
          <p:cNvPr id="13" name="Text 11"/>
          <p:cNvSpPr txBox="1"/>
          <p:nvPr/>
        </p:nvSpPr>
        <p:spPr>
          <a:xfrm>
            <a:off x="7621524" y="1371600"/>
            <a:ext cx="2139696" cy="274320"/>
          </a:xfrm>
          <a:prstGeom prst="rect">
            <a:avLst/>
          </a:prstGeom>
          <a:noFill/>
          <a:ln/>
        </p:spPr>
        <p:txBody>
          <a:bodyPr wrap="square" lIns="0" tIns="0" rIns="0" bIns="0" rtlCol="0" anchor="ctr"/>
          <a:lstStyle/>
          <a:p>
            <a:pPr algn="ctr" indent="0" marL="0">
              <a:buNone/>
            </a:pPr>
            <a:r>
              <a:rPr lang="en-US" sz="1050" dirty="0">
                <a:solidFill>
                  <a:schemeClr val="tx1"/>
                </a:solidFill>
              </a:rPr>
              <a:t>Substitute or lot change</a:t>
            </a:r>
            <a:endParaRPr lang="en-US" sz="1050" dirty="0"/>
          </a:p>
        </p:txBody>
      </p:sp>
      <p:sp>
        <p:nvSpPr>
          <p:cNvPr id="14" name="Shape 12"/>
          <p:cNvSpPr/>
          <p:nvPr/>
        </p:nvSpPr>
        <p:spPr>
          <a:xfrm>
            <a:off x="9852660" y="1371600"/>
            <a:ext cx="973836" cy="274320"/>
          </a:xfrm>
          <a:prstGeom prst="roundRect">
            <a:avLst>
              <a:gd name="adj" fmla="val 50000"/>
            </a:avLst>
          </a:prstGeom>
          <a:solidFill>
            <a:schemeClr val="bg2"/>
          </a:solidFill>
          <a:ln w="9525">
            <a:solidFill>
              <a:srgbClr val="D9E6E1"/>
            </a:solidFill>
            <a:prstDash val="solid"/>
          </a:ln>
        </p:spPr>
      </p:sp>
      <p:sp>
        <p:nvSpPr>
          <p:cNvPr id="15" name="Text 13"/>
          <p:cNvSpPr txBox="1"/>
          <p:nvPr/>
        </p:nvSpPr>
        <p:spPr>
          <a:xfrm>
            <a:off x="9852660" y="1371600"/>
            <a:ext cx="973836" cy="274320"/>
          </a:xfrm>
          <a:prstGeom prst="rect">
            <a:avLst/>
          </a:prstGeom>
          <a:noFill/>
          <a:ln/>
        </p:spPr>
        <p:txBody>
          <a:bodyPr wrap="square" lIns="0" tIns="0" rIns="0" bIns="0" rtlCol="0" anchor="ctr"/>
          <a:lstStyle/>
          <a:p>
            <a:pPr algn="ctr" indent="0" marL="0">
              <a:buNone/>
            </a:pPr>
            <a:r>
              <a:rPr lang="en-US" sz="1050" dirty="0">
                <a:solidFill>
                  <a:schemeClr val="tx1"/>
                </a:solidFill>
              </a:rPr>
              <a:t>Date move</a:t>
            </a:r>
            <a:endParaRPr lang="en-US" sz="1050" dirty="0"/>
          </a:p>
        </p:txBody>
      </p:sp>
      <p:sp>
        <p:nvSpPr>
          <p:cNvPr id="16" name="Shape 14"/>
          <p:cNvSpPr/>
          <p:nvPr/>
        </p:nvSpPr>
        <p:spPr>
          <a:xfrm>
            <a:off x="548640" y="1847088"/>
            <a:ext cx="384048" cy="384048"/>
          </a:xfrm>
          <a:prstGeom prst="ellipse">
            <a:avLst/>
          </a:prstGeom>
          <a:solidFill>
            <a:schemeClr val="accent1"/>
          </a:solidFill>
          <a:ln w="12700">
            <a:solidFill>
              <a:schemeClr val="accent1"/>
            </a:solidFill>
            <a:prstDash val="solid"/>
          </a:ln>
        </p:spPr>
      </p:sp>
      <p:sp>
        <p:nvSpPr>
          <p:cNvPr id="17" name="Text 15"/>
          <p:cNvSpPr txBox="1"/>
          <p:nvPr/>
        </p:nvSpPr>
        <p:spPr>
          <a:xfrm>
            <a:off x="548640" y="18470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8" name="Text 16"/>
          <p:cNvSpPr txBox="1"/>
          <p:nvPr/>
        </p:nvSpPr>
        <p:spPr>
          <a:xfrm>
            <a:off x="1097280" y="1828800"/>
            <a:ext cx="5669280" cy="292608"/>
          </a:xfrm>
          <a:prstGeom prst="rect">
            <a:avLst/>
          </a:prstGeom>
          <a:noFill/>
          <a:ln/>
        </p:spPr>
        <p:txBody>
          <a:bodyPr wrap="square" lIns="0" tIns="0" rIns="0" bIns="0" rtlCol="0" anchor="t"/>
          <a:lstStyle/>
          <a:p>
            <a:pPr indent="0" marL="0">
              <a:buNone/>
            </a:pPr>
            <a:r>
              <a:rPr lang="en-US" sz="1400" b="1" dirty="0">
                <a:solidFill>
                  <a:schemeClr val="tx2"/>
                </a:solidFill>
              </a:rPr>
              <a:t>A plan changes</a:t>
            </a:r>
            <a:endParaRPr lang="en-US" sz="1400" dirty="0"/>
          </a:p>
        </p:txBody>
      </p:sp>
      <p:sp>
        <p:nvSpPr>
          <p:cNvPr id="19" name="Text 17"/>
          <p:cNvSpPr txBox="1"/>
          <p:nvPr/>
        </p:nvSpPr>
        <p:spPr>
          <a:xfrm>
            <a:off x="1097280" y="2121408"/>
            <a:ext cx="5943600" cy="530352"/>
          </a:xfrm>
          <a:prstGeom prst="rect">
            <a:avLst/>
          </a:prstGeom>
          <a:noFill/>
          <a:ln/>
        </p:spPr>
        <p:txBody>
          <a:bodyPr wrap="square" lIns="0" tIns="0" rIns="0" bIns="0" rtlCol="0" anchor="t"/>
          <a:lstStyle/>
          <a:p>
            <a:pPr indent="0" marL="0">
              <a:buNone/>
            </a:pPr>
            <a:r>
              <a:rPr lang="en-US" sz="1200" dirty="0">
                <a:solidFill>
                  <a:schemeClr val="tx1"/>
                </a:solidFill>
              </a:rPr>
              <a:t>A promotion, a stockout, a short shipment, a QA hold or a date move puts an existing purchase plan in doubt.</a:t>
            </a:r>
            <a:endParaRPr lang="en-US" sz="1200" dirty="0"/>
          </a:p>
        </p:txBody>
      </p:sp>
      <p:sp>
        <p:nvSpPr>
          <p:cNvPr id="20" name="Shape 18"/>
          <p:cNvSpPr/>
          <p:nvPr/>
        </p:nvSpPr>
        <p:spPr>
          <a:xfrm>
            <a:off x="548640" y="2688336"/>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548640" y="26883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Text 20"/>
          <p:cNvSpPr txBox="1"/>
          <p:nvPr/>
        </p:nvSpPr>
        <p:spPr>
          <a:xfrm>
            <a:off x="1097280" y="2670048"/>
            <a:ext cx="5669280" cy="292608"/>
          </a:xfrm>
          <a:prstGeom prst="rect">
            <a:avLst/>
          </a:prstGeom>
          <a:noFill/>
          <a:ln/>
        </p:spPr>
        <p:txBody>
          <a:bodyPr wrap="square" lIns="0" tIns="0" rIns="0" bIns="0" rtlCol="0" anchor="t"/>
          <a:lstStyle/>
          <a:p>
            <a:pPr indent="0" marL="0">
              <a:buNone/>
            </a:pPr>
            <a:r>
              <a:rPr lang="en-US" sz="1400" b="1" dirty="0">
                <a:solidFill>
                  <a:schemeClr val="tx2"/>
                </a:solidFill>
              </a:rPr>
              <a:t>The planner asks the supplier</a:t>
            </a:r>
            <a:endParaRPr lang="en-US" sz="1400" dirty="0"/>
          </a:p>
        </p:txBody>
      </p:sp>
      <p:sp>
        <p:nvSpPr>
          <p:cNvPr id="23" name="Text 21"/>
          <p:cNvSpPr txBox="1"/>
          <p:nvPr/>
        </p:nvSpPr>
        <p:spPr>
          <a:xfrm>
            <a:off x="1097280" y="2962656"/>
            <a:ext cx="5943600" cy="530352"/>
          </a:xfrm>
          <a:prstGeom prst="rect">
            <a:avLst/>
          </a:prstGeom>
          <a:noFill/>
          <a:ln/>
        </p:spPr>
        <p:txBody>
          <a:bodyPr wrap="square" lIns="0" tIns="0" rIns="0" bIns="0" rtlCol="0" anchor="t"/>
          <a:lstStyle/>
          <a:p>
            <a:pPr indent="0" marL="0">
              <a:buNone/>
            </a:pPr>
            <a:r>
              <a:rPr lang="en-US" sz="1200" dirty="0">
                <a:solidFill>
                  <a:schemeClr val="tx1"/>
                </a:solidFill>
              </a:rPr>
              <a:t>More, less, earlier, split, or a different lot. Usually by email, often to a coordinator who must ask logistics and QA.</a:t>
            </a:r>
            <a:endParaRPr lang="en-US" sz="1200" dirty="0"/>
          </a:p>
        </p:txBody>
      </p:sp>
      <p:sp>
        <p:nvSpPr>
          <p:cNvPr id="24" name="Shape 22"/>
          <p:cNvSpPr/>
          <p:nvPr/>
        </p:nvSpPr>
        <p:spPr>
          <a:xfrm>
            <a:off x="548640" y="3529584"/>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548640" y="35295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Text 24"/>
          <p:cNvSpPr txBox="1"/>
          <p:nvPr/>
        </p:nvSpPr>
        <p:spPr>
          <a:xfrm>
            <a:off x="1097280" y="3511296"/>
            <a:ext cx="5669280" cy="292608"/>
          </a:xfrm>
          <a:prstGeom prst="rect">
            <a:avLst/>
          </a:prstGeom>
          <a:noFill/>
          <a:ln/>
        </p:spPr>
        <p:txBody>
          <a:bodyPr wrap="square" lIns="0" tIns="0" rIns="0" bIns="0" rtlCol="0" anchor="t"/>
          <a:lstStyle/>
          <a:p>
            <a:pPr indent="0" marL="0">
              <a:buNone/>
            </a:pPr>
            <a:r>
              <a:rPr lang="en-US" sz="1400" b="1" dirty="0">
                <a:solidFill>
                  <a:schemeClr val="tx2"/>
                </a:solidFill>
              </a:rPr>
              <a:t>The reply is free-form and partial</a:t>
            </a:r>
            <a:endParaRPr lang="en-US" sz="1400" dirty="0"/>
          </a:p>
        </p:txBody>
      </p:sp>
      <p:sp>
        <p:nvSpPr>
          <p:cNvPr id="27" name="Text 25"/>
          <p:cNvSpPr txBox="1"/>
          <p:nvPr/>
        </p:nvSpPr>
        <p:spPr>
          <a:xfrm>
            <a:off x="1097280" y="3803904"/>
            <a:ext cx="5943600" cy="530352"/>
          </a:xfrm>
          <a:prstGeom prst="rect">
            <a:avLst/>
          </a:prstGeom>
          <a:noFill/>
          <a:ln/>
        </p:spPr>
        <p:txBody>
          <a:bodyPr wrap="square" lIns="0" tIns="0" rIns="0" bIns="0" rtlCol="0" anchor="t"/>
          <a:lstStyle/>
          <a:p>
            <a:pPr indent="0" marL="0">
              <a:buNone/>
            </a:pPr>
            <a:r>
              <a:rPr lang="en-US" sz="1200" dirty="0">
                <a:solidFill>
                  <a:schemeClr val="tx1"/>
                </a:solidFill>
              </a:rPr>
              <a:t>"Friday or Monday, same lot, the dates should be fine." Ship or arrive? How many? Which lot? Nothing a system can act on.</a:t>
            </a:r>
            <a:endParaRPr lang="en-US" sz="1200" dirty="0"/>
          </a:p>
        </p:txBody>
      </p:sp>
      <p:sp>
        <p:nvSpPr>
          <p:cNvPr id="28" name="Shape 26"/>
          <p:cNvSpPr/>
          <p:nvPr/>
        </p:nvSpPr>
        <p:spPr>
          <a:xfrm>
            <a:off x="548640" y="4370832"/>
            <a:ext cx="384048" cy="384048"/>
          </a:xfrm>
          <a:prstGeom prst="ellipse">
            <a:avLst/>
          </a:prstGeom>
          <a:solidFill>
            <a:schemeClr val="accent1"/>
          </a:solidFill>
          <a:ln w="12700">
            <a:solidFill>
              <a:schemeClr val="accent1"/>
            </a:solidFill>
            <a:prstDash val="solid"/>
          </a:ln>
        </p:spPr>
      </p:sp>
      <p:sp>
        <p:nvSpPr>
          <p:cNvPr id="29" name="Text 27"/>
          <p:cNvSpPr txBox="1"/>
          <p:nvPr/>
        </p:nvSpPr>
        <p:spPr>
          <a:xfrm>
            <a:off x="548640" y="437083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0" name="Text 28"/>
          <p:cNvSpPr txBox="1"/>
          <p:nvPr/>
        </p:nvSpPr>
        <p:spPr>
          <a:xfrm>
            <a:off x="1097280" y="4352544"/>
            <a:ext cx="5669280" cy="292608"/>
          </a:xfrm>
          <a:prstGeom prst="rect">
            <a:avLst/>
          </a:prstGeom>
          <a:noFill/>
          <a:ln/>
        </p:spPr>
        <p:txBody>
          <a:bodyPr wrap="square" lIns="0" tIns="0" rIns="0" bIns="0" rtlCol="0" anchor="t"/>
          <a:lstStyle/>
          <a:p>
            <a:pPr indent="0" marL="0">
              <a:buNone/>
            </a:pPr>
            <a:r>
              <a:rPr lang="en-US" sz="1400" b="1" dirty="0">
                <a:solidFill>
                  <a:schemeClr val="tx2"/>
                </a:solidFill>
              </a:rPr>
              <a:t>Facts are chased across functions</a:t>
            </a:r>
            <a:endParaRPr lang="en-US" sz="1400" dirty="0"/>
          </a:p>
        </p:txBody>
      </p:sp>
      <p:sp>
        <p:nvSpPr>
          <p:cNvPr id="31" name="Text 29"/>
          <p:cNvSpPr txBox="1"/>
          <p:nvPr/>
        </p:nvSpPr>
        <p:spPr>
          <a:xfrm>
            <a:off x="1097280" y="4645152"/>
            <a:ext cx="5943600" cy="530352"/>
          </a:xfrm>
          <a:prstGeom prst="rect">
            <a:avLst/>
          </a:prstGeom>
          <a:noFill/>
          <a:ln/>
        </p:spPr>
        <p:txBody>
          <a:bodyPr wrap="square" lIns="0" tIns="0" rIns="0" bIns="0" rtlCol="0" anchor="t"/>
          <a:lstStyle/>
          <a:p>
            <a:pPr indent="0" marL="0">
              <a:buNone/>
            </a:pPr>
            <a:r>
              <a:rPr lang="en-US" sz="1200" dirty="0">
                <a:solidFill>
                  <a:schemeClr val="tx1"/>
                </a:solidFill>
              </a:rPr>
              <a:t>Carrier, QA release, receiving slot, capacity and price are confirmed in separate threads and re-keyed into a sheet.</a:t>
            </a:r>
            <a:endParaRPr lang="en-US" sz="1200" dirty="0"/>
          </a:p>
        </p:txBody>
      </p:sp>
      <p:sp>
        <p:nvSpPr>
          <p:cNvPr id="32" name="Shape 30"/>
          <p:cNvSpPr/>
          <p:nvPr/>
        </p:nvSpPr>
        <p:spPr>
          <a:xfrm>
            <a:off x="548640" y="5212080"/>
            <a:ext cx="384048" cy="384048"/>
          </a:xfrm>
          <a:prstGeom prst="ellipse">
            <a:avLst/>
          </a:prstGeom>
          <a:solidFill>
            <a:schemeClr val="accent1"/>
          </a:solidFill>
          <a:ln w="12700">
            <a:solidFill>
              <a:schemeClr val="accent1"/>
            </a:solidFill>
            <a:prstDash val="solid"/>
          </a:ln>
        </p:spPr>
      </p:sp>
      <p:sp>
        <p:nvSpPr>
          <p:cNvPr id="33" name="Text 31"/>
          <p:cNvSpPr txBox="1"/>
          <p:nvPr/>
        </p:nvSpPr>
        <p:spPr>
          <a:xfrm>
            <a:off x="548640" y="52120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Text 32"/>
          <p:cNvSpPr txBox="1"/>
          <p:nvPr/>
        </p:nvSpPr>
        <p:spPr>
          <a:xfrm>
            <a:off x="1097280" y="5193792"/>
            <a:ext cx="5669280" cy="292608"/>
          </a:xfrm>
          <a:prstGeom prst="rect">
            <a:avLst/>
          </a:prstGeom>
          <a:noFill/>
          <a:ln/>
        </p:spPr>
        <p:txBody>
          <a:bodyPr wrap="square" lIns="0" tIns="0" rIns="0" bIns="0" rtlCol="0" anchor="t"/>
          <a:lstStyle/>
          <a:p>
            <a:pPr indent="0" marL="0">
              <a:buNone/>
            </a:pPr>
            <a:r>
              <a:rPr lang="en-US" sz="1400" b="1" dirty="0">
                <a:solidFill>
                  <a:schemeClr val="tx2"/>
                </a:solidFill>
              </a:rPr>
              <a:t>No handoff</a:t>
            </a:r>
            <a:endParaRPr lang="en-US" sz="1400" dirty="0"/>
          </a:p>
        </p:txBody>
      </p:sp>
      <p:sp>
        <p:nvSpPr>
          <p:cNvPr id="35" name="Text 33"/>
          <p:cNvSpPr txBox="1"/>
          <p:nvPr/>
        </p:nvSpPr>
        <p:spPr>
          <a:xfrm>
            <a:off x="1097280" y="5486400"/>
            <a:ext cx="5943600" cy="530352"/>
          </a:xfrm>
          <a:prstGeom prst="rect">
            <a:avLst/>
          </a:prstGeom>
          <a:noFill/>
          <a:ln/>
        </p:spPr>
        <p:txBody>
          <a:bodyPr wrap="square" lIns="0" tIns="0" rIns="0" bIns="0" rtlCol="0" anchor="t"/>
          <a:lstStyle/>
          <a:p>
            <a:pPr indent="0" marL="0">
              <a:buNone/>
            </a:pPr>
            <a:r>
              <a:rPr lang="en-US" sz="1200" dirty="0">
                <a:solidFill>
                  <a:schemeClr val="tx1"/>
                </a:solidFill>
              </a:rPr>
              <a:t>Nothing reaches procurement approval in a form it can act on. The decision, and the commitment, live in a mailbox.</a:t>
            </a:r>
            <a:endParaRPr lang="en-US" sz="1200" dirty="0"/>
          </a:p>
        </p:txBody>
      </p:sp>
      <p:sp>
        <p:nvSpPr>
          <p:cNvPr id="36" name="Shape 34"/>
          <p:cNvSpPr/>
          <p:nvPr/>
        </p:nvSpPr>
        <p:spPr>
          <a:xfrm>
            <a:off x="7223760" y="1828800"/>
            <a:ext cx="4389120" cy="2331720"/>
          </a:xfrm>
          <a:prstGeom prst="roundRect">
            <a:avLst>
              <a:gd name="adj" fmla="val 2353"/>
            </a:avLst>
          </a:prstGeom>
          <a:solidFill>
            <a:schemeClr val="bg2"/>
          </a:solidFill>
          <a:ln w="9525">
            <a:solidFill>
              <a:srgbClr val="D9E6E1"/>
            </a:solidFill>
            <a:prstDash val="solid"/>
          </a:ln>
        </p:spPr>
      </p:sp>
      <p:sp>
        <p:nvSpPr>
          <p:cNvPr id="37" name="Text 35"/>
          <p:cNvSpPr txBox="1"/>
          <p:nvPr/>
        </p:nvSpPr>
        <p:spPr>
          <a:xfrm>
            <a:off x="7406640" y="1975104"/>
            <a:ext cx="4023360" cy="329184"/>
          </a:xfrm>
          <a:prstGeom prst="rect">
            <a:avLst/>
          </a:prstGeom>
          <a:noFill/>
          <a:ln/>
        </p:spPr>
        <p:txBody>
          <a:bodyPr wrap="square" lIns="0" tIns="0" rIns="0" bIns="0" rtlCol="0" anchor="t"/>
          <a:lstStyle/>
          <a:p>
            <a:pPr indent="0" marL="0">
              <a:buNone/>
            </a:pPr>
            <a:r>
              <a:rPr lang="en-US" sz="1500" b="1" dirty="0">
                <a:solidFill>
                  <a:schemeClr val="tx2"/>
                </a:solidFill>
              </a:rPr>
              <a:t>What goes wrong today, every time</a:t>
            </a:r>
            <a:endParaRPr lang="en-US" sz="1500" dirty="0"/>
          </a:p>
        </p:txBody>
      </p:sp>
      <p:sp>
        <p:nvSpPr>
          <p:cNvPr id="38" name="Text 36"/>
          <p:cNvSpPr txBox="1"/>
          <p:nvPr/>
        </p:nvSpPr>
        <p:spPr>
          <a:xfrm>
            <a:off x="7406640" y="2359152"/>
            <a:ext cx="4023360" cy="16916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The same facts are typed three times: thread, sheet, approval note</a:t>
            </a:r>
            <a:endParaRPr lang="en-US" sz="1200" dirty="0"/>
          </a:p>
          <a:p>
            <a:pPr marL="177800" indent="-177800">
              <a:spcAft>
                <a:spcPts val="400"/>
              </a:spcAft>
              <a:buSzPct val="100000"/>
              <a:buChar char="•"/>
            </a:pPr>
            <a:r>
              <a:rPr lang="en-US" sz="1200" dirty="0">
                <a:solidFill>
                  <a:schemeClr val="tx1"/>
                </a:solidFill>
              </a:rPr>
              <a:t>Available supply is mistaken for demand</a:t>
            </a:r>
            <a:endParaRPr lang="en-US" sz="1200" dirty="0"/>
          </a:p>
          <a:p>
            <a:pPr marL="177800" indent="-177800">
              <a:spcAft>
                <a:spcPts val="400"/>
              </a:spcAft>
              <a:buSzPct val="100000"/>
              <a:buChar char="•"/>
            </a:pPr>
            <a:r>
              <a:rPr lang="en-US" sz="1200" dirty="0">
                <a:solidFill>
                  <a:schemeClr val="tx1"/>
                </a:solidFill>
              </a:rPr>
              <a:t>Missing evidence is forced to yes or no</a:t>
            </a:r>
            <a:endParaRPr lang="en-US" sz="1200" dirty="0"/>
          </a:p>
          <a:p>
            <a:pPr marL="177800" indent="-177800">
              <a:spcAft>
                <a:spcPts val="400"/>
              </a:spcAft>
              <a:buSzPct val="100000"/>
              <a:buChar char="•"/>
            </a:pPr>
            <a:r>
              <a:rPr lang="en-US" sz="1200" dirty="0">
                <a:solidFill>
                  <a:schemeClr val="tx1"/>
                </a:solidFill>
              </a:rPr>
              <a:t>Commitments slip into email with no authority behind them</a:t>
            </a:r>
            <a:endParaRPr lang="en-US" sz="1200" dirty="0"/>
          </a:p>
          <a:p>
            <a:pPr marL="177800" indent="-177800">
              <a:spcAft>
                <a:spcPts val="400"/>
              </a:spcAft>
              <a:buSzPct val="100000"/>
              <a:buChar char="•"/>
            </a:pPr>
            <a:r>
              <a:rPr lang="en-US" sz="1200" dirty="0">
                <a:solidFill>
                  <a:schemeClr val="tx1"/>
                </a:solidFill>
              </a:rPr>
              <a:t>Elapsed time is nobody's number</a:t>
            </a:r>
            <a:endParaRPr lang="en-US" sz="1200" dirty="0"/>
          </a:p>
        </p:txBody>
      </p:sp>
      <p:sp>
        <p:nvSpPr>
          <p:cNvPr id="39" name="Shape 37"/>
          <p:cNvSpPr/>
          <p:nvPr/>
        </p:nvSpPr>
        <p:spPr>
          <a:xfrm>
            <a:off x="7223760" y="4297680"/>
            <a:ext cx="4389120" cy="1920240"/>
          </a:xfrm>
          <a:prstGeom prst="roundRect">
            <a:avLst>
              <a:gd name="adj" fmla="val 2857"/>
            </a:avLst>
          </a:prstGeom>
          <a:solidFill>
            <a:schemeClr val="bg2"/>
          </a:solidFill>
          <a:ln w="9525">
            <a:solidFill>
              <a:srgbClr val="D9E6E1"/>
            </a:solidFill>
            <a:prstDash val="solid"/>
          </a:ln>
        </p:spPr>
      </p:sp>
      <p:sp>
        <p:nvSpPr>
          <p:cNvPr id="40" name="Text 38"/>
          <p:cNvSpPr txBox="1"/>
          <p:nvPr/>
        </p:nvSpPr>
        <p:spPr>
          <a:xfrm>
            <a:off x="7406640" y="4434840"/>
            <a:ext cx="4023360" cy="320040"/>
          </a:xfrm>
          <a:prstGeom prst="rect">
            <a:avLst/>
          </a:prstGeom>
          <a:noFill/>
          <a:ln/>
        </p:spPr>
        <p:txBody>
          <a:bodyPr wrap="square" lIns="0" tIns="0" rIns="0" bIns="0" rtlCol="0" anchor="t"/>
          <a:lstStyle/>
          <a:p>
            <a:pPr indent="0" marL="0">
              <a:buNone/>
            </a:pPr>
            <a:r>
              <a:rPr lang="en-US" sz="1300" b="1" dirty="0">
                <a:solidFill>
                  <a:schemeClr val="tx2"/>
                </a:solidFill>
              </a:rPr>
              <a:t>The one instance we built and tested against</a:t>
            </a:r>
            <a:endParaRPr lang="en-US" sz="1300" dirty="0"/>
          </a:p>
        </p:txBody>
      </p:sp>
      <p:sp>
        <p:nvSpPr>
          <p:cNvPr id="41" name="Text 39"/>
          <p:cNvSpPr txBox="1"/>
          <p:nvPr/>
        </p:nvSpPr>
        <p:spPr>
          <a:xfrm>
            <a:off x="7406640" y="4754880"/>
            <a:ext cx="4023360" cy="1005840"/>
          </a:xfrm>
          <a:prstGeom prst="rect">
            <a:avLst/>
          </a:prstGeom>
          <a:noFill/>
          <a:ln/>
        </p:spPr>
        <p:txBody>
          <a:bodyPr wrap="square" lIns="0" tIns="0" rIns="0" bIns="0" rtlCol="0" anchor="t"/>
          <a:lstStyle/>
          <a:p>
            <a:pPr indent="0" marL="0">
              <a:buNone/>
            </a:pPr>
            <a:r>
              <a:rPr lang="en-US" sz="1150" dirty="0">
                <a:solidFill>
                  <a:schemeClr val="tx1"/>
                </a:solidFill>
              </a:rPr>
              <a:t>CASE-1042: orange juice OJ-250, Toronto DC, supplier NorthOrchard, promotion window 24–28 October, plan 360 cases. Every fact is synthetic; the workflow is not. The same loop handles any trigger above: a supplier reply either changes an existing arrangement or it does not.</a:t>
            </a:r>
            <a:endParaRPr lang="en-US" sz="1150" dirty="0"/>
          </a:p>
        </p:txBody>
      </p:sp>
      <p:sp>
        <p:nvSpPr>
          <p:cNvPr id="42" name="Shape 40"/>
          <p:cNvSpPr/>
          <p:nvPr/>
        </p:nvSpPr>
        <p:spPr>
          <a:xfrm>
            <a:off x="7406640" y="5852160"/>
            <a:ext cx="1051560" cy="274320"/>
          </a:xfrm>
          <a:prstGeom prst="roundRect">
            <a:avLst>
              <a:gd name="adj" fmla="val 50000"/>
            </a:avLst>
          </a:prstGeom>
          <a:solidFill>
            <a:schemeClr val="accent6"/>
          </a:solidFill>
          <a:ln w="12700">
            <a:solidFill>
              <a:schemeClr val="accent6"/>
            </a:solidFill>
            <a:prstDash val="solid"/>
          </a:ln>
        </p:spPr>
      </p:sp>
      <p:sp>
        <p:nvSpPr>
          <p:cNvPr id="43" name="Text 41"/>
          <p:cNvSpPr txBox="1"/>
          <p:nvPr/>
        </p:nvSpPr>
        <p:spPr>
          <a:xfrm>
            <a:off x="7406640" y="5852160"/>
            <a:ext cx="105156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44" name="Text 42"/>
          <p:cNvSpPr txBox="1"/>
          <p:nvPr/>
        </p:nvSpPr>
        <p:spPr>
          <a:xfrm>
            <a:off x="8503920" y="5852160"/>
            <a:ext cx="3017520" cy="320040"/>
          </a:xfrm>
          <a:prstGeom prst="rect">
            <a:avLst/>
          </a:prstGeom>
          <a:noFill/>
          <a:ln/>
        </p:spPr>
        <p:txBody>
          <a:bodyPr wrap="square" lIns="0" tIns="0" rIns="0" bIns="0" rtlCol="0" anchor="ctr"/>
          <a:lstStyle/>
          <a:p>
            <a:pPr indent="0" marL="0">
              <a:buNone/>
            </a:pPr>
            <a:r>
              <a:rPr lang="en-US" sz="1050" dirty="0">
                <a:solidFill>
                  <a:schemeClr val="accent4"/>
                </a:solidFill>
              </a:rPr>
              <a:t>Pattern supported by GCA/YouGov 2025, ACCC roundtables, Loblaw PO-update guide.</a:t>
            </a:r>
            <a:endParaRPr lang="en-US" sz="10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Who has this problem, and how we know it is real</a:t>
            </a:r>
            <a:endParaRPr lang="en-US" sz="3000" dirty="0"/>
          </a:p>
        </p:txBody>
      </p:sp>
      <p:sp>
        <p:nvSpPr>
          <p:cNvPr id="3" name="Shape 1"/>
          <p:cNvSpPr/>
          <p:nvPr/>
        </p:nvSpPr>
        <p:spPr>
          <a:xfrm>
            <a:off x="548640" y="1371600"/>
            <a:ext cx="914400" cy="274320"/>
          </a:xfrm>
          <a:prstGeom prst="roundRect">
            <a:avLst>
              <a:gd name="adj" fmla="val 50000"/>
            </a:avLst>
          </a:prstGeom>
          <a:solidFill>
            <a:schemeClr val="accent6"/>
          </a:solidFill>
          <a:ln w="12700">
            <a:solidFill>
              <a:schemeClr val="accent6"/>
            </a:solidFill>
            <a:prstDash val="solid"/>
          </a:ln>
        </p:spPr>
      </p:sp>
      <p:sp>
        <p:nvSpPr>
          <p:cNvPr id="4" name="Text 2"/>
          <p:cNvSpPr txBox="1"/>
          <p:nvPr/>
        </p:nvSpPr>
        <p:spPr>
          <a:xfrm>
            <a:off x="548640" y="1371600"/>
            <a:ext cx="91440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5" name="Shape 3"/>
          <p:cNvSpPr/>
          <p:nvPr/>
        </p:nvSpPr>
        <p:spPr>
          <a:xfrm>
            <a:off x="1572768" y="1371600"/>
            <a:ext cx="1143000" cy="274320"/>
          </a:xfrm>
          <a:prstGeom prst="roundRect">
            <a:avLst>
              <a:gd name="adj" fmla="val 50000"/>
            </a:avLst>
          </a:prstGeom>
          <a:solidFill>
            <a:schemeClr val="tx1"/>
          </a:solidFill>
          <a:ln w="12700">
            <a:solidFill>
              <a:schemeClr val="tx1"/>
            </a:solidFill>
            <a:prstDash val="solid"/>
          </a:ln>
        </p:spPr>
      </p:sp>
      <p:sp>
        <p:nvSpPr>
          <p:cNvPr id="6" name="Text 4"/>
          <p:cNvSpPr txBox="1"/>
          <p:nvPr/>
        </p:nvSpPr>
        <p:spPr>
          <a:xfrm>
            <a:off x="1572768"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7" name="Text 5"/>
          <p:cNvSpPr txBox="1"/>
          <p:nvPr/>
        </p:nvSpPr>
        <p:spPr>
          <a:xfrm>
            <a:off x="2926080" y="1344168"/>
            <a:ext cx="8716975" cy="365760"/>
          </a:xfrm>
          <a:prstGeom prst="rect">
            <a:avLst/>
          </a:prstGeom>
          <a:noFill/>
          <a:ln/>
        </p:spPr>
        <p:txBody>
          <a:bodyPr wrap="square" lIns="0" tIns="0" rIns="0" bIns="0" rtlCol="0" anchor="t"/>
          <a:lstStyle/>
          <a:p>
            <a:pPr indent="0" marL="0">
              <a:buNone/>
            </a:pPr>
            <a:r>
              <a:rPr lang="en-US" sz="1300" i="1" dirty="0">
                <a:solidFill>
                  <a:schemeClr val="accent4"/>
                </a:solidFill>
              </a:rPr>
              <a:t>A specific user, the current workflow, evidence of the pain, and the reason to prioritise it.</a:t>
            </a:r>
            <a:endParaRPr lang="en-US" sz="1300" dirty="0"/>
          </a:p>
        </p:txBody>
      </p:sp>
      <p:sp>
        <p:nvSpPr>
          <p:cNvPr id="8" name="Shape 6"/>
          <p:cNvSpPr/>
          <p:nvPr/>
        </p:nvSpPr>
        <p:spPr>
          <a:xfrm>
            <a:off x="548640" y="1874520"/>
            <a:ext cx="3566160" cy="3291840"/>
          </a:xfrm>
          <a:prstGeom prst="roundRect">
            <a:avLst>
              <a:gd name="adj" fmla="val 1667"/>
            </a:avLst>
          </a:prstGeom>
          <a:solidFill>
            <a:schemeClr val="bg2"/>
          </a:solidFill>
          <a:ln w="9525">
            <a:solidFill>
              <a:srgbClr val="D9E6E1"/>
            </a:solidFill>
            <a:prstDash val="solid"/>
          </a:ln>
        </p:spPr>
      </p:sp>
      <p:sp>
        <p:nvSpPr>
          <p:cNvPr id="9" name="Text 7"/>
          <p:cNvSpPr txBox="1"/>
          <p:nvPr/>
        </p:nvSpPr>
        <p:spPr>
          <a:xfrm>
            <a:off x="731520" y="2020824"/>
            <a:ext cx="3200400" cy="329184"/>
          </a:xfrm>
          <a:prstGeom prst="rect">
            <a:avLst/>
          </a:prstGeom>
          <a:noFill/>
          <a:ln/>
        </p:spPr>
        <p:txBody>
          <a:bodyPr wrap="square" lIns="0" tIns="0" rIns="0" bIns="0" rtlCol="0" anchor="t"/>
          <a:lstStyle/>
          <a:p>
            <a:pPr indent="0" marL="0">
              <a:buNone/>
            </a:pPr>
            <a:r>
              <a:rPr lang="en-US" sz="1500" b="1" dirty="0">
                <a:solidFill>
                  <a:schemeClr val="tx2"/>
                </a:solidFill>
              </a:rPr>
              <a:t>The user and today's workflow</a:t>
            </a:r>
            <a:endParaRPr lang="en-US" sz="1500" dirty="0"/>
          </a:p>
        </p:txBody>
      </p:sp>
      <p:sp>
        <p:nvSpPr>
          <p:cNvPr id="10" name="Text 8"/>
          <p:cNvSpPr txBox="1"/>
          <p:nvPr/>
        </p:nvSpPr>
        <p:spPr>
          <a:xfrm>
            <a:off x="731520" y="2404872"/>
            <a:ext cx="3200400" cy="265176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Primary user: the replenishment or category planner at an SAP retailer. Counterpart: the supplier's customer-service or logistics coordinator</a:t>
            </a:r>
            <a:endParaRPr lang="en-US" sz="1150" dirty="0"/>
          </a:p>
          <a:p>
            <a:pPr marL="177800" indent="-177800">
              <a:spcAft>
                <a:spcPts val="400"/>
              </a:spcAft>
              <a:buSzPct val="100000"/>
              <a:buChar char="•"/>
            </a:pPr>
            <a:r>
              <a:rPr lang="en-US" sz="1150" dirty="0">
                <a:solidFill>
                  <a:schemeClr val="tx1"/>
                </a:solidFill>
              </a:rPr>
              <a:t>Today: the reply arrives by email; the planner chases carrier, QA and receiving slot in separate threads, re-keys the facts into a sheet, and writes the approval note by hand</a:t>
            </a:r>
            <a:endParaRPr lang="en-US" sz="1150" dirty="0"/>
          </a:p>
          <a:p>
            <a:pPr marL="177800" indent="-177800">
              <a:spcAft>
                <a:spcPts val="400"/>
              </a:spcAft>
              <a:buSzPct val="100000"/>
              <a:buChar char="•"/>
            </a:pPr>
            <a:r>
              <a:rPr lang="en-US" sz="1150" dirty="0">
                <a:solidFill>
                  <a:schemeClr val="tx1"/>
                </a:solidFill>
              </a:rPr>
              <a:t>Pain: the same facts typed three times; missing evidence forced to yes or no; nothing reaches procurement in a form it can act on</a:t>
            </a:r>
            <a:endParaRPr lang="en-US" sz="1150" dirty="0"/>
          </a:p>
          <a:p>
            <a:pPr marL="177800" indent="-177800">
              <a:spcAft>
                <a:spcPts val="400"/>
              </a:spcAft>
              <a:buSzPct val="100000"/>
              <a:buChar char="•"/>
            </a:pPr>
            <a:r>
              <a:rPr lang="en-US" sz="1150" dirty="0">
                <a:solidFill>
                  <a:schemeClr val="tx1"/>
                </a:solidFill>
              </a:rPr>
              <a:t>Frequency is not measured; the pilot counts it</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297680" y="1874520"/>
          <a:ext cx="7315200" cy="914400"/>
        </p:xfrm>
        <a:graphic>
          <a:graphicData uri="http://schemas.openxmlformats.org/drawingml/2006/table">
            <a:tbl>
              <a:tblPr/>
              <a:tblGrid>
                <a:gridCol w="2286000"/>
                <a:gridCol w="3291840"/>
                <a:gridCol w="173736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shows</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cannot show</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54864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UK GCA / YouGov 2025: 28 supplier interviews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Forecast-versus-order mismatch, portal burden, unclear stock risk</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Canadian prevalence; the buyer's side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ACCC supermarket inquiry 2024–25</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Suppliers want PO certainty and forecast transparency; the regulator recommends both</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software remedy</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Loblaw PO-update guide; Mucci Farms role descriptions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structured PO-change workflow and multi-party coordination exist today</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Timing or frequency</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77724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BPI Challenge 2019: real SAP purchasing log, 251,734 PO items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Order to first goods receipt median 9.3 days; about 12% of that time sits in compressible communication and approval steps; simulated agent saving 5–11%</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Retail exceptions specifically</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68580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Our own simulations on FreshRetailNet-50K and M5</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The forecasting route failed: the full demand-response policy lost at equal cost; store transfers failed replication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That the handoff route pays; the pilot tests that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4297680" y="5486400"/>
            <a:ext cx="7315200" cy="685800"/>
          </a:xfrm>
          <a:prstGeom prst="rect">
            <a:avLst/>
          </a:prstGeom>
          <a:noFill/>
          <a:ln/>
        </p:spPr>
        <p:txBody>
          <a:bodyPr wrap="square" lIns="0" tIns="0" rIns="0" bIns="0" rtlCol="0" anchor="t"/>
          <a:lstStyle/>
          <a:p>
            <a:pPr indent="0" marL="0">
              <a:buNone/>
            </a:pPr>
            <a:r>
              <a:rPr lang="en-US" sz="1200" b="1" dirty="0">
                <a:solidFill>
                  <a:schemeClr val="tx2"/>
                </a:solidFill>
              </a:rPr>
              <a:t>Why prioritise this.  </a:t>
            </a:r>
            <a:pPr indent="0" marL="0">
              <a:buNone/>
            </a:pPr>
            <a:r>
              <a:rPr lang="en-US" sz="1200" dirty="0">
                <a:solidFill>
                  <a:schemeClr val="tx1"/>
                </a:solidFill>
              </a:rPr>
              <a:t>It is the step where the information exists and no decision is reached, and it is the one route our own experiments did not eliminate. Still missing: direct planner interviews.</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The promise: a reply becomes a procurement handoff or a reasoned stop</a:t>
            </a:r>
            <a:endParaRPr lang="en-US" sz="3000" dirty="0"/>
          </a:p>
        </p:txBody>
      </p:sp>
      <p:sp>
        <p:nvSpPr>
          <p:cNvPr id="3" name="Shape 1"/>
          <p:cNvSpPr/>
          <p:nvPr/>
        </p:nvSpPr>
        <p:spPr>
          <a:xfrm>
            <a:off x="548640" y="1508760"/>
            <a:ext cx="11064240" cy="1417320"/>
          </a:xfrm>
          <a:prstGeom prst="roundRect">
            <a:avLst>
              <a:gd name="adj" fmla="val 3871"/>
            </a:avLst>
          </a:prstGeom>
          <a:solidFill>
            <a:schemeClr val="bg2"/>
          </a:solidFill>
          <a:ln w="9525">
            <a:solidFill>
              <a:srgbClr val="D9E6E1"/>
            </a:solidFill>
            <a:prstDash val="solid"/>
          </a:ln>
        </p:spPr>
      </p:sp>
      <p:sp>
        <p:nvSpPr>
          <p:cNvPr id="4" name="Text 2"/>
          <p:cNvSpPr txBox="1"/>
          <p:nvPr/>
        </p:nvSpPr>
        <p:spPr>
          <a:xfrm>
            <a:off x="822960" y="1664208"/>
            <a:ext cx="10515600" cy="1143000"/>
          </a:xfrm>
          <a:prstGeom prst="rect">
            <a:avLst/>
          </a:prstGeom>
          <a:noFill/>
          <a:ln/>
        </p:spPr>
        <p:txBody>
          <a:bodyPr wrap="square" lIns="0" tIns="0" rIns="0" bIns="0" rtlCol="0" anchor="t"/>
          <a:lstStyle/>
          <a:p>
            <a:pPr indent="0" marL="0">
              <a:buNone/>
            </a:pPr>
            <a:r>
              <a:rPr lang="en-US" sz="1500" i="1" dirty="0">
                <a:solidFill>
                  <a:schemeClr val="tx2"/>
                </a:solidFill>
              </a:rPr>
              <a:t>When a supplier's new reply affects an existing replenishment arrangement, Demand Pulse turns it into either a change draft that can be submitted to the retailer's existing procurement approval, or a reasoned keep-the-plan / stop result. The planner does not re-key information already provided. Every commercial commitment is still approved by someone with the authority to make it.</a:t>
            </a:r>
            <a:endParaRPr lang="en-US" sz="1500" dirty="0"/>
          </a:p>
        </p:txBody>
      </p:sp>
      <p:sp>
        <p:nvSpPr>
          <p:cNvPr id="5" name="Shape 3"/>
          <p:cNvSpPr/>
          <p:nvPr/>
        </p:nvSpPr>
        <p:spPr>
          <a:xfrm>
            <a:off x="548640" y="3108960"/>
            <a:ext cx="3566160" cy="1874520"/>
          </a:xfrm>
          <a:prstGeom prst="roundRect">
            <a:avLst>
              <a:gd name="adj" fmla="val 2927"/>
            </a:avLst>
          </a:prstGeom>
          <a:solidFill>
            <a:schemeClr val="bg2"/>
          </a:solidFill>
          <a:ln w="9525">
            <a:solidFill>
              <a:srgbClr val="D9E6E1"/>
            </a:solidFill>
            <a:prstDash val="solid"/>
          </a:ln>
        </p:spPr>
      </p:sp>
      <p:sp>
        <p:nvSpPr>
          <p:cNvPr id="6" name="Shape 4"/>
          <p:cNvSpPr/>
          <p:nvPr/>
        </p:nvSpPr>
        <p:spPr>
          <a:xfrm>
            <a:off x="731520" y="3273552"/>
            <a:ext cx="1188720" cy="292608"/>
          </a:xfrm>
          <a:prstGeom prst="rect">
            <a:avLst/>
          </a:prstGeom>
          <a:solidFill>
            <a:schemeClr val="accent1"/>
          </a:solidFill>
          <a:ln w="12700">
            <a:solidFill>
              <a:srgbClr val="D9E6E1"/>
            </a:solidFill>
            <a:prstDash val="solid"/>
          </a:ln>
        </p:spPr>
      </p:sp>
      <p:sp>
        <p:nvSpPr>
          <p:cNvPr id="7" name="Text 5"/>
          <p:cNvSpPr txBox="1"/>
          <p:nvPr/>
        </p:nvSpPr>
        <p:spPr>
          <a:xfrm>
            <a:off x="731520" y="3273552"/>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rPr>
              <a:t>CHANGE</a:t>
            </a:r>
            <a:endParaRPr lang="en-US" sz="1100" dirty="0"/>
          </a:p>
        </p:txBody>
      </p:sp>
      <p:sp>
        <p:nvSpPr>
          <p:cNvPr id="8" name="Text 6"/>
          <p:cNvSpPr txBox="1"/>
          <p:nvPr/>
        </p:nvSpPr>
        <p:spPr>
          <a:xfrm>
            <a:off x="731520" y="3657600"/>
            <a:ext cx="3200400" cy="320040"/>
          </a:xfrm>
          <a:prstGeom prst="rect">
            <a:avLst/>
          </a:prstGeom>
          <a:noFill/>
          <a:ln/>
        </p:spPr>
        <p:txBody>
          <a:bodyPr wrap="square" lIns="0" tIns="0" rIns="0" bIns="0" rtlCol="0" anchor="t"/>
          <a:lstStyle/>
          <a:p>
            <a:pPr indent="0" marL="0">
              <a:buNone/>
            </a:pPr>
            <a:r>
              <a:rPr lang="en-US" sz="1500" b="1" dirty="0">
                <a:solidFill>
                  <a:schemeClr val="tx2"/>
                </a:solidFill>
              </a:rPr>
              <a:t>Request a change</a:t>
            </a:r>
            <a:endParaRPr lang="en-US" sz="1500" dirty="0"/>
          </a:p>
        </p:txBody>
      </p:sp>
      <p:sp>
        <p:nvSpPr>
          <p:cNvPr id="9" name="Text 7"/>
          <p:cNvSpPr txBox="1"/>
          <p:nvPr/>
        </p:nvSpPr>
        <p:spPr>
          <a:xfrm>
            <a:off x="731520" y="4005072"/>
            <a:ext cx="3200400" cy="914400"/>
          </a:xfrm>
          <a:prstGeom prst="rect">
            <a:avLst/>
          </a:prstGeom>
          <a:noFill/>
          <a:ln/>
        </p:spPr>
        <p:txBody>
          <a:bodyPr wrap="square" lIns="0" tIns="0" rIns="0" bIns="0" rtlCol="0" anchor="t"/>
          <a:lstStyle/>
          <a:p>
            <a:pPr indent="0" marL="0">
              <a:buNone/>
            </a:pPr>
            <a:r>
              <a:rPr lang="en-US" sz="1200" dirty="0">
                <a:solidFill>
                  <a:schemeClr val="tx1"/>
                </a:solidFill>
              </a:rPr>
              <a:t>Evidence sufficient. A change draft carries original and proposed values, reason, evidence and open unknowns to procurement approval.</a:t>
            </a:r>
            <a:endParaRPr lang="en-US" sz="1200" dirty="0"/>
          </a:p>
        </p:txBody>
      </p:sp>
      <p:sp>
        <p:nvSpPr>
          <p:cNvPr id="10" name="Shape 8"/>
          <p:cNvSpPr/>
          <p:nvPr/>
        </p:nvSpPr>
        <p:spPr>
          <a:xfrm>
            <a:off x="4297680" y="3108960"/>
            <a:ext cx="3566160" cy="1874520"/>
          </a:xfrm>
          <a:prstGeom prst="roundRect">
            <a:avLst>
              <a:gd name="adj" fmla="val 2927"/>
            </a:avLst>
          </a:prstGeom>
          <a:solidFill>
            <a:schemeClr val="bg2"/>
          </a:solidFill>
          <a:ln w="9525">
            <a:solidFill>
              <a:srgbClr val="D9E6E1"/>
            </a:solidFill>
            <a:prstDash val="solid"/>
          </a:ln>
        </p:spPr>
      </p:sp>
      <p:sp>
        <p:nvSpPr>
          <p:cNvPr id="11" name="Shape 9"/>
          <p:cNvSpPr/>
          <p:nvPr/>
        </p:nvSpPr>
        <p:spPr>
          <a:xfrm>
            <a:off x="4480560" y="3273552"/>
            <a:ext cx="1188720" cy="292608"/>
          </a:xfrm>
          <a:prstGeom prst="rect">
            <a:avLst/>
          </a:prstGeom>
          <a:solidFill>
            <a:schemeClr val="tx2"/>
          </a:solidFill>
          <a:ln w="12700">
            <a:solidFill>
              <a:srgbClr val="D9E6E1"/>
            </a:solidFill>
            <a:prstDash val="solid"/>
          </a:ln>
        </p:spPr>
      </p:sp>
      <p:sp>
        <p:nvSpPr>
          <p:cNvPr id="12" name="Text 10"/>
          <p:cNvSpPr txBox="1"/>
          <p:nvPr/>
        </p:nvSpPr>
        <p:spPr>
          <a:xfrm>
            <a:off x="4480560" y="3273552"/>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rPr>
              <a:t>KEEP · STOP</a:t>
            </a:r>
            <a:endParaRPr lang="en-US" sz="1100" dirty="0"/>
          </a:p>
        </p:txBody>
      </p:sp>
      <p:sp>
        <p:nvSpPr>
          <p:cNvPr id="13" name="Text 11"/>
          <p:cNvSpPr txBox="1"/>
          <p:nvPr/>
        </p:nvSpPr>
        <p:spPr>
          <a:xfrm>
            <a:off x="4480560" y="3657600"/>
            <a:ext cx="3200400" cy="320040"/>
          </a:xfrm>
          <a:prstGeom prst="rect">
            <a:avLst/>
          </a:prstGeom>
          <a:noFill/>
          <a:ln/>
        </p:spPr>
        <p:txBody>
          <a:bodyPr wrap="square" lIns="0" tIns="0" rIns="0" bIns="0" rtlCol="0" anchor="t"/>
          <a:lstStyle/>
          <a:p>
            <a:pPr indent="0" marL="0">
              <a:buNone/>
            </a:pPr>
            <a:r>
              <a:rPr lang="en-US" sz="1500" b="1" dirty="0">
                <a:solidFill>
                  <a:schemeClr val="tx2"/>
                </a:solidFill>
              </a:rPr>
              <a:t>Keep the plan / stop</a:t>
            </a:r>
            <a:endParaRPr lang="en-US" sz="1500" dirty="0"/>
          </a:p>
        </p:txBody>
      </p:sp>
      <p:sp>
        <p:nvSpPr>
          <p:cNvPr id="14" name="Text 12"/>
          <p:cNvSpPr txBox="1"/>
          <p:nvPr/>
        </p:nvSpPr>
        <p:spPr>
          <a:xfrm>
            <a:off x="4480560" y="4005072"/>
            <a:ext cx="3200400" cy="914400"/>
          </a:xfrm>
          <a:prstGeom prst="rect">
            <a:avLst/>
          </a:prstGeom>
          <a:noFill/>
          <a:ln/>
        </p:spPr>
        <p:txBody>
          <a:bodyPr wrap="square" lIns="0" tIns="0" rIns="0" bIns="0" rtlCol="0" anchor="t"/>
          <a:lstStyle/>
          <a:p>
            <a:pPr indent="0" marL="0">
              <a:buNone/>
            </a:pPr>
            <a:r>
              <a:rPr lang="en-US" sz="1200" dirty="0">
                <a:solidFill>
                  <a:schemeClr val="tx1"/>
                </a:solidFill>
              </a:rPr>
              <a:t>Reason recorded, exception closed, original SAP plan untouched. No procurement object is created.</a:t>
            </a:r>
            <a:endParaRPr lang="en-US" sz="1200" dirty="0"/>
          </a:p>
        </p:txBody>
      </p:sp>
      <p:sp>
        <p:nvSpPr>
          <p:cNvPr id="15" name="Shape 13"/>
          <p:cNvSpPr/>
          <p:nvPr/>
        </p:nvSpPr>
        <p:spPr>
          <a:xfrm>
            <a:off x="8046720" y="3108960"/>
            <a:ext cx="3566160" cy="1874520"/>
          </a:xfrm>
          <a:prstGeom prst="roundRect">
            <a:avLst>
              <a:gd name="adj" fmla="val 2927"/>
            </a:avLst>
          </a:prstGeom>
          <a:solidFill>
            <a:schemeClr val="bg2"/>
          </a:solidFill>
          <a:ln w="9525">
            <a:solidFill>
              <a:srgbClr val="D9E6E1"/>
            </a:solidFill>
            <a:prstDash val="solid"/>
          </a:ln>
        </p:spPr>
      </p:sp>
      <p:sp>
        <p:nvSpPr>
          <p:cNvPr id="16" name="Shape 14"/>
          <p:cNvSpPr/>
          <p:nvPr/>
        </p:nvSpPr>
        <p:spPr>
          <a:xfrm>
            <a:off x="8229600" y="3273552"/>
            <a:ext cx="1188720" cy="292608"/>
          </a:xfrm>
          <a:prstGeom prst="rect">
            <a:avLst/>
          </a:prstGeom>
          <a:solidFill>
            <a:schemeClr val="accent2"/>
          </a:solidFill>
          <a:ln w="12700">
            <a:solidFill>
              <a:srgbClr val="D9E6E1"/>
            </a:solidFill>
            <a:prstDash val="solid"/>
          </a:ln>
        </p:spPr>
      </p:sp>
      <p:sp>
        <p:nvSpPr>
          <p:cNvPr id="17" name="Text 15"/>
          <p:cNvSpPr txBox="1"/>
          <p:nvPr/>
        </p:nvSpPr>
        <p:spPr>
          <a:xfrm>
            <a:off x="8229600" y="3273552"/>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rPr>
              <a:t>WAIT</a:t>
            </a:r>
            <a:endParaRPr lang="en-US" sz="1100" dirty="0"/>
          </a:p>
        </p:txBody>
      </p:sp>
      <p:sp>
        <p:nvSpPr>
          <p:cNvPr id="18" name="Text 16"/>
          <p:cNvSpPr txBox="1"/>
          <p:nvPr/>
        </p:nvSpPr>
        <p:spPr>
          <a:xfrm>
            <a:off x="8229600" y="3657600"/>
            <a:ext cx="3200400" cy="320040"/>
          </a:xfrm>
          <a:prstGeom prst="rect">
            <a:avLst/>
          </a:prstGeom>
          <a:noFill/>
          <a:ln/>
        </p:spPr>
        <p:txBody>
          <a:bodyPr wrap="square" lIns="0" tIns="0" rIns="0" bIns="0" rtlCol="0" anchor="t"/>
          <a:lstStyle/>
          <a:p>
            <a:pPr indent="0" marL="0">
              <a:buNone/>
            </a:pPr>
            <a:r>
              <a:rPr lang="en-US" sz="1500" b="1" dirty="0">
                <a:solidFill>
                  <a:schemeClr val="tx2"/>
                </a:solidFill>
              </a:rPr>
              <a:t>Wait for specific information</a:t>
            </a:r>
            <a:endParaRPr lang="en-US" sz="1500" dirty="0"/>
          </a:p>
        </p:txBody>
      </p:sp>
      <p:sp>
        <p:nvSpPr>
          <p:cNvPr id="19" name="Text 17"/>
          <p:cNvSpPr txBox="1"/>
          <p:nvPr/>
        </p:nvSpPr>
        <p:spPr>
          <a:xfrm>
            <a:off x="8229600" y="4005072"/>
            <a:ext cx="3200400" cy="914400"/>
          </a:xfrm>
          <a:prstGeom prst="rect">
            <a:avLst/>
          </a:prstGeom>
          <a:noFill/>
          <a:ln/>
        </p:spPr>
        <p:txBody>
          <a:bodyPr wrap="square" lIns="0" tIns="0" rIns="0" bIns="0" rtlCol="0" anchor="t"/>
          <a:lstStyle/>
          <a:p>
            <a:pPr indent="0" marL="0">
              <a:buNone/>
            </a:pPr>
            <a:r>
              <a:rPr lang="en-US" sz="1200" dirty="0">
                <a:solidFill>
                  <a:schemeClr val="tx1"/>
                </a:solidFill>
              </a:rPr>
              <a:t>A to-do with an owner, a deadline and one focused question. Resumes when the reply lands. Never a permanent hand-off of the pile to a human.</a:t>
            </a:r>
            <a:endParaRPr lang="en-US" sz="1200" dirty="0"/>
          </a:p>
        </p:txBody>
      </p:sp>
      <p:sp>
        <p:nvSpPr>
          <p:cNvPr id="20" name="Shape 18"/>
          <p:cNvSpPr/>
          <p:nvPr/>
        </p:nvSpPr>
        <p:spPr>
          <a:xfrm>
            <a:off x="548640" y="5166360"/>
            <a:ext cx="5440680" cy="1097280"/>
          </a:xfrm>
          <a:prstGeom prst="roundRect">
            <a:avLst>
              <a:gd name="adj" fmla="val 5000"/>
            </a:avLst>
          </a:prstGeom>
          <a:solidFill>
            <a:schemeClr val="bg1"/>
          </a:solidFill>
          <a:ln w="12700">
            <a:solidFill>
              <a:srgbClr val="16765F"/>
            </a:solidFill>
            <a:prstDash val="solid"/>
          </a:ln>
        </p:spPr>
      </p:sp>
      <p:sp>
        <p:nvSpPr>
          <p:cNvPr id="21" name="Text 19"/>
          <p:cNvSpPr txBox="1"/>
          <p:nvPr/>
        </p:nvSpPr>
        <p:spPr>
          <a:xfrm>
            <a:off x="777240" y="5257800"/>
            <a:ext cx="5029200" cy="914400"/>
          </a:xfrm>
          <a:prstGeom prst="rect">
            <a:avLst/>
          </a:prstGeom>
          <a:noFill/>
          <a:ln/>
        </p:spPr>
        <p:txBody>
          <a:bodyPr wrap="square" lIns="0" tIns="0" rIns="0" bIns="0" rtlCol="0" anchor="t"/>
          <a:lstStyle/>
          <a:p>
            <a:pPr indent="0" marL="0">
              <a:buNone/>
            </a:pPr>
            <a:r>
              <a:rPr lang="en-US" sz="1150" b="1" dirty="0">
                <a:solidFill>
                  <a:schemeClr val="accent1"/>
                </a:solidFill>
              </a:rPr>
              <a:t>Demand evidence gate.  </a:t>
            </a:r>
            <a:pPr indent="0" marL="0">
              <a:buNone/>
            </a:pPr>
            <a:r>
              <a:rPr lang="en-US" sz="1150" dirty="0">
                <a:solidFill>
                  <a:schemeClr val="tx1"/>
                </a:solidFill>
              </a:rPr>
              <a:t>Before any supply investigation, the Agent reads the retailer's demand records and gives a cited judgment: continue, clarify or pause. Only a current continue opens the next step. It judges whether the demand evidence supports pursuing additional supply; it never estimates unrecorded demand.</a:t>
            </a:r>
            <a:endParaRPr lang="en-US" sz="1150" dirty="0"/>
          </a:p>
        </p:txBody>
      </p:sp>
      <p:sp>
        <p:nvSpPr>
          <p:cNvPr id="22" name="Shape 20"/>
          <p:cNvSpPr/>
          <p:nvPr/>
        </p:nvSpPr>
        <p:spPr>
          <a:xfrm>
            <a:off x="6172200" y="5166360"/>
            <a:ext cx="5440680" cy="1097280"/>
          </a:xfrm>
          <a:prstGeom prst="roundRect">
            <a:avLst>
              <a:gd name="adj" fmla="val 5000"/>
            </a:avLst>
          </a:prstGeom>
          <a:solidFill>
            <a:schemeClr val="bg1"/>
          </a:solidFill>
          <a:ln w="12700">
            <a:solidFill>
              <a:srgbClr val="C8781E"/>
            </a:solidFill>
            <a:prstDash val="solid"/>
          </a:ln>
        </p:spPr>
      </p:sp>
      <p:sp>
        <p:nvSpPr>
          <p:cNvPr id="23" name="Text 21"/>
          <p:cNvSpPr txBox="1"/>
          <p:nvPr/>
        </p:nvSpPr>
        <p:spPr>
          <a:xfrm>
            <a:off x="6400800" y="5257800"/>
            <a:ext cx="5029200" cy="914400"/>
          </a:xfrm>
          <a:prstGeom prst="rect">
            <a:avLst/>
          </a:prstGeom>
          <a:noFill/>
          <a:ln/>
        </p:spPr>
        <p:txBody>
          <a:bodyPr wrap="square" lIns="0" tIns="0" rIns="0" bIns="0" rtlCol="0" anchor="t"/>
          <a:lstStyle/>
          <a:p>
            <a:pPr indent="0" marL="0">
              <a:buNone/>
            </a:pPr>
            <a:r>
              <a:rPr lang="en-US" sz="1150" b="1" dirty="0">
                <a:solidFill>
                  <a:schemeClr val="accent2"/>
                </a:solidFill>
              </a:rPr>
              <a:t>Quantity boundary.  </a:t>
            </a:r>
            <a:pPr indent="0" marL="0">
              <a:buNone/>
            </a:pPr>
            <a:r>
              <a:rPr lang="en-US" sz="1150" dirty="0">
                <a:solidFill>
                  <a:schemeClr val="tx1"/>
                </a:solidFill>
              </a:rPr>
              <a:t>The only quantity basis is a request the buyer has already approved, or an explicit calculation rule over reconciled customer requests. The Agent decides whether the reply keeps that request feasible. Abundant supply never becomes demand.</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Why this, and not the alternatives</a:t>
            </a:r>
            <a:endParaRPr lang="en-US" sz="3000" dirty="0"/>
          </a:p>
        </p:txBody>
      </p:sp>
      <p:sp>
        <p:nvSpPr>
          <p:cNvPr id="3" name="Shape 1"/>
          <p:cNvSpPr/>
          <p:nvPr/>
        </p:nvSpPr>
        <p:spPr>
          <a:xfrm>
            <a:off x="548640" y="1371600"/>
            <a:ext cx="914400" cy="274320"/>
          </a:xfrm>
          <a:prstGeom prst="roundRect">
            <a:avLst>
              <a:gd name="adj" fmla="val 50000"/>
            </a:avLst>
          </a:prstGeom>
          <a:solidFill>
            <a:schemeClr val="accent6"/>
          </a:solidFill>
          <a:ln w="12700">
            <a:solidFill>
              <a:schemeClr val="accent6"/>
            </a:solidFill>
            <a:prstDash val="solid"/>
          </a:ln>
        </p:spPr>
      </p:sp>
      <p:sp>
        <p:nvSpPr>
          <p:cNvPr id="4" name="Text 2"/>
          <p:cNvSpPr txBox="1"/>
          <p:nvPr/>
        </p:nvSpPr>
        <p:spPr>
          <a:xfrm>
            <a:off x="548640" y="1371600"/>
            <a:ext cx="91440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5" name="Shape 3"/>
          <p:cNvSpPr/>
          <p:nvPr/>
        </p:nvSpPr>
        <p:spPr>
          <a:xfrm>
            <a:off x="1572768" y="1371600"/>
            <a:ext cx="914400" cy="274320"/>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1572768" y="1371600"/>
            <a:ext cx="91440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7" name="Text 5"/>
          <p:cNvSpPr txBox="1"/>
          <p:nvPr/>
        </p:nvSpPr>
        <p:spPr>
          <a:xfrm>
            <a:off x="2926080" y="1344168"/>
            <a:ext cx="8716975" cy="365760"/>
          </a:xfrm>
          <a:prstGeom prst="rect">
            <a:avLst/>
          </a:prstGeom>
          <a:noFill/>
          <a:ln/>
        </p:spPr>
        <p:txBody>
          <a:bodyPr wrap="square" lIns="0" tIns="0" rIns="0" bIns="0" rtlCol="0" anchor="t"/>
          <a:lstStyle/>
          <a:p>
            <a:pPr indent="0" marL="0">
              <a:buNone/>
            </a:pPr>
            <a:r>
              <a:rPr lang="en-US" sz="1300" i="1" dirty="0">
                <a:solidFill>
                  <a:schemeClr val="accent4"/>
                </a:solidFill>
              </a:rPr>
              <a:t>The honest competitor is a strong form with the same rules. The pilot includes it as an arm.</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011680"/>
                <a:gridCol w="2103120"/>
                <a:gridCol w="2103120"/>
                <a:gridCol w="2468880"/>
                <a:gridCol w="2377440"/>
              </a:tblGrid>
              <a:tr h="384048">
                <a:tc>
                  <a:txBody>
                    <a:bodyPr/>
                    <a:lstStyle/>
                    <a:p>
                      <a:pPr indent="0" marL="0">
                        <a:buNone/>
                      </a:pP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Today: email + spreadsheet</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Strong form + rules</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Incumbent modules (SAP BN, SourceDay, Microsoft)</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Demand Pulse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45720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Reads a free-text reply</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Human reads and re-types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Not read; the supplier fills fields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Partly: document and email parsing in some editions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Model reads and cites; rules check the citation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Asks only what changes the decision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Depends on the planner</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Fixed field list every time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Reminders and status chasing</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Model drafts one question; rules route the owner</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Missing evidence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Forced to yes or no</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Blank field, often ignored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Varies by product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Stays unknown: WAIT with owner and deadline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Authority separation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None in the thread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Possible if designed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Inside their own approval flows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Enforced in code and in the sandbox; a supplier can never submit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Handoff to procurement approval</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note typed by hand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Form output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Native to their suite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Version-linked change request with the evidence hash</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Cost to adopt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None; paid in minutes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Licence plus integration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Model under USD 1 per exception; integration dominates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9" name="Shape 6"/>
          <p:cNvSpPr/>
          <p:nvPr/>
        </p:nvSpPr>
        <p:spPr>
          <a:xfrm>
            <a:off x="548640" y="5257800"/>
            <a:ext cx="11064240" cy="960120"/>
          </a:xfrm>
          <a:prstGeom prst="roundRect">
            <a:avLst>
              <a:gd name="adj" fmla="val 5714"/>
            </a:avLst>
          </a:prstGeom>
          <a:solidFill>
            <a:schemeClr val="bg2"/>
          </a:solidFill>
          <a:ln w="9525">
            <a:solidFill>
              <a:srgbClr val="D9E6E1"/>
            </a:solidFill>
            <a:prstDash val="solid"/>
          </a:ln>
        </p:spPr>
      </p:sp>
      <p:sp>
        <p:nvSpPr>
          <p:cNvPr id="10" name="Text 7"/>
          <p:cNvSpPr txBox="1"/>
          <p:nvPr/>
        </p:nvSpPr>
        <p:spPr>
          <a:xfrm>
            <a:off x="822960" y="5376672"/>
            <a:ext cx="10515600" cy="777240"/>
          </a:xfrm>
          <a:prstGeom prst="rect">
            <a:avLst/>
          </a:prstGeom>
          <a:noFill/>
          <a:ln/>
        </p:spPr>
        <p:txBody>
          <a:bodyPr wrap="square" lIns="0" tIns="0" rIns="0" bIns="0" rtlCol="0" anchor="t"/>
          <a:lstStyle/>
          <a:p>
            <a:pPr indent="0" marL="0">
              <a:buNone/>
            </a:pPr>
            <a:r>
              <a:rPr lang="en-US" sz="1200" b="1" dirty="0">
                <a:solidFill>
                  <a:schemeClr val="tx2"/>
                </a:solidFill>
              </a:rPr>
              <a:t>Priorities and adoption.  </a:t>
            </a:r>
            <a:pPr indent="0" marL="0">
              <a:buNone/>
            </a:pPr>
            <a:r>
              <a:rPr lang="en-US" sz="1200" dirty="0">
                <a:solidFill>
                  <a:schemeClr val="tx1"/>
                </a:solidFill>
              </a:rPr>
              <a:t>We built the loop and its guardrails before any forecasting, because the form arm is the real competitor. The retailer pays; the supplier keeps replying by email, no new portal. We do not claim to be cheaper than incumbents; we claim less total work at equal correctness, and the pilot measures exactly that.</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How it works: one loop, three kinds of authority</a:t>
            </a:r>
            <a:endParaRPr lang="en-US" sz="3000" dirty="0"/>
          </a:p>
        </p:txBody>
      </p:sp>
      <p:sp>
        <p:nvSpPr>
          <p:cNvPr id="3" name="Shape 1"/>
          <p:cNvSpPr/>
          <p:nvPr/>
        </p:nvSpPr>
        <p:spPr>
          <a:xfrm>
            <a:off x="548640" y="1600200"/>
            <a:ext cx="1258786" cy="960120"/>
          </a:xfrm>
          <a:prstGeom prst="roundRect">
            <a:avLst>
              <a:gd name="adj" fmla="val 5714"/>
            </a:avLst>
          </a:prstGeom>
          <a:solidFill>
            <a:schemeClr val="bg2"/>
          </a:solidFill>
          <a:ln/>
        </p:spPr>
      </p:sp>
      <p:sp>
        <p:nvSpPr>
          <p:cNvPr id="4" name="Text 2"/>
          <p:cNvSpPr txBox="1"/>
          <p:nvPr/>
        </p:nvSpPr>
        <p:spPr>
          <a:xfrm>
            <a:off x="603504" y="160020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Supplier email arrives</a:t>
            </a:r>
            <a:endParaRPr lang="en-US" sz="1150" dirty="0"/>
          </a:p>
        </p:txBody>
      </p:sp>
      <p:sp>
        <p:nvSpPr>
          <p:cNvPr id="5" name="Shape 3"/>
          <p:cNvSpPr/>
          <p:nvPr/>
        </p:nvSpPr>
        <p:spPr>
          <a:xfrm>
            <a:off x="1816570" y="1975104"/>
            <a:ext cx="128016" cy="210312"/>
          </a:xfrm>
          <a:prstGeom prst="rightArrow">
            <a:avLst/>
          </a:prstGeom>
          <a:solidFill>
            <a:schemeClr val="accent4"/>
          </a:solidFill>
          <a:ln w="12700">
            <a:solidFill>
              <a:srgbClr val="557078"/>
            </a:solidFill>
            <a:prstDash val="solid"/>
          </a:ln>
        </p:spPr>
      </p:sp>
      <p:sp>
        <p:nvSpPr>
          <p:cNvPr id="6" name="Shape 4"/>
          <p:cNvSpPr/>
          <p:nvPr/>
        </p:nvSpPr>
        <p:spPr>
          <a:xfrm>
            <a:off x="1953730" y="1600200"/>
            <a:ext cx="1258786" cy="960120"/>
          </a:xfrm>
          <a:prstGeom prst="roundRect">
            <a:avLst>
              <a:gd name="adj" fmla="val 5714"/>
            </a:avLst>
          </a:prstGeom>
          <a:solidFill>
            <a:schemeClr val="bg2"/>
          </a:solidFill>
          <a:ln/>
        </p:spPr>
      </p:sp>
      <p:sp>
        <p:nvSpPr>
          <p:cNvPr id="7" name="Text 5"/>
          <p:cNvSpPr txBox="1"/>
          <p:nvPr/>
        </p:nvSpPr>
        <p:spPr>
          <a:xfrm>
            <a:off x="2008594" y="160020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Matched to the open case</a:t>
            </a:r>
            <a:endParaRPr lang="en-US" sz="1150" dirty="0"/>
          </a:p>
        </p:txBody>
      </p:sp>
      <p:sp>
        <p:nvSpPr>
          <p:cNvPr id="8" name="Shape 6"/>
          <p:cNvSpPr/>
          <p:nvPr/>
        </p:nvSpPr>
        <p:spPr>
          <a:xfrm>
            <a:off x="3221660" y="1975104"/>
            <a:ext cx="128016" cy="210312"/>
          </a:xfrm>
          <a:prstGeom prst="rightArrow">
            <a:avLst/>
          </a:prstGeom>
          <a:solidFill>
            <a:schemeClr val="accent4"/>
          </a:solidFill>
          <a:ln w="12700">
            <a:solidFill>
              <a:srgbClr val="557078"/>
            </a:solidFill>
            <a:prstDash val="solid"/>
          </a:ln>
        </p:spPr>
      </p:sp>
      <p:sp>
        <p:nvSpPr>
          <p:cNvPr id="9" name="Shape 7"/>
          <p:cNvSpPr/>
          <p:nvPr/>
        </p:nvSpPr>
        <p:spPr>
          <a:xfrm>
            <a:off x="3358820" y="1600200"/>
            <a:ext cx="1258786" cy="960120"/>
          </a:xfrm>
          <a:prstGeom prst="roundRect">
            <a:avLst>
              <a:gd name="adj" fmla="val 5714"/>
            </a:avLst>
          </a:prstGeom>
          <a:solidFill>
            <a:schemeClr val="accent1"/>
          </a:solidFill>
          <a:ln w="19050">
            <a:solidFill>
              <a:srgbClr val="14353A"/>
            </a:solidFill>
            <a:prstDash val="dash"/>
          </a:ln>
        </p:spPr>
      </p:sp>
      <p:sp>
        <p:nvSpPr>
          <p:cNvPr id="10" name="Text 8"/>
          <p:cNvSpPr txBox="1"/>
          <p:nvPr/>
        </p:nvSpPr>
        <p:spPr>
          <a:xfrm>
            <a:off x="3413684" y="1600200"/>
            <a:ext cx="1149058" cy="960120"/>
          </a:xfrm>
          <a:prstGeom prst="rect">
            <a:avLst/>
          </a:prstGeom>
          <a:noFill/>
          <a:ln/>
        </p:spPr>
        <p:txBody>
          <a:bodyPr wrap="square" lIns="0" tIns="0" rIns="0" bIns="0" rtlCol="0" anchor="ctr"/>
          <a:lstStyle/>
          <a:p>
            <a:pPr algn="ctr" indent="0" marL="0">
              <a:buNone/>
            </a:pPr>
            <a:r>
              <a:rPr lang="en-US" sz="1050" b="1" dirty="0">
                <a:solidFill>
                  <a:schemeClr val="bg1"/>
                </a:solidFill>
              </a:rPr>
              <a:t>Demand evidence gate: continue · clarify · pause</a:t>
            </a:r>
            <a:endParaRPr lang="en-US" sz="1050" dirty="0"/>
          </a:p>
        </p:txBody>
      </p:sp>
      <p:sp>
        <p:nvSpPr>
          <p:cNvPr id="11" name="Shape 9"/>
          <p:cNvSpPr/>
          <p:nvPr/>
        </p:nvSpPr>
        <p:spPr>
          <a:xfrm>
            <a:off x="4626750" y="1975104"/>
            <a:ext cx="128016" cy="210312"/>
          </a:xfrm>
          <a:prstGeom prst="rightArrow">
            <a:avLst/>
          </a:prstGeom>
          <a:solidFill>
            <a:schemeClr val="accent4"/>
          </a:solidFill>
          <a:ln w="12700">
            <a:solidFill>
              <a:srgbClr val="557078"/>
            </a:solidFill>
            <a:prstDash val="solid"/>
          </a:ln>
        </p:spPr>
      </p:sp>
      <p:sp>
        <p:nvSpPr>
          <p:cNvPr id="12" name="Shape 10"/>
          <p:cNvSpPr/>
          <p:nvPr/>
        </p:nvSpPr>
        <p:spPr>
          <a:xfrm>
            <a:off x="4763910" y="1600200"/>
            <a:ext cx="1258786" cy="960120"/>
          </a:xfrm>
          <a:prstGeom prst="roundRect">
            <a:avLst>
              <a:gd name="adj" fmla="val 5714"/>
            </a:avLst>
          </a:prstGeom>
          <a:solidFill>
            <a:schemeClr val="tx1"/>
          </a:solidFill>
          <a:ln/>
        </p:spPr>
      </p:sp>
      <p:sp>
        <p:nvSpPr>
          <p:cNvPr id="13" name="Text 11"/>
          <p:cNvSpPr txBox="1"/>
          <p:nvPr/>
        </p:nvSpPr>
        <p:spPr>
          <a:xfrm>
            <a:off x="4818774" y="160020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Evidence review by the model</a:t>
            </a:r>
            <a:endParaRPr lang="en-US" sz="1150" dirty="0"/>
          </a:p>
        </p:txBody>
      </p:sp>
      <p:sp>
        <p:nvSpPr>
          <p:cNvPr id="14" name="Shape 12"/>
          <p:cNvSpPr/>
          <p:nvPr/>
        </p:nvSpPr>
        <p:spPr>
          <a:xfrm>
            <a:off x="6031840" y="1975104"/>
            <a:ext cx="128016" cy="210312"/>
          </a:xfrm>
          <a:prstGeom prst="rightArrow">
            <a:avLst/>
          </a:prstGeom>
          <a:solidFill>
            <a:schemeClr val="accent4"/>
          </a:solidFill>
          <a:ln w="12700">
            <a:solidFill>
              <a:srgbClr val="557078"/>
            </a:solidFill>
            <a:prstDash val="solid"/>
          </a:ln>
        </p:spPr>
      </p:sp>
      <p:sp>
        <p:nvSpPr>
          <p:cNvPr id="15" name="Shape 13"/>
          <p:cNvSpPr/>
          <p:nvPr/>
        </p:nvSpPr>
        <p:spPr>
          <a:xfrm>
            <a:off x="6169000" y="1600200"/>
            <a:ext cx="1258786" cy="960120"/>
          </a:xfrm>
          <a:prstGeom prst="roundRect">
            <a:avLst>
              <a:gd name="adj" fmla="val 5714"/>
            </a:avLst>
          </a:prstGeom>
          <a:solidFill>
            <a:schemeClr val="accent1"/>
          </a:solidFill>
          <a:ln/>
        </p:spPr>
      </p:sp>
      <p:sp>
        <p:nvSpPr>
          <p:cNvPr id="16" name="Text 14"/>
          <p:cNvSpPr txBox="1"/>
          <p:nvPr/>
        </p:nvSpPr>
        <p:spPr>
          <a:xfrm>
            <a:off x="6223864" y="160020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Rule validation and model audit</a:t>
            </a:r>
            <a:endParaRPr lang="en-US" sz="1150" dirty="0"/>
          </a:p>
        </p:txBody>
      </p:sp>
      <p:sp>
        <p:nvSpPr>
          <p:cNvPr id="17" name="Shape 15"/>
          <p:cNvSpPr/>
          <p:nvPr/>
        </p:nvSpPr>
        <p:spPr>
          <a:xfrm>
            <a:off x="7436930" y="1975104"/>
            <a:ext cx="128016" cy="210312"/>
          </a:xfrm>
          <a:prstGeom prst="rightArrow">
            <a:avLst/>
          </a:prstGeom>
          <a:solidFill>
            <a:schemeClr val="accent4"/>
          </a:solidFill>
          <a:ln w="12700">
            <a:solidFill>
              <a:srgbClr val="557078"/>
            </a:solidFill>
            <a:prstDash val="solid"/>
          </a:ln>
        </p:spPr>
      </p:sp>
      <p:sp>
        <p:nvSpPr>
          <p:cNvPr id="18" name="Shape 16"/>
          <p:cNvSpPr/>
          <p:nvPr/>
        </p:nvSpPr>
        <p:spPr>
          <a:xfrm>
            <a:off x="7574090" y="1600200"/>
            <a:ext cx="1258786" cy="960120"/>
          </a:xfrm>
          <a:prstGeom prst="roundRect">
            <a:avLst>
              <a:gd name="adj" fmla="val 5714"/>
            </a:avLst>
          </a:prstGeom>
          <a:solidFill>
            <a:schemeClr val="accent2"/>
          </a:solidFill>
          <a:ln/>
        </p:spPr>
      </p:sp>
      <p:sp>
        <p:nvSpPr>
          <p:cNvPr id="19" name="Text 17"/>
          <p:cNvSpPr txBox="1"/>
          <p:nvPr/>
        </p:nvSpPr>
        <p:spPr>
          <a:xfrm>
            <a:off x="7628954" y="160020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Supplier authorises disclosure</a:t>
            </a:r>
            <a:endParaRPr lang="en-US" sz="1150" dirty="0"/>
          </a:p>
        </p:txBody>
      </p:sp>
      <p:sp>
        <p:nvSpPr>
          <p:cNvPr id="20" name="Shape 18"/>
          <p:cNvSpPr/>
          <p:nvPr/>
        </p:nvSpPr>
        <p:spPr>
          <a:xfrm>
            <a:off x="8842019" y="1975104"/>
            <a:ext cx="128016" cy="210312"/>
          </a:xfrm>
          <a:prstGeom prst="rightArrow">
            <a:avLst/>
          </a:prstGeom>
          <a:solidFill>
            <a:schemeClr val="accent4"/>
          </a:solidFill>
          <a:ln w="12700">
            <a:solidFill>
              <a:srgbClr val="557078"/>
            </a:solidFill>
            <a:prstDash val="solid"/>
          </a:ln>
        </p:spPr>
      </p:sp>
      <p:sp>
        <p:nvSpPr>
          <p:cNvPr id="21" name="Shape 19"/>
          <p:cNvSpPr/>
          <p:nvPr/>
        </p:nvSpPr>
        <p:spPr>
          <a:xfrm>
            <a:off x="8979179" y="1600200"/>
            <a:ext cx="1258786" cy="960120"/>
          </a:xfrm>
          <a:prstGeom prst="roundRect">
            <a:avLst>
              <a:gd name="adj" fmla="val 5714"/>
            </a:avLst>
          </a:prstGeom>
          <a:solidFill>
            <a:schemeClr val="accent2"/>
          </a:solidFill>
          <a:ln/>
        </p:spPr>
      </p:sp>
      <p:sp>
        <p:nvSpPr>
          <p:cNvPr id="22" name="Text 20"/>
          <p:cNvSpPr txBox="1"/>
          <p:nvPr/>
        </p:nvSpPr>
        <p:spPr>
          <a:xfrm>
            <a:off x="9034043" y="160020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Planner decides</a:t>
            </a:r>
            <a:endParaRPr lang="en-US" sz="1150" dirty="0"/>
          </a:p>
        </p:txBody>
      </p:sp>
      <p:sp>
        <p:nvSpPr>
          <p:cNvPr id="23" name="Shape 21"/>
          <p:cNvSpPr/>
          <p:nvPr/>
        </p:nvSpPr>
        <p:spPr>
          <a:xfrm>
            <a:off x="10247109" y="1975104"/>
            <a:ext cx="128016" cy="210312"/>
          </a:xfrm>
          <a:prstGeom prst="rightArrow">
            <a:avLst/>
          </a:prstGeom>
          <a:solidFill>
            <a:schemeClr val="accent4"/>
          </a:solidFill>
          <a:ln w="12700">
            <a:solidFill>
              <a:srgbClr val="557078"/>
            </a:solidFill>
            <a:prstDash val="solid"/>
          </a:ln>
        </p:spPr>
      </p:sp>
      <p:sp>
        <p:nvSpPr>
          <p:cNvPr id="24" name="Shape 22"/>
          <p:cNvSpPr/>
          <p:nvPr/>
        </p:nvSpPr>
        <p:spPr>
          <a:xfrm>
            <a:off x="10384269" y="1600200"/>
            <a:ext cx="1258786" cy="960120"/>
          </a:xfrm>
          <a:prstGeom prst="roundRect">
            <a:avLst>
              <a:gd name="adj" fmla="val 5714"/>
            </a:avLst>
          </a:prstGeom>
          <a:solidFill>
            <a:schemeClr val="bg2"/>
          </a:solidFill>
          <a:ln/>
        </p:spPr>
      </p:sp>
      <p:sp>
        <p:nvSpPr>
          <p:cNvPr id="25" name="Text 23"/>
          <p:cNvSpPr txBox="1"/>
          <p:nvPr/>
        </p:nvSpPr>
        <p:spPr>
          <a:xfrm>
            <a:off x="10439133" y="160020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Procurement sandbox receipt</a:t>
            </a:r>
            <a:endParaRPr lang="en-US" sz="1150" dirty="0"/>
          </a:p>
        </p:txBody>
      </p:sp>
      <p:sp>
        <p:nvSpPr>
          <p:cNvPr id="26" name="Shape 24"/>
          <p:cNvSpPr/>
          <p:nvPr/>
        </p:nvSpPr>
        <p:spPr>
          <a:xfrm>
            <a:off x="548640" y="2880360"/>
            <a:ext cx="3566160" cy="2788920"/>
          </a:xfrm>
          <a:prstGeom prst="roundRect">
            <a:avLst>
              <a:gd name="adj" fmla="val 1967"/>
            </a:avLst>
          </a:prstGeom>
          <a:solidFill>
            <a:schemeClr val="bg2"/>
          </a:solidFill>
          <a:ln w="9525">
            <a:solidFill>
              <a:srgbClr val="D9E6E1"/>
            </a:solidFill>
            <a:prstDash val="solid"/>
          </a:ln>
        </p:spPr>
      </p:sp>
      <p:sp>
        <p:nvSpPr>
          <p:cNvPr id="27" name="Shape 25"/>
          <p:cNvSpPr/>
          <p:nvPr/>
        </p:nvSpPr>
        <p:spPr>
          <a:xfrm>
            <a:off x="731520" y="3044952"/>
            <a:ext cx="1463040" cy="310896"/>
          </a:xfrm>
          <a:prstGeom prst="rect">
            <a:avLst/>
          </a:prstGeom>
          <a:solidFill>
            <a:schemeClr val="tx1"/>
          </a:solidFill>
          <a:ln w="12700">
            <a:solidFill>
              <a:srgbClr val="D9E6E1"/>
            </a:solidFill>
            <a:prstDash val="solid"/>
          </a:ln>
        </p:spPr>
      </p:sp>
      <p:sp>
        <p:nvSpPr>
          <p:cNvPr id="28" name="Text 26"/>
          <p:cNvSpPr txBox="1"/>
          <p:nvPr/>
        </p:nvSpPr>
        <p:spPr>
          <a:xfrm>
            <a:off x="731520" y="3044952"/>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Model may</a:t>
            </a:r>
            <a:endParaRPr lang="en-US" sz="1200" dirty="0"/>
          </a:p>
        </p:txBody>
      </p:sp>
      <p:sp>
        <p:nvSpPr>
          <p:cNvPr id="29" name="Text 27"/>
          <p:cNvSpPr txBox="1"/>
          <p:nvPr/>
        </p:nvSpPr>
        <p:spPr>
          <a:xfrm>
            <a:off x="731520" y="3520440"/>
            <a:ext cx="3200400" cy="201168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Discover and read authorised sources</a:t>
            </a:r>
            <a:endParaRPr lang="en-US" sz="1150" dirty="0"/>
          </a:p>
          <a:p>
            <a:pPr marL="177800" indent="-177800">
              <a:spcAft>
                <a:spcPts val="400"/>
              </a:spcAft>
              <a:buSzPct val="100000"/>
              <a:buChar char="•"/>
            </a:pPr>
            <a:r>
              <a:rPr lang="en-US" sz="1150" dirty="0">
                <a:solidFill>
                  <a:schemeClr val="tx1"/>
                </a:solidFill>
              </a:rPr>
              <a:t>Judge whether the demand evidence supports pursuing additional supply: continue, clarify or pause, with citations</a:t>
            </a:r>
            <a:endParaRPr lang="en-US" sz="1150" dirty="0"/>
          </a:p>
          <a:p>
            <a:pPr marL="177800" indent="-177800">
              <a:spcAft>
                <a:spcPts val="400"/>
              </a:spcAft>
              <a:buSzPct val="100000"/>
              <a:buChar char="•"/>
            </a:pPr>
            <a:r>
              <a:rPr lang="en-US" sz="1150" dirty="0">
                <a:solidFill>
                  <a:schemeClr val="tx1"/>
                </a:solidFill>
              </a:rPr>
              <a:t>Write cited interpretations and reconcile replies</a:t>
            </a:r>
            <a:endParaRPr lang="en-US" sz="1150" dirty="0"/>
          </a:p>
          <a:p>
            <a:pPr marL="177800" indent="-177800">
              <a:spcAft>
                <a:spcPts val="400"/>
              </a:spcAft>
              <a:buSzPct val="100000"/>
              <a:buChar char="•"/>
            </a:pPr>
            <a:r>
              <a:rPr lang="en-US" sz="1150" dirty="0">
                <a:solidFill>
                  <a:schemeClr val="tx1"/>
                </a:solidFill>
              </a:rPr>
              <a:t>Identify unanswered conditions</a:t>
            </a:r>
            <a:endParaRPr lang="en-US" sz="1150" dirty="0"/>
          </a:p>
          <a:p>
            <a:pPr marL="177800" indent="-177800">
              <a:spcAft>
                <a:spcPts val="400"/>
              </a:spcAft>
              <a:buSzPct val="100000"/>
              <a:buChar char="•"/>
            </a:pPr>
            <a:r>
              <a:rPr lang="en-US" sz="1150" dirty="0">
                <a:solidFill>
                  <a:schemeClr val="tx1"/>
                </a:solidFill>
              </a:rPr>
              <a:t>Draft one focused next action or a change draft</a:t>
            </a:r>
            <a:endParaRPr lang="en-US" sz="1150" dirty="0"/>
          </a:p>
        </p:txBody>
      </p:sp>
      <p:sp>
        <p:nvSpPr>
          <p:cNvPr id="30" name="Shape 28"/>
          <p:cNvSpPr/>
          <p:nvPr/>
        </p:nvSpPr>
        <p:spPr>
          <a:xfrm>
            <a:off x="4297680" y="2880360"/>
            <a:ext cx="3566160" cy="2788920"/>
          </a:xfrm>
          <a:prstGeom prst="roundRect">
            <a:avLst>
              <a:gd name="adj" fmla="val 1967"/>
            </a:avLst>
          </a:prstGeom>
          <a:solidFill>
            <a:schemeClr val="bg2"/>
          </a:solidFill>
          <a:ln w="9525">
            <a:solidFill>
              <a:srgbClr val="D9E6E1"/>
            </a:solidFill>
            <a:prstDash val="solid"/>
          </a:ln>
        </p:spPr>
      </p:sp>
      <p:sp>
        <p:nvSpPr>
          <p:cNvPr id="31" name="Shape 29"/>
          <p:cNvSpPr/>
          <p:nvPr/>
        </p:nvSpPr>
        <p:spPr>
          <a:xfrm>
            <a:off x="4480560" y="3044952"/>
            <a:ext cx="1463040" cy="310896"/>
          </a:xfrm>
          <a:prstGeom prst="rect">
            <a:avLst/>
          </a:prstGeom>
          <a:solidFill>
            <a:schemeClr val="accent1"/>
          </a:solidFill>
          <a:ln w="12700">
            <a:solidFill>
              <a:srgbClr val="D9E6E1"/>
            </a:solidFill>
            <a:prstDash val="solid"/>
          </a:ln>
        </p:spPr>
      </p:sp>
      <p:sp>
        <p:nvSpPr>
          <p:cNvPr id="32" name="Text 30"/>
          <p:cNvSpPr txBox="1"/>
          <p:nvPr/>
        </p:nvSpPr>
        <p:spPr>
          <a:xfrm>
            <a:off x="4480560" y="3044952"/>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Rules enforce</a:t>
            </a:r>
            <a:endParaRPr lang="en-US" sz="1200" dirty="0"/>
          </a:p>
        </p:txBody>
      </p:sp>
      <p:sp>
        <p:nvSpPr>
          <p:cNvPr id="33" name="Text 31"/>
          <p:cNvSpPr txBox="1"/>
          <p:nvPr/>
        </p:nvSpPr>
        <p:spPr>
          <a:xfrm>
            <a:off x="4480560" y="3520440"/>
            <a:ext cx="3200400" cy="201168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Exact quotation of a source actually read</a:t>
            </a:r>
            <a:endParaRPr lang="en-US" sz="1150" dirty="0"/>
          </a:p>
          <a:p>
            <a:pPr marL="177800" indent="-177800">
              <a:spcAft>
                <a:spcPts val="400"/>
              </a:spcAft>
              <a:buSzPct val="100000"/>
              <a:buChar char="•"/>
            </a:pPr>
            <a:r>
              <a:rPr lang="en-US" sz="1150" dirty="0">
                <a:solidFill>
                  <a:schemeClr val="tx1"/>
                </a:solidFill>
              </a:rPr>
              <a:t>Only a current continue judgment opens investigation; no estimate of unrecorded demand, ever</a:t>
            </a:r>
            <a:endParaRPr lang="en-US" sz="1150" dirty="0"/>
          </a:p>
          <a:p>
            <a:pPr marL="177800" indent="-177800">
              <a:spcAft>
                <a:spcPts val="400"/>
              </a:spcAft>
              <a:buSzPct val="100000"/>
              <a:buChar char="•"/>
            </a:pPr>
            <a:r>
              <a:rPr lang="en-US" sz="1150" dirty="0">
                <a:solidFill>
                  <a:schemeClr val="tx1"/>
                </a:solidFill>
              </a:rPr>
              <a:t>Required condition coverage; unknown stays unknown</a:t>
            </a:r>
            <a:endParaRPr lang="en-US" sz="1150" dirty="0"/>
          </a:p>
          <a:p>
            <a:pPr marL="177800" indent="-177800">
              <a:spcAft>
                <a:spcPts val="400"/>
              </a:spcAft>
              <a:buSzPct val="100000"/>
              <a:buChar char="•"/>
            </a:pPr>
            <a:r>
              <a:rPr lang="en-US" sz="1150" dirty="0">
                <a:solidFill>
                  <a:schemeClr val="tx1"/>
                </a:solidFill>
              </a:rPr>
              <a:t>Retained baseline; typed timing and quantity consistency</a:t>
            </a:r>
            <a:endParaRPr lang="en-US" sz="1150" dirty="0"/>
          </a:p>
          <a:p>
            <a:pPr marL="177800" indent="-177800">
              <a:spcAft>
                <a:spcPts val="400"/>
              </a:spcAft>
              <a:buSzPct val="100000"/>
              <a:buChar char="•"/>
            </a:pPr>
            <a:r>
              <a:rPr lang="en-US" sz="1150" dirty="0">
                <a:solidFill>
                  <a:schemeClr val="tx1"/>
                </a:solidFill>
              </a:rPr>
              <a:t>Disclosure boundary, call cap, budget stop</a:t>
            </a:r>
            <a:endParaRPr lang="en-US" sz="1150" dirty="0"/>
          </a:p>
        </p:txBody>
      </p:sp>
      <p:sp>
        <p:nvSpPr>
          <p:cNvPr id="34" name="Shape 32"/>
          <p:cNvSpPr/>
          <p:nvPr/>
        </p:nvSpPr>
        <p:spPr>
          <a:xfrm>
            <a:off x="8046720" y="2880360"/>
            <a:ext cx="3566160" cy="2788920"/>
          </a:xfrm>
          <a:prstGeom prst="roundRect">
            <a:avLst>
              <a:gd name="adj" fmla="val 1967"/>
            </a:avLst>
          </a:prstGeom>
          <a:solidFill>
            <a:schemeClr val="bg2"/>
          </a:solidFill>
          <a:ln w="9525">
            <a:solidFill>
              <a:srgbClr val="D9E6E1"/>
            </a:solidFill>
            <a:prstDash val="solid"/>
          </a:ln>
        </p:spPr>
      </p:sp>
      <p:sp>
        <p:nvSpPr>
          <p:cNvPr id="35" name="Shape 33"/>
          <p:cNvSpPr/>
          <p:nvPr/>
        </p:nvSpPr>
        <p:spPr>
          <a:xfrm>
            <a:off x="8229600" y="3044952"/>
            <a:ext cx="1463040" cy="310896"/>
          </a:xfrm>
          <a:prstGeom prst="rect">
            <a:avLst/>
          </a:prstGeom>
          <a:solidFill>
            <a:schemeClr val="accent2"/>
          </a:solidFill>
          <a:ln w="12700">
            <a:solidFill>
              <a:srgbClr val="D9E6E1"/>
            </a:solidFill>
            <a:prstDash val="solid"/>
          </a:ln>
        </p:spPr>
      </p:sp>
      <p:sp>
        <p:nvSpPr>
          <p:cNvPr id="36" name="Text 34"/>
          <p:cNvSpPr txBox="1"/>
          <p:nvPr/>
        </p:nvSpPr>
        <p:spPr>
          <a:xfrm>
            <a:off x="8229600" y="3044952"/>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Humans hold</a:t>
            </a:r>
            <a:endParaRPr lang="en-US" sz="1200" dirty="0"/>
          </a:p>
        </p:txBody>
      </p:sp>
      <p:sp>
        <p:nvSpPr>
          <p:cNvPr id="37" name="Text 35"/>
          <p:cNvSpPr txBox="1"/>
          <p:nvPr/>
        </p:nvSpPr>
        <p:spPr>
          <a:xfrm>
            <a:off x="8229600" y="3520440"/>
            <a:ext cx="3200400" cy="201168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Supplier: what is disclosed, and when</a:t>
            </a:r>
            <a:endParaRPr lang="en-US" sz="1150" dirty="0"/>
          </a:p>
          <a:p>
            <a:pPr marL="177800" indent="-177800">
              <a:spcAft>
                <a:spcPts val="400"/>
              </a:spcAft>
              <a:buSzPct val="100000"/>
              <a:buChar char="•"/>
            </a:pPr>
            <a:r>
              <a:rPr lang="en-US" sz="1150" dirty="0">
                <a:solidFill>
                  <a:schemeClr val="tx1"/>
                </a:solidFill>
              </a:rPr>
              <a:t>Planner: authorise investigation, stop, or submit a change</a:t>
            </a:r>
            <a:endParaRPr lang="en-US" sz="1150" dirty="0"/>
          </a:p>
          <a:p>
            <a:pPr marL="177800" indent="-177800">
              <a:spcAft>
                <a:spcPts val="400"/>
              </a:spcAft>
              <a:buSzPct val="100000"/>
              <a:buChar char="•"/>
            </a:pPr>
            <a:r>
              <a:rPr lang="en-US" sz="1150" dirty="0">
                <a:solidFill>
                  <a:schemeClr val="tx1"/>
                </a:solidFill>
              </a:rPr>
              <a:t>Procurement approver: release or return</a:t>
            </a:r>
            <a:endParaRPr lang="en-US" sz="1150" dirty="0"/>
          </a:p>
          <a:p>
            <a:pPr marL="177800" indent="-177800">
              <a:spcAft>
                <a:spcPts val="400"/>
              </a:spcAft>
              <a:buSzPct val="100000"/>
              <a:buChar char="•"/>
            </a:pPr>
            <a:r>
              <a:rPr lang="en-US" sz="1150" dirty="0">
                <a:solidFill>
                  <a:schemeClr val="tx1"/>
                </a:solidFill>
              </a:rPr>
              <a:t>Nothing is bought, booked or sent without one of them</a:t>
            </a:r>
            <a:endParaRPr lang="en-US" sz="1150" dirty="0"/>
          </a:p>
        </p:txBody>
      </p:sp>
      <p:sp>
        <p:nvSpPr>
          <p:cNvPr id="38" name="Text 36"/>
          <p:cNvSpPr txBox="1"/>
          <p:nvPr/>
        </p:nvSpPr>
        <p:spPr>
          <a:xfrm>
            <a:off x="548640" y="5806440"/>
            <a:ext cx="11064240" cy="457200"/>
          </a:xfrm>
          <a:prstGeom prst="rect">
            <a:avLst/>
          </a:prstGeom>
          <a:noFill/>
          <a:ln/>
        </p:spPr>
        <p:txBody>
          <a:bodyPr wrap="square" lIns="0" tIns="0" rIns="0" bIns="0" rtlCol="0" anchor="t"/>
          <a:lstStyle/>
          <a:p>
            <a:pPr indent="0" marL="0">
              <a:buNone/>
            </a:pPr>
            <a:r>
              <a:rPr lang="en-US" sz="1150" dirty="0">
                <a:solidFill>
                  <a:schemeClr val="accent4"/>
                </a:solidFill>
              </a:rPr>
              <a:t>Colours match the bands: dark is model work, teal is rules, amber is a human decision. The dashed box is a model judgment that rules enforce: it decides whether demand evidence justifies going further, not how much demand there is.</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Demo: the core workflow in six frames</a:t>
            </a:r>
            <a:endParaRPr lang="en-US" sz="3000" dirty="0"/>
          </a:p>
        </p:txBody>
      </p:sp>
      <p:sp>
        <p:nvSpPr>
          <p:cNvPr id="3" name="Shape 1"/>
          <p:cNvSpPr/>
          <p:nvPr/>
        </p:nvSpPr>
        <p:spPr>
          <a:xfrm>
            <a:off x="548640" y="1371600"/>
            <a:ext cx="914400" cy="274320"/>
          </a:xfrm>
          <a:prstGeom prst="roundRect">
            <a:avLst>
              <a:gd name="adj" fmla="val 50000"/>
            </a:avLst>
          </a:prstGeom>
          <a:solidFill>
            <a:schemeClr val="accent1"/>
          </a:solidFill>
          <a:ln w="12700">
            <a:solidFill>
              <a:schemeClr val="accent1"/>
            </a:solidFill>
            <a:prstDash val="solid"/>
          </a:ln>
        </p:spPr>
      </p:sp>
      <p:sp>
        <p:nvSpPr>
          <p:cNvPr id="4" name="Text 2"/>
          <p:cNvSpPr txBox="1"/>
          <p:nvPr/>
        </p:nvSpPr>
        <p:spPr>
          <a:xfrm>
            <a:off x="548640" y="1371600"/>
            <a:ext cx="91440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5" name="Text 3"/>
          <p:cNvSpPr txBox="1"/>
          <p:nvPr/>
        </p:nvSpPr>
        <p:spPr>
          <a:xfrm>
            <a:off x="1828800" y="1344168"/>
            <a:ext cx="9814255" cy="365760"/>
          </a:xfrm>
          <a:prstGeom prst="rect">
            <a:avLst/>
          </a:prstGeom>
          <a:noFill/>
          <a:ln/>
        </p:spPr>
        <p:txBody>
          <a:bodyPr wrap="square" lIns="0" tIns="0" rIns="0" bIns="0" rtlCol="0" anchor="t"/>
          <a:lstStyle/>
          <a:p>
            <a:pPr indent="0" marL="0">
              <a:buNone/>
            </a:pPr>
            <a:r>
              <a:rPr lang="en-US" sz="1300" i="1" dirty="0">
                <a:solidFill>
                  <a:schemeClr val="accent4"/>
                </a:solidFill>
              </a:rPr>
              <a:t>Real captures of the deployed workbench on synthetic data; frame 6 is the sandbox's answer. The live demo follows this slide.</a:t>
            </a:r>
            <a:endParaRPr lang="en-US" sz="1300" dirty="0"/>
          </a:p>
        </p:txBody>
      </p:sp>
      <p:sp>
        <p:nvSpPr>
          <p:cNvPr id="6" name="Shape 4"/>
          <p:cNvSpPr/>
          <p:nvPr/>
        </p:nvSpPr>
        <p:spPr>
          <a:xfrm>
            <a:off x="548640" y="1828800"/>
            <a:ext cx="3566160" cy="2103120"/>
          </a:xfrm>
          <a:prstGeom prst="roundRect">
            <a:avLst>
              <a:gd name="adj" fmla="val 2609"/>
            </a:avLst>
          </a:prstGeom>
          <a:solidFill>
            <a:schemeClr val="bg2"/>
          </a:solidFill>
          <a:ln w="9525">
            <a:solidFill>
              <a:srgbClr val="D9E6E1"/>
            </a:solidFill>
            <a:prstDash val="solid"/>
          </a:ln>
        </p:spPr>
      </p:sp>
      <p:sp>
        <p:nvSpPr>
          <p:cNvPr id="7" name="Shape 5"/>
          <p:cNvSpPr/>
          <p:nvPr/>
        </p:nvSpPr>
        <p:spPr>
          <a:xfrm>
            <a:off x="685800" y="1938528"/>
            <a:ext cx="310896" cy="310896"/>
          </a:xfrm>
          <a:prstGeom prst="ellipse">
            <a:avLst/>
          </a:prstGeom>
          <a:solidFill>
            <a:schemeClr val="accent1"/>
          </a:solidFill>
          <a:ln w="12700">
            <a:solidFill>
              <a:schemeClr val="accent1"/>
            </a:solidFill>
            <a:prstDash val="solid"/>
          </a:ln>
        </p:spPr>
      </p:sp>
      <p:sp>
        <p:nvSpPr>
          <p:cNvPr id="8" name="Text 6"/>
          <p:cNvSpPr txBox="1"/>
          <p:nvPr/>
        </p:nvSpPr>
        <p:spPr>
          <a:xfrm>
            <a:off x="685800" y="193852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078992" y="1920240"/>
            <a:ext cx="2926080" cy="365760"/>
          </a:xfrm>
          <a:prstGeom prst="rect">
            <a:avLst/>
          </a:prstGeom>
          <a:noFill/>
          <a:ln/>
        </p:spPr>
        <p:txBody>
          <a:bodyPr wrap="square" lIns="0" tIns="0" rIns="0" bIns="0" rtlCol="0" anchor="ctr"/>
          <a:lstStyle/>
          <a:p>
            <a:pPr indent="0" marL="0">
              <a:buNone/>
            </a:pPr>
            <a:r>
              <a:rPr lang="en-US" sz="1150" b="1" dirty="0">
                <a:solidFill>
                  <a:schemeClr val="tx2"/>
                </a:solidFill>
              </a:rPr>
              <a:t>Supplier writes the reply; private until authorised</a:t>
            </a:r>
            <a:endParaRPr lang="en-US" sz="1150" dirty="0"/>
          </a:p>
        </p:txBody>
      </p:sp>
      <p:pic>
        <p:nvPicPr>
          <p:cNvPr id="10" name="Image 0" descr="C:\Users\chntw\Documents\MBA\sap\team_handoff_v31\presentations\build\assets\frame_1_supplier_reply.png">    </p:cNvPr>
          <p:cNvPicPr>
            <a:picLocks noChangeAspect="1"/>
          </p:cNvPicPr>
          <p:nvPr/>
        </p:nvPicPr>
        <p:blipFill>
          <a:blip r:embed="rId1"/>
          <a:srcRect l="0" r="0" t="0" b="0"/>
          <a:stretch/>
        </p:blipFill>
        <p:spPr>
          <a:xfrm>
            <a:off x="685800" y="2359152"/>
            <a:ext cx="3291840" cy="1444752"/>
          </a:xfrm>
          <a:prstGeom prst="rect">
            <a:avLst/>
          </a:prstGeom>
        </p:spPr>
      </p:pic>
      <p:sp>
        <p:nvSpPr>
          <p:cNvPr id="11" name="Shape 8"/>
          <p:cNvSpPr/>
          <p:nvPr/>
        </p:nvSpPr>
        <p:spPr>
          <a:xfrm>
            <a:off x="4297680" y="1828800"/>
            <a:ext cx="3566160" cy="2103120"/>
          </a:xfrm>
          <a:prstGeom prst="roundRect">
            <a:avLst>
              <a:gd name="adj" fmla="val 2609"/>
            </a:avLst>
          </a:prstGeom>
          <a:solidFill>
            <a:schemeClr val="bg2"/>
          </a:solidFill>
          <a:ln w="9525">
            <a:solidFill>
              <a:srgbClr val="D9E6E1"/>
            </a:solidFill>
            <a:prstDash val="solid"/>
          </a:ln>
        </p:spPr>
      </p:sp>
      <p:sp>
        <p:nvSpPr>
          <p:cNvPr id="12" name="Shape 9"/>
          <p:cNvSpPr/>
          <p:nvPr/>
        </p:nvSpPr>
        <p:spPr>
          <a:xfrm>
            <a:off x="4434840" y="1938528"/>
            <a:ext cx="310896" cy="310896"/>
          </a:xfrm>
          <a:prstGeom prst="ellipse">
            <a:avLst/>
          </a:prstGeom>
          <a:solidFill>
            <a:schemeClr val="accent1"/>
          </a:solidFill>
          <a:ln w="12700">
            <a:solidFill>
              <a:schemeClr val="accent1"/>
            </a:solidFill>
            <a:prstDash val="solid"/>
          </a:ln>
        </p:spPr>
      </p:sp>
      <p:sp>
        <p:nvSpPr>
          <p:cNvPr id="13" name="Text 10"/>
          <p:cNvSpPr txBox="1"/>
          <p:nvPr/>
        </p:nvSpPr>
        <p:spPr>
          <a:xfrm>
            <a:off x="4434840" y="193852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1"/>
          <p:cNvSpPr txBox="1"/>
          <p:nvPr/>
        </p:nvSpPr>
        <p:spPr>
          <a:xfrm>
            <a:off x="4828032" y="1920240"/>
            <a:ext cx="2926080" cy="365760"/>
          </a:xfrm>
          <a:prstGeom prst="rect">
            <a:avLst/>
          </a:prstGeom>
          <a:noFill/>
          <a:ln/>
        </p:spPr>
        <p:txBody>
          <a:bodyPr wrap="square" lIns="0" tIns="0" rIns="0" bIns="0" rtlCol="0" anchor="ctr"/>
          <a:lstStyle/>
          <a:p>
            <a:pPr indent="0" marL="0">
              <a:buNone/>
            </a:pPr>
            <a:r>
              <a:rPr lang="en-US" sz="1150" b="1" dirty="0">
                <a:solidFill>
                  <a:schemeClr val="tx2"/>
                </a:solidFill>
              </a:rPr>
              <a:t>Agent reads the sources; a rule check forces a revision</a:t>
            </a:r>
            <a:endParaRPr lang="en-US" sz="1150" dirty="0"/>
          </a:p>
        </p:txBody>
      </p:sp>
      <p:pic>
        <p:nvPicPr>
          <p:cNvPr id="15" name="Image 1" descr="C:\Users\chntw\Documents\MBA\sap\team_handoff_v31\presentations\build\assets\frame_2_agent_reads.png">    </p:cNvPr>
          <p:cNvPicPr>
            <a:picLocks noChangeAspect="1"/>
          </p:cNvPicPr>
          <p:nvPr/>
        </p:nvPicPr>
        <p:blipFill>
          <a:blip r:embed="rId2"/>
          <a:srcRect l="0" r="0" t="0" b="0"/>
          <a:stretch/>
        </p:blipFill>
        <p:spPr>
          <a:xfrm>
            <a:off x="4434840" y="2359152"/>
            <a:ext cx="3291840" cy="1444752"/>
          </a:xfrm>
          <a:prstGeom prst="rect">
            <a:avLst/>
          </a:prstGeom>
        </p:spPr>
      </p:pic>
      <p:sp>
        <p:nvSpPr>
          <p:cNvPr id="16" name="Shape 12"/>
          <p:cNvSpPr/>
          <p:nvPr/>
        </p:nvSpPr>
        <p:spPr>
          <a:xfrm>
            <a:off x="8046720" y="1828800"/>
            <a:ext cx="3566160" cy="2103120"/>
          </a:xfrm>
          <a:prstGeom prst="roundRect">
            <a:avLst>
              <a:gd name="adj" fmla="val 2609"/>
            </a:avLst>
          </a:prstGeom>
          <a:solidFill>
            <a:schemeClr val="bg2"/>
          </a:solidFill>
          <a:ln w="9525">
            <a:solidFill>
              <a:srgbClr val="D9E6E1"/>
            </a:solidFill>
            <a:prstDash val="solid"/>
          </a:ln>
        </p:spPr>
      </p:sp>
      <p:sp>
        <p:nvSpPr>
          <p:cNvPr id="17" name="Shape 13"/>
          <p:cNvSpPr/>
          <p:nvPr/>
        </p:nvSpPr>
        <p:spPr>
          <a:xfrm>
            <a:off x="8183880" y="1938528"/>
            <a:ext cx="310896" cy="310896"/>
          </a:xfrm>
          <a:prstGeom prst="ellipse">
            <a:avLst/>
          </a:prstGeom>
          <a:solidFill>
            <a:schemeClr val="accent1"/>
          </a:solidFill>
          <a:ln w="12700">
            <a:solidFill>
              <a:schemeClr val="accent1"/>
            </a:solidFill>
            <a:prstDash val="solid"/>
          </a:ln>
        </p:spPr>
      </p:sp>
      <p:sp>
        <p:nvSpPr>
          <p:cNvPr id="18" name="Text 14"/>
          <p:cNvSpPr txBox="1"/>
          <p:nvPr/>
        </p:nvSpPr>
        <p:spPr>
          <a:xfrm>
            <a:off x="8183880" y="193852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5"/>
          <p:cNvSpPr txBox="1"/>
          <p:nvPr/>
        </p:nvSpPr>
        <p:spPr>
          <a:xfrm>
            <a:off x="8577072" y="1920240"/>
            <a:ext cx="2926080" cy="365760"/>
          </a:xfrm>
          <a:prstGeom prst="rect">
            <a:avLst/>
          </a:prstGeom>
          <a:noFill/>
          <a:ln/>
        </p:spPr>
        <p:txBody>
          <a:bodyPr wrap="square" lIns="0" tIns="0" rIns="0" bIns="0" rtlCol="0" anchor="ctr"/>
          <a:lstStyle/>
          <a:p>
            <a:pPr indent="0" marL="0">
              <a:buNone/>
            </a:pPr>
            <a:r>
              <a:rPr lang="en-US" sz="1150" b="1" dirty="0">
                <a:solidFill>
                  <a:schemeClr val="tx2"/>
                </a:solidFill>
              </a:rPr>
              <a:t>Planner sees the authorised quote and the decision card</a:t>
            </a:r>
            <a:endParaRPr lang="en-US" sz="1150" dirty="0"/>
          </a:p>
        </p:txBody>
      </p:sp>
      <p:pic>
        <p:nvPicPr>
          <p:cNvPr id="20" name="Image 2" descr="C:\Users\chntw\Documents\MBA\sap\team_handoff_v31\presentations\build\assets\frame_3_planner_card.png">    </p:cNvPr>
          <p:cNvPicPr>
            <a:picLocks noChangeAspect="1"/>
          </p:cNvPicPr>
          <p:nvPr/>
        </p:nvPicPr>
        <p:blipFill>
          <a:blip r:embed="rId3"/>
          <a:srcRect l="0" r="0" t="0" b="0"/>
          <a:stretch/>
        </p:blipFill>
        <p:spPr>
          <a:xfrm>
            <a:off x="8183880" y="2359152"/>
            <a:ext cx="3291840" cy="1444752"/>
          </a:xfrm>
          <a:prstGeom prst="rect">
            <a:avLst/>
          </a:prstGeom>
        </p:spPr>
      </p:pic>
      <p:sp>
        <p:nvSpPr>
          <p:cNvPr id="21" name="Shape 16"/>
          <p:cNvSpPr/>
          <p:nvPr/>
        </p:nvSpPr>
        <p:spPr>
          <a:xfrm>
            <a:off x="548640" y="4069080"/>
            <a:ext cx="3566160" cy="2103120"/>
          </a:xfrm>
          <a:prstGeom prst="roundRect">
            <a:avLst>
              <a:gd name="adj" fmla="val 2609"/>
            </a:avLst>
          </a:prstGeom>
          <a:solidFill>
            <a:schemeClr val="bg2"/>
          </a:solidFill>
          <a:ln w="9525">
            <a:solidFill>
              <a:srgbClr val="D9E6E1"/>
            </a:solidFill>
            <a:prstDash val="solid"/>
          </a:ln>
        </p:spPr>
      </p:sp>
      <p:sp>
        <p:nvSpPr>
          <p:cNvPr id="22" name="Shape 17"/>
          <p:cNvSpPr/>
          <p:nvPr/>
        </p:nvSpPr>
        <p:spPr>
          <a:xfrm>
            <a:off x="685800" y="4178808"/>
            <a:ext cx="310896" cy="310896"/>
          </a:xfrm>
          <a:prstGeom prst="ellipse">
            <a:avLst/>
          </a:prstGeom>
          <a:solidFill>
            <a:schemeClr val="accent1"/>
          </a:solidFill>
          <a:ln w="12700">
            <a:solidFill>
              <a:schemeClr val="accent1"/>
            </a:solidFill>
            <a:prstDash val="solid"/>
          </a:ln>
        </p:spPr>
      </p:sp>
      <p:sp>
        <p:nvSpPr>
          <p:cNvPr id="23" name="Text 18"/>
          <p:cNvSpPr txBox="1"/>
          <p:nvPr/>
        </p:nvSpPr>
        <p:spPr>
          <a:xfrm>
            <a:off x="685800" y="417880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19"/>
          <p:cNvSpPr txBox="1"/>
          <p:nvPr/>
        </p:nvSpPr>
        <p:spPr>
          <a:xfrm>
            <a:off x="1078992" y="4160520"/>
            <a:ext cx="2926080" cy="365760"/>
          </a:xfrm>
          <a:prstGeom prst="rect">
            <a:avLst/>
          </a:prstGeom>
          <a:noFill/>
          <a:ln/>
        </p:spPr>
        <p:txBody>
          <a:bodyPr wrap="square" lIns="0" tIns="0" rIns="0" bIns="0" rtlCol="0" anchor="ctr"/>
          <a:lstStyle/>
          <a:p>
            <a:pPr indent="0" marL="0">
              <a:buNone/>
            </a:pPr>
            <a:r>
              <a:rPr lang="en-US" sz="1150" b="1" dirty="0">
                <a:solidFill>
                  <a:schemeClr val="tx2"/>
                </a:solidFill>
              </a:rPr>
              <a:t>Procurement review prepared; approvals stay separate</a:t>
            </a:r>
            <a:endParaRPr lang="en-US" sz="1150" dirty="0"/>
          </a:p>
        </p:txBody>
      </p:sp>
      <p:pic>
        <p:nvPicPr>
          <p:cNvPr id="25" name="Image 3" descr="C:\Users\chntw\Documents\MBA\sap\team_handoff_v31\presentations\build\assets\frame_4_procurement_review.png">    </p:cNvPr>
          <p:cNvPicPr>
            <a:picLocks noChangeAspect="1"/>
          </p:cNvPicPr>
          <p:nvPr/>
        </p:nvPicPr>
        <p:blipFill>
          <a:blip r:embed="rId4"/>
          <a:srcRect l="0" r="0" t="0" b="0"/>
          <a:stretch/>
        </p:blipFill>
        <p:spPr>
          <a:xfrm>
            <a:off x="685800" y="4599432"/>
            <a:ext cx="3291840" cy="1444752"/>
          </a:xfrm>
          <a:prstGeom prst="rect">
            <a:avLst/>
          </a:prstGeom>
        </p:spPr>
      </p:pic>
      <p:sp>
        <p:nvSpPr>
          <p:cNvPr id="26" name="Shape 20"/>
          <p:cNvSpPr/>
          <p:nvPr/>
        </p:nvSpPr>
        <p:spPr>
          <a:xfrm>
            <a:off x="4297680" y="4069080"/>
            <a:ext cx="3566160" cy="2103120"/>
          </a:xfrm>
          <a:prstGeom prst="roundRect">
            <a:avLst>
              <a:gd name="adj" fmla="val 2609"/>
            </a:avLst>
          </a:prstGeom>
          <a:solidFill>
            <a:schemeClr val="bg2"/>
          </a:solidFill>
          <a:ln w="9525">
            <a:solidFill>
              <a:srgbClr val="D9E6E1"/>
            </a:solidFill>
            <a:prstDash val="solid"/>
          </a:ln>
        </p:spPr>
      </p:sp>
      <p:sp>
        <p:nvSpPr>
          <p:cNvPr id="27" name="Shape 21"/>
          <p:cNvSpPr/>
          <p:nvPr/>
        </p:nvSpPr>
        <p:spPr>
          <a:xfrm>
            <a:off x="4434840" y="4178808"/>
            <a:ext cx="310896" cy="310896"/>
          </a:xfrm>
          <a:prstGeom prst="ellipse">
            <a:avLst/>
          </a:prstGeom>
          <a:solidFill>
            <a:schemeClr val="accent1"/>
          </a:solidFill>
          <a:ln w="12700">
            <a:solidFill>
              <a:schemeClr val="accent1"/>
            </a:solidFill>
            <a:prstDash val="solid"/>
          </a:ln>
        </p:spPr>
      </p:sp>
      <p:sp>
        <p:nvSpPr>
          <p:cNvPr id="28" name="Text 22"/>
          <p:cNvSpPr txBox="1"/>
          <p:nvPr/>
        </p:nvSpPr>
        <p:spPr>
          <a:xfrm>
            <a:off x="4434840" y="417880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9" name="Text 23"/>
          <p:cNvSpPr txBox="1"/>
          <p:nvPr/>
        </p:nvSpPr>
        <p:spPr>
          <a:xfrm>
            <a:off x="4828032" y="4160520"/>
            <a:ext cx="2926080" cy="365760"/>
          </a:xfrm>
          <a:prstGeom prst="rect">
            <a:avLst/>
          </a:prstGeom>
          <a:noFill/>
          <a:ln/>
        </p:spPr>
        <p:txBody>
          <a:bodyPr wrap="square" lIns="0" tIns="0" rIns="0" bIns="0" rtlCol="0" anchor="ctr"/>
          <a:lstStyle/>
          <a:p>
            <a:pPr indent="0" marL="0">
              <a:buNone/>
            </a:pPr>
            <a:r>
              <a:rPr lang="en-US" sz="1150" b="1" dirty="0">
                <a:solidFill>
                  <a:schemeClr val="tx2"/>
                </a:solidFill>
              </a:rPr>
              <a:t>Planner authorises limited investigation, or closes</a:t>
            </a:r>
            <a:endParaRPr lang="en-US" sz="1150" dirty="0"/>
          </a:p>
        </p:txBody>
      </p:sp>
      <p:pic>
        <p:nvPicPr>
          <p:cNvPr id="30" name="Image 4" descr="C:\Users\chntw\Documents\MBA\sap\team_handoff_v31\presentations\build\assets\frame_5_planner_decision.png">    </p:cNvPr>
          <p:cNvPicPr>
            <a:picLocks noChangeAspect="1"/>
          </p:cNvPicPr>
          <p:nvPr/>
        </p:nvPicPr>
        <p:blipFill>
          <a:blip r:embed="rId5"/>
          <a:srcRect l="0" r="0" t="0" b="0"/>
          <a:stretch/>
        </p:blipFill>
        <p:spPr>
          <a:xfrm>
            <a:off x="4434840" y="4599432"/>
            <a:ext cx="3291840" cy="1444752"/>
          </a:xfrm>
          <a:prstGeom prst="rect">
            <a:avLst/>
          </a:prstGeom>
        </p:spPr>
      </p:pic>
      <p:sp>
        <p:nvSpPr>
          <p:cNvPr id="31" name="Shape 24"/>
          <p:cNvSpPr/>
          <p:nvPr/>
        </p:nvSpPr>
        <p:spPr>
          <a:xfrm>
            <a:off x="8046720" y="4069080"/>
            <a:ext cx="3566160" cy="2103120"/>
          </a:xfrm>
          <a:prstGeom prst="roundRect">
            <a:avLst>
              <a:gd name="adj" fmla="val 2609"/>
            </a:avLst>
          </a:prstGeom>
          <a:solidFill>
            <a:schemeClr val="bg2"/>
          </a:solidFill>
          <a:ln w="9525">
            <a:solidFill>
              <a:srgbClr val="D9E6E1"/>
            </a:solidFill>
            <a:prstDash val="solid"/>
          </a:ln>
        </p:spPr>
      </p:sp>
      <p:sp>
        <p:nvSpPr>
          <p:cNvPr id="32" name="Shape 25"/>
          <p:cNvSpPr/>
          <p:nvPr/>
        </p:nvSpPr>
        <p:spPr>
          <a:xfrm>
            <a:off x="8183880" y="4178808"/>
            <a:ext cx="310896" cy="310896"/>
          </a:xfrm>
          <a:prstGeom prst="ellipse">
            <a:avLst/>
          </a:prstGeom>
          <a:solidFill>
            <a:schemeClr val="accent1"/>
          </a:solidFill>
          <a:ln w="12700">
            <a:solidFill>
              <a:schemeClr val="accent1"/>
            </a:solidFill>
            <a:prstDash val="solid"/>
          </a:ln>
        </p:spPr>
      </p:sp>
      <p:sp>
        <p:nvSpPr>
          <p:cNvPr id="33" name="Text 26"/>
          <p:cNvSpPr txBox="1"/>
          <p:nvPr/>
        </p:nvSpPr>
        <p:spPr>
          <a:xfrm>
            <a:off x="8183880" y="417880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4" name="Text 27"/>
          <p:cNvSpPr txBox="1"/>
          <p:nvPr/>
        </p:nvSpPr>
        <p:spPr>
          <a:xfrm>
            <a:off x="8577072" y="4160520"/>
            <a:ext cx="2926080" cy="365760"/>
          </a:xfrm>
          <a:prstGeom prst="rect">
            <a:avLst/>
          </a:prstGeom>
          <a:noFill/>
          <a:ln/>
        </p:spPr>
        <p:txBody>
          <a:bodyPr wrap="square" lIns="0" tIns="0" rIns="0" bIns="0" rtlCol="0" anchor="ctr"/>
          <a:lstStyle/>
          <a:p>
            <a:pPr indent="0" marL="0">
              <a:buNone/>
            </a:pPr>
            <a:r>
              <a:rPr lang="en-US" sz="1150" b="1" dirty="0">
                <a:solidFill>
                  <a:schemeClr val="tx2"/>
                </a:solidFill>
              </a:rPr>
              <a:t>Procurement sandbox receipt</a:t>
            </a:r>
            <a:endParaRPr lang="en-US" sz="1150" dirty="0"/>
          </a:p>
        </p:txBody>
      </p:sp>
      <p:sp>
        <p:nvSpPr>
          <p:cNvPr id="35" name="Shape 28"/>
          <p:cNvSpPr/>
          <p:nvPr/>
        </p:nvSpPr>
        <p:spPr>
          <a:xfrm>
            <a:off x="8183880" y="4599432"/>
            <a:ext cx="3291840" cy="1444752"/>
          </a:xfrm>
          <a:prstGeom prst="rect">
            <a:avLst/>
          </a:prstGeom>
          <a:solidFill>
            <a:schemeClr val="tx1"/>
          </a:solidFill>
          <a:ln w="12700">
            <a:solidFill>
              <a:srgbClr val="D9E6E1"/>
            </a:solidFill>
            <a:prstDash val="solid"/>
          </a:ln>
        </p:spPr>
      </p:sp>
      <p:sp>
        <p:nvSpPr>
          <p:cNvPr id="36" name="Text 29"/>
          <p:cNvSpPr txBox="1"/>
          <p:nvPr/>
        </p:nvSpPr>
        <p:spPr>
          <a:xfrm>
            <a:off x="8321040" y="4690872"/>
            <a:ext cx="3017520" cy="1261872"/>
          </a:xfrm>
          <a:prstGeom prst="rect">
            <a:avLst/>
          </a:prstGeom>
          <a:noFill/>
          <a:ln/>
        </p:spPr>
        <p:txBody>
          <a:bodyPr wrap="square" lIns="0" tIns="0" rIns="0" bIns="0" rtlCol="0" anchor="t"/>
          <a:lstStyle/>
          <a:p>
            <a:pPr indent="0" marL="0">
              <a:spcAft>
                <a:spcPts val="200"/>
              </a:spcAft>
              <a:buNone/>
            </a:pPr>
            <a:r>
              <a:rPr lang="en-US" sz="950" b="1" dirty="0">
                <a:solidFill>
                  <a:schemeClr val="bg1"/>
                </a:solidFill>
                <a:latin typeface="Courier New" pitchFamily="34" charset="0"/>
                <a:ea typeface="Courier New" pitchFamily="34" charset="-122"/>
                <a:cs typeface="Courier New" pitchFamily="34" charset="-120"/>
              </a:rPr>
              <a:t>POST A_PurchaseRequisitionHeader</a:t>
            </a:r>
            <a:endParaRPr lang="en-US" sz="950" dirty="0"/>
          </a:p>
          <a:p>
            <a:pPr indent="0" marL="0">
              <a:spcAft>
                <a:spcPts val="200"/>
              </a:spcAft>
              <a:buNone/>
            </a:pPr>
            <a:r>
              <a:rPr lang="en-US" sz="950" dirty="0">
                <a:solidFill>
                  <a:schemeClr val="bg1"/>
                </a:solidFill>
                <a:latin typeface="Courier New" pitchFamily="34" charset="0"/>
                <a:ea typeface="Courier New" pitchFamily="34" charset="-122"/>
                <a:cs typeface="Courier New" pitchFamily="34" charset="-120"/>
              </a:rPr>
              <a:t>201 Created · PR 1000000001</a:t>
            </a:r>
            <a:endParaRPr lang="en-US" sz="950" dirty="0"/>
          </a:p>
          <a:p>
            <a:pPr indent="0" marL="0">
              <a:spcAft>
                <a:spcPts val="200"/>
              </a:spcAft>
              <a:buNone/>
            </a:pPr>
            <a:r>
              <a:rPr lang="en-US" sz="950" dirty="0">
                <a:solidFill>
                  <a:schemeClr val="bg1"/>
                </a:solidFill>
                <a:latin typeface="Courier New" pitchFamily="34" charset="0"/>
                <a:ea typeface="Courier New" pitchFamily="34" charset="-122"/>
                <a:cs typeface="Courier New" pitchFamily="34" charset="-120"/>
              </a:rPr>
              <a:t>status: awaiting procurement approval</a:t>
            </a:r>
            <a:endParaRPr lang="en-US" sz="950" dirty="0"/>
          </a:p>
          <a:p>
            <a:pPr indent="0" marL="0">
              <a:spcAft>
                <a:spcPts val="200"/>
              </a:spcAft>
              <a:buNone/>
            </a:pPr>
            <a:r>
              <a:rPr lang="en-US" sz="950" dirty="0">
                <a:solidFill>
                  <a:schemeClr val="bg1"/>
                </a:solidFill>
                <a:latin typeface="Courier New" pitchFamily="34" charset="0"/>
                <a:ea typeface="Courier New" pitchFamily="34" charset="-122"/>
                <a:cs typeface="Courier New" pitchFamily="34" charset="-120"/>
              </a:rPr>
              <a:t>X-Procurement-Sandbox: not-SAP-connected</a:t>
            </a:r>
            <a:endParaRPr lang="en-US" sz="950" dirty="0"/>
          </a:p>
          <a:p>
            <a:pPr indent="0" marL="0">
              <a:spcAft>
                <a:spcPts val="200"/>
              </a:spcAft>
              <a:buNone/>
            </a:pPr>
            <a:r>
              <a:rPr lang="en-US" sz="950" dirty="0">
                <a:solidFill>
                  <a:schemeClr val="bg1"/>
                </a:solidFill>
                <a:latin typeface="Courier New" pitchFamily="34" charset="0"/>
                <a:ea typeface="Courier New" pitchFamily="34" charset="-122"/>
                <a:cs typeface="Courier New" pitchFamily="34" charset="-120"/>
              </a:rPr>
              <a:t>retry, same key → 200 already submitted</a:t>
            </a:r>
            <a:endParaRPr lang="en-US" sz="950" dirty="0"/>
          </a:p>
          <a:p>
            <a:pPr indent="0" marL="0">
              <a:spcAft>
                <a:spcPts val="200"/>
              </a:spcAft>
              <a:buNone/>
            </a:pPr>
            <a:r>
              <a:rPr lang="en-US" sz="950" dirty="0">
                <a:solidFill>
                  <a:schemeClr val="bg1"/>
                </a:solidFill>
                <a:latin typeface="Courier New" pitchFamily="34" charset="0"/>
                <a:ea typeface="Courier New" pitchFamily="34" charset="-122"/>
                <a:cs typeface="Courier New" pitchFamily="34" charset="-120"/>
              </a:rPr>
              <a:t>approver release → released</a:t>
            </a:r>
            <a:endParaRPr lang="en-US" sz="9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What we have proven, and what we have not</a:t>
            </a:r>
            <a:endParaRPr lang="en-US" sz="3000" dirty="0"/>
          </a:p>
        </p:txBody>
      </p:sp>
      <p:sp>
        <p:nvSpPr>
          <p:cNvPr id="3" name="Shape 1"/>
          <p:cNvSpPr/>
          <p:nvPr/>
        </p:nvSpPr>
        <p:spPr>
          <a:xfrm>
            <a:off x="548640" y="1463040"/>
            <a:ext cx="2651760" cy="1554480"/>
          </a:xfrm>
          <a:prstGeom prst="roundRect">
            <a:avLst>
              <a:gd name="adj" fmla="val 3529"/>
            </a:avLst>
          </a:prstGeom>
          <a:solidFill>
            <a:schemeClr val="bg2"/>
          </a:solidFill>
          <a:ln w="9525">
            <a:solidFill>
              <a:srgbClr val="D9E6E1"/>
            </a:solidFill>
            <a:prstDash val="solid"/>
          </a:ln>
        </p:spPr>
      </p:sp>
      <p:sp>
        <p:nvSpPr>
          <p:cNvPr id="4" name="Shape 2"/>
          <p:cNvSpPr/>
          <p:nvPr/>
        </p:nvSpPr>
        <p:spPr>
          <a:xfrm>
            <a:off x="731520" y="1600200"/>
            <a:ext cx="1143000" cy="274320"/>
          </a:xfrm>
          <a:prstGeom prst="roundRect">
            <a:avLst>
              <a:gd name="adj" fmla="val 50000"/>
            </a:avLst>
          </a:prstGeom>
          <a:solidFill>
            <a:schemeClr val="accent1"/>
          </a:solidFill>
          <a:ln w="12700">
            <a:solidFill>
              <a:schemeClr val="accent1"/>
            </a:solidFill>
            <a:prstDash val="solid"/>
          </a:ln>
        </p:spPr>
      </p:sp>
      <p:sp>
        <p:nvSpPr>
          <p:cNvPr id="5" name="Text 3"/>
          <p:cNvSpPr txBox="1"/>
          <p:nvPr/>
        </p:nvSpPr>
        <p:spPr>
          <a:xfrm>
            <a:off x="731520" y="16002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6" name="Text 4"/>
          <p:cNvSpPr txBox="1"/>
          <p:nvPr/>
        </p:nvSpPr>
        <p:spPr>
          <a:xfrm>
            <a:off x="731520" y="1938528"/>
            <a:ext cx="2286000" cy="502920"/>
          </a:xfrm>
          <a:prstGeom prst="rect">
            <a:avLst/>
          </a:prstGeom>
          <a:noFill/>
          <a:ln/>
        </p:spPr>
        <p:txBody>
          <a:bodyPr wrap="square" lIns="0" tIns="0" rIns="0" bIns="0" rtlCol="0" anchor="t"/>
          <a:lstStyle/>
          <a:p>
            <a:pPr indent="0" marL="0">
              <a:buNone/>
            </a:pPr>
            <a:r>
              <a:rPr lang="en-US" sz="1050" dirty="0">
                <a:solidFill>
                  <a:schemeClr val="accent4"/>
                </a:solidFill>
              </a:rPr>
              <a:t>Implemented, tested, walked through in a browser</a:t>
            </a:r>
            <a:endParaRPr lang="en-US" sz="1050" dirty="0"/>
          </a:p>
        </p:txBody>
      </p:sp>
      <p:sp>
        <p:nvSpPr>
          <p:cNvPr id="7" name="Text 5"/>
          <p:cNvSpPr txBox="1"/>
          <p:nvPr/>
        </p:nvSpPr>
        <p:spPr>
          <a:xfrm>
            <a:off x="731520" y="2487168"/>
            <a:ext cx="2286000" cy="457200"/>
          </a:xfrm>
          <a:prstGeom prst="rect">
            <a:avLst/>
          </a:prstGeom>
          <a:noFill/>
          <a:ln/>
        </p:spPr>
        <p:txBody>
          <a:bodyPr wrap="square" lIns="0" tIns="0" rIns="0" bIns="0" rtlCol="0" anchor="t"/>
          <a:lstStyle/>
          <a:p>
            <a:pPr indent="0" marL="0">
              <a:buNone/>
            </a:pPr>
            <a:r>
              <a:rPr lang="en-US" sz="1050" b="1" dirty="0">
                <a:solidFill>
                  <a:schemeClr val="accent3"/>
                </a:solidFill>
              </a:rPr>
              <a:t>Cannot establish  </a:t>
            </a:r>
            <a:pPr indent="0" marL="0">
              <a:buNone/>
            </a:pPr>
            <a:r>
              <a:rPr lang="en-US" sz="1050" dirty="0">
                <a:solidFill>
                  <a:schemeClr val="tx1"/>
                </a:solidFill>
              </a:rPr>
              <a:t>Business value of any kind</a:t>
            </a:r>
            <a:endParaRPr lang="en-US" sz="1050" dirty="0"/>
          </a:p>
        </p:txBody>
      </p:sp>
      <p:sp>
        <p:nvSpPr>
          <p:cNvPr id="8" name="Shape 6"/>
          <p:cNvSpPr/>
          <p:nvPr/>
        </p:nvSpPr>
        <p:spPr>
          <a:xfrm>
            <a:off x="3364992" y="1463040"/>
            <a:ext cx="2651760" cy="1554480"/>
          </a:xfrm>
          <a:prstGeom prst="roundRect">
            <a:avLst>
              <a:gd name="adj" fmla="val 3529"/>
            </a:avLst>
          </a:prstGeom>
          <a:solidFill>
            <a:schemeClr val="bg2"/>
          </a:solidFill>
          <a:ln w="9525">
            <a:solidFill>
              <a:srgbClr val="D9E6E1"/>
            </a:solidFill>
            <a:prstDash val="solid"/>
          </a:ln>
        </p:spPr>
      </p:sp>
      <p:sp>
        <p:nvSpPr>
          <p:cNvPr id="9" name="Shape 7"/>
          <p:cNvSpPr/>
          <p:nvPr/>
        </p:nvSpPr>
        <p:spPr>
          <a:xfrm>
            <a:off x="3547872" y="1600200"/>
            <a:ext cx="1143000" cy="274320"/>
          </a:xfrm>
          <a:prstGeom prst="roundRect">
            <a:avLst>
              <a:gd name="adj" fmla="val 50000"/>
            </a:avLst>
          </a:prstGeom>
          <a:solidFill>
            <a:schemeClr val="tx1"/>
          </a:solidFill>
          <a:ln w="12700">
            <a:solidFill>
              <a:schemeClr val="tx1"/>
            </a:solidFill>
            <a:prstDash val="solid"/>
          </a:ln>
        </p:spPr>
      </p:sp>
      <p:sp>
        <p:nvSpPr>
          <p:cNvPr id="10" name="Text 8"/>
          <p:cNvSpPr txBox="1"/>
          <p:nvPr/>
        </p:nvSpPr>
        <p:spPr>
          <a:xfrm>
            <a:off x="3547872" y="16002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11" name="Text 9"/>
          <p:cNvSpPr txBox="1"/>
          <p:nvPr/>
        </p:nvSpPr>
        <p:spPr>
          <a:xfrm>
            <a:off x="3547872" y="1938528"/>
            <a:ext cx="2286000" cy="502920"/>
          </a:xfrm>
          <a:prstGeom prst="rect">
            <a:avLst/>
          </a:prstGeom>
          <a:noFill/>
          <a:ln/>
        </p:spPr>
        <p:txBody>
          <a:bodyPr wrap="square" lIns="0" tIns="0" rIns="0" bIns="0" rtlCol="0" anchor="t"/>
          <a:lstStyle/>
          <a:p>
            <a:pPr indent="0" marL="0">
              <a:buNone/>
            </a:pPr>
            <a:r>
              <a:rPr lang="en-US" sz="1050" dirty="0">
                <a:solidFill>
                  <a:schemeClr val="accent4"/>
                </a:solidFill>
              </a:rPr>
              <a:t>Real Claude Sonnet 4.6 calls on synthetic records; failures retained</a:t>
            </a:r>
            <a:endParaRPr lang="en-US" sz="1050" dirty="0"/>
          </a:p>
        </p:txBody>
      </p:sp>
      <p:sp>
        <p:nvSpPr>
          <p:cNvPr id="12" name="Text 10"/>
          <p:cNvSpPr txBox="1"/>
          <p:nvPr/>
        </p:nvSpPr>
        <p:spPr>
          <a:xfrm>
            <a:off x="3547872" y="2487168"/>
            <a:ext cx="2286000" cy="457200"/>
          </a:xfrm>
          <a:prstGeom prst="rect">
            <a:avLst/>
          </a:prstGeom>
          <a:noFill/>
          <a:ln/>
        </p:spPr>
        <p:txBody>
          <a:bodyPr wrap="square" lIns="0" tIns="0" rIns="0" bIns="0" rtlCol="0" anchor="t"/>
          <a:lstStyle/>
          <a:p>
            <a:pPr indent="0" marL="0">
              <a:buNone/>
            </a:pPr>
            <a:r>
              <a:rPr lang="en-US" sz="1050" b="1" dirty="0">
                <a:solidFill>
                  <a:schemeClr val="accent3"/>
                </a:solidFill>
              </a:rPr>
              <a:t>Cannot establish  </a:t>
            </a:r>
            <a:pPr indent="0" marL="0">
              <a:buNone/>
            </a:pPr>
            <a:r>
              <a:rPr lang="en-US" sz="1050" dirty="0">
                <a:solidFill>
                  <a:schemeClr val="tx1"/>
                </a:solidFill>
              </a:rPr>
              <a:t>A success rate; behaviour on real documents</a:t>
            </a:r>
            <a:endParaRPr lang="en-US" sz="1050" dirty="0"/>
          </a:p>
        </p:txBody>
      </p:sp>
      <p:sp>
        <p:nvSpPr>
          <p:cNvPr id="13" name="Shape 11"/>
          <p:cNvSpPr/>
          <p:nvPr/>
        </p:nvSpPr>
        <p:spPr>
          <a:xfrm>
            <a:off x="6181344" y="1463040"/>
            <a:ext cx="2651760" cy="1554480"/>
          </a:xfrm>
          <a:prstGeom prst="roundRect">
            <a:avLst>
              <a:gd name="adj" fmla="val 3529"/>
            </a:avLst>
          </a:prstGeom>
          <a:solidFill>
            <a:schemeClr val="bg2"/>
          </a:solidFill>
          <a:ln w="9525">
            <a:solidFill>
              <a:srgbClr val="D9E6E1"/>
            </a:solidFill>
            <a:prstDash val="solid"/>
          </a:ln>
        </p:spPr>
      </p:sp>
      <p:sp>
        <p:nvSpPr>
          <p:cNvPr id="14" name="Shape 12"/>
          <p:cNvSpPr/>
          <p:nvPr/>
        </p:nvSpPr>
        <p:spPr>
          <a:xfrm>
            <a:off x="6364224" y="1600200"/>
            <a:ext cx="1143000" cy="274320"/>
          </a:xfrm>
          <a:prstGeom prst="roundRect">
            <a:avLst>
              <a:gd name="adj" fmla="val 50000"/>
            </a:avLst>
          </a:prstGeom>
          <a:solidFill>
            <a:schemeClr val="accent6"/>
          </a:solidFill>
          <a:ln w="12700">
            <a:solidFill>
              <a:schemeClr val="accent6"/>
            </a:solidFill>
            <a:prstDash val="solid"/>
          </a:ln>
        </p:spPr>
      </p:sp>
      <p:sp>
        <p:nvSpPr>
          <p:cNvPr id="15" name="Text 13"/>
          <p:cNvSpPr txBox="1"/>
          <p:nvPr/>
        </p:nvSpPr>
        <p:spPr>
          <a:xfrm>
            <a:off x="6364224" y="1600200"/>
            <a:ext cx="114300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16" name="Text 14"/>
          <p:cNvSpPr txBox="1"/>
          <p:nvPr/>
        </p:nvSpPr>
        <p:spPr>
          <a:xfrm>
            <a:off x="6364224" y="1938528"/>
            <a:ext cx="2286000" cy="502920"/>
          </a:xfrm>
          <a:prstGeom prst="rect">
            <a:avLst/>
          </a:prstGeom>
          <a:noFill/>
          <a:ln/>
        </p:spPr>
        <p:txBody>
          <a:bodyPr wrap="square" lIns="0" tIns="0" rIns="0" bIns="0" rtlCol="0" anchor="t"/>
          <a:lstStyle/>
          <a:p>
            <a:pPr indent="0" marL="0">
              <a:buNone/>
            </a:pPr>
            <a:r>
              <a:rPr lang="en-US" sz="1050" dirty="0">
                <a:solidFill>
                  <a:schemeClr val="accent4"/>
                </a:solidFill>
              </a:rPr>
              <a:t>Public sources reviewed by the team</a:t>
            </a:r>
            <a:endParaRPr lang="en-US" sz="1050" dirty="0"/>
          </a:p>
        </p:txBody>
      </p:sp>
      <p:sp>
        <p:nvSpPr>
          <p:cNvPr id="17" name="Text 15"/>
          <p:cNvSpPr txBox="1"/>
          <p:nvPr/>
        </p:nvSpPr>
        <p:spPr>
          <a:xfrm>
            <a:off x="6364224" y="2487168"/>
            <a:ext cx="2286000" cy="457200"/>
          </a:xfrm>
          <a:prstGeom prst="rect">
            <a:avLst/>
          </a:prstGeom>
          <a:noFill/>
          <a:ln/>
        </p:spPr>
        <p:txBody>
          <a:bodyPr wrap="square" lIns="0" tIns="0" rIns="0" bIns="0" rtlCol="0" anchor="t"/>
          <a:lstStyle/>
          <a:p>
            <a:pPr indent="0" marL="0">
              <a:buNone/>
            </a:pPr>
            <a:r>
              <a:rPr lang="en-US" sz="1050" b="1" dirty="0">
                <a:solidFill>
                  <a:schemeClr val="accent3"/>
                </a:solidFill>
              </a:rPr>
              <a:t>Cannot establish  </a:t>
            </a:r>
            <a:pPr indent="0" marL="0">
              <a:buNone/>
            </a:pPr>
            <a:r>
              <a:rPr lang="en-US" sz="1050" dirty="0">
                <a:solidFill>
                  <a:schemeClr val="tx1"/>
                </a:solidFill>
              </a:rPr>
              <a:t>Our effect size, user adoption, the binding bottleneck</a:t>
            </a:r>
            <a:endParaRPr lang="en-US" sz="1050" dirty="0"/>
          </a:p>
        </p:txBody>
      </p:sp>
      <p:sp>
        <p:nvSpPr>
          <p:cNvPr id="18" name="Shape 16"/>
          <p:cNvSpPr/>
          <p:nvPr/>
        </p:nvSpPr>
        <p:spPr>
          <a:xfrm>
            <a:off x="8997696" y="1463040"/>
            <a:ext cx="2651760" cy="1554480"/>
          </a:xfrm>
          <a:prstGeom prst="roundRect">
            <a:avLst>
              <a:gd name="adj" fmla="val 3529"/>
            </a:avLst>
          </a:prstGeom>
          <a:solidFill>
            <a:schemeClr val="bg2"/>
          </a:solidFill>
          <a:ln w="9525">
            <a:solidFill>
              <a:srgbClr val="D9E6E1"/>
            </a:solidFill>
            <a:prstDash val="solid"/>
          </a:ln>
        </p:spPr>
      </p:sp>
      <p:sp>
        <p:nvSpPr>
          <p:cNvPr id="19" name="Shape 17"/>
          <p:cNvSpPr/>
          <p:nvPr/>
        </p:nvSpPr>
        <p:spPr>
          <a:xfrm>
            <a:off x="9180576" y="1600200"/>
            <a:ext cx="1143000" cy="274320"/>
          </a:xfrm>
          <a:prstGeom prst="roundRect">
            <a:avLst>
              <a:gd name="adj" fmla="val 50000"/>
            </a:avLst>
          </a:prstGeom>
          <a:solidFill>
            <a:schemeClr val="accent2"/>
          </a:solidFill>
          <a:ln w="12700">
            <a:solidFill>
              <a:schemeClr val="accent2"/>
            </a:solidFill>
            <a:prstDash val="solid"/>
          </a:ln>
        </p:spPr>
      </p:sp>
      <p:sp>
        <p:nvSpPr>
          <p:cNvPr id="20" name="Text 18"/>
          <p:cNvSpPr txBox="1"/>
          <p:nvPr/>
        </p:nvSpPr>
        <p:spPr>
          <a:xfrm>
            <a:off x="9180576" y="16002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21" name="Text 19"/>
          <p:cNvSpPr txBox="1"/>
          <p:nvPr/>
        </p:nvSpPr>
        <p:spPr>
          <a:xfrm>
            <a:off x="9180576" y="1938528"/>
            <a:ext cx="2286000" cy="502920"/>
          </a:xfrm>
          <a:prstGeom prst="rect">
            <a:avLst/>
          </a:prstGeom>
          <a:noFill/>
          <a:ln/>
        </p:spPr>
        <p:txBody>
          <a:bodyPr wrap="square" lIns="0" tIns="0" rIns="0" bIns="0" rtlCol="0" anchor="t"/>
          <a:lstStyle/>
          <a:p>
            <a:pPr indent="0" marL="0">
              <a:buNone/>
            </a:pPr>
            <a:r>
              <a:rPr lang="en-US" sz="1050" dirty="0">
                <a:solidFill>
                  <a:schemeClr val="accent4"/>
                </a:solidFill>
              </a:rPr>
              <a:t>Stated targets with no measurement yet</a:t>
            </a:r>
            <a:endParaRPr lang="en-US" sz="1050" dirty="0"/>
          </a:p>
        </p:txBody>
      </p:sp>
      <p:sp>
        <p:nvSpPr>
          <p:cNvPr id="22" name="Text 20"/>
          <p:cNvSpPr txBox="1"/>
          <p:nvPr/>
        </p:nvSpPr>
        <p:spPr>
          <a:xfrm>
            <a:off x="9180576" y="2487168"/>
            <a:ext cx="2286000" cy="457200"/>
          </a:xfrm>
          <a:prstGeom prst="rect">
            <a:avLst/>
          </a:prstGeom>
          <a:noFill/>
          <a:ln/>
        </p:spPr>
        <p:txBody>
          <a:bodyPr wrap="square" lIns="0" tIns="0" rIns="0" bIns="0" rtlCol="0" anchor="t"/>
          <a:lstStyle/>
          <a:p>
            <a:pPr indent="0" marL="0">
              <a:buNone/>
            </a:pPr>
            <a:r>
              <a:rPr lang="en-US" sz="1050" b="1" dirty="0">
                <a:solidFill>
                  <a:schemeClr val="accent3"/>
                </a:solidFill>
              </a:rPr>
              <a:t>Cannot establish  </a:t>
            </a:r>
            <a:pPr indent="0" marL="0">
              <a:buNone/>
            </a:pPr>
            <a:r>
              <a:rPr lang="en-US" sz="1050" dirty="0">
                <a:solidFill>
                  <a:schemeClr val="tx1"/>
                </a:solidFill>
              </a:rPr>
              <a:t>Anything, until the pilot runs with real participants</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200400"/>
          <a:ext cx="11064240" cy="914400"/>
        </p:xfrm>
        <a:graphic>
          <a:graphicData uri="http://schemas.openxmlformats.org/drawingml/2006/table">
            <a:tbl>
              <a:tblPr/>
              <a:tblGrid>
                <a:gridCol w="2743200"/>
                <a:gridCol w="1051560"/>
                <a:gridCol w="4069080"/>
                <a:gridCol w="320040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Component</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Proves</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Does not prove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50292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Deployed task workspace for planner and supplier</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Decision card over retained real-model records; six offline tests; browser walkthrough</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Any order, SAP write, labour saving or profit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Interactive supplier reply flow</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557078"/>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Edit, save, Agent check, authorise, planner update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Nothing yet: no validation record; not cited here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Real-model tests on three synthetic items, with correction loop</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Real-model</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4353A"/>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conditional 140-case proposal, a zero-case result, one failure caught and repaired with linked records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success rate; robustness on unseen documents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Procurement sandbox, reference client, 41 tests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S/4HANA-shaped write path: CSRF, roles, ETags, idempotency, stale-baseline 412, fault injection, audit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SAP write semantics; it is not SAP and says so</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Acceptance kit: ten frozen tasks, inbound contract, simulator, scorer</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The chain email → match → review → approval → receipt can be tested and scored against sandbox records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Independence: tasks authored on the development side; mail receipt simulated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Where the model was wrong, and what caught it</a:t>
            </a:r>
            <a:endParaRPr lang="en-US" sz="3000" dirty="0"/>
          </a:p>
        </p:txBody>
      </p:sp>
      <p:sp>
        <p:nvSpPr>
          <p:cNvPr id="3" name="Shape 1"/>
          <p:cNvSpPr/>
          <p:nvPr/>
        </p:nvSpPr>
        <p:spPr>
          <a:xfrm>
            <a:off x="548640" y="1371600"/>
            <a:ext cx="1143000" cy="274320"/>
          </a:xfrm>
          <a:prstGeom prst="roundRect">
            <a:avLst>
              <a:gd name="adj" fmla="val 50000"/>
            </a:avLst>
          </a:prstGeom>
          <a:solidFill>
            <a:schemeClr val="tx1"/>
          </a:solidFill>
          <a:ln w="12700">
            <a:solidFill>
              <a:schemeClr val="tx1"/>
            </a:solidFill>
            <a:prstDash val="solid"/>
          </a:ln>
        </p:spPr>
      </p:sp>
      <p:sp>
        <p:nvSpPr>
          <p:cNvPr id="4" name="Text 2"/>
          <p:cNvSpPr txBox="1"/>
          <p:nvPr/>
        </p:nvSpPr>
        <p:spPr>
          <a:xfrm>
            <a:off x="548640"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5" name="Text 3"/>
          <p:cNvSpPr txBox="1"/>
          <p:nvPr/>
        </p:nvSpPr>
        <p:spPr>
          <a:xfrm>
            <a:off x="1828800" y="1344168"/>
            <a:ext cx="9814255" cy="365760"/>
          </a:xfrm>
          <a:prstGeom prst="rect">
            <a:avLst/>
          </a:prstGeom>
          <a:noFill/>
          <a:ln/>
        </p:spPr>
        <p:txBody>
          <a:bodyPr wrap="square" lIns="0" tIns="0" rIns="0" bIns="0" rtlCol="0" anchor="t"/>
          <a:lstStyle/>
          <a:p>
            <a:pPr indent="0" marL="0">
              <a:buNone/>
            </a:pPr>
            <a:r>
              <a:rPr lang="en-US" sz="1300" i="1" dirty="0">
                <a:solidFill>
                  <a:schemeClr val="accent4"/>
                </a:solidFill>
              </a:rPr>
              <a:t>Three retained failures from our own runs. We show them because the rule layer exists for exactly these.</a:t>
            </a:r>
            <a:endParaRPr lang="en-US" sz="1300" dirty="0"/>
          </a:p>
        </p:txBody>
      </p:sp>
      <p:sp>
        <p:nvSpPr>
          <p:cNvPr id="6" name="Shape 4"/>
          <p:cNvSpPr/>
          <p:nvPr/>
        </p:nvSpPr>
        <p:spPr>
          <a:xfrm>
            <a:off x="548640" y="1874520"/>
            <a:ext cx="3566160" cy="3337560"/>
          </a:xfrm>
          <a:prstGeom prst="roundRect">
            <a:avLst>
              <a:gd name="adj" fmla="val 1644"/>
            </a:avLst>
          </a:prstGeom>
          <a:solidFill>
            <a:schemeClr val="bg2"/>
          </a:solidFill>
          <a:ln w="9525">
            <a:solidFill>
              <a:srgbClr val="D9E6E1"/>
            </a:solidFill>
            <a:prstDash val="solid"/>
          </a:ln>
        </p:spPr>
      </p:sp>
      <p:sp>
        <p:nvSpPr>
          <p:cNvPr id="7" name="Text 5"/>
          <p:cNvSpPr txBox="1"/>
          <p:nvPr/>
        </p:nvSpPr>
        <p:spPr>
          <a:xfrm>
            <a:off x="731520" y="2002536"/>
            <a:ext cx="3200400" cy="365760"/>
          </a:xfrm>
          <a:prstGeom prst="rect">
            <a:avLst/>
          </a:prstGeom>
          <a:noFill/>
          <a:ln/>
        </p:spPr>
        <p:txBody>
          <a:bodyPr wrap="square" lIns="0" tIns="0" rIns="0" bIns="0" rtlCol="0" anchor="t"/>
          <a:lstStyle/>
          <a:p>
            <a:pPr indent="0" marL="0">
              <a:buNone/>
            </a:pPr>
            <a:r>
              <a:rPr lang="en-US" sz="1400" b="1" dirty="0">
                <a:solidFill>
                  <a:schemeClr val="tx2"/>
                </a:solidFill>
              </a:rPr>
              <a:t>It overstated the blocker</a:t>
            </a:r>
            <a:endParaRPr lang="en-US" sz="1400" dirty="0"/>
          </a:p>
        </p:txBody>
      </p:sp>
      <p:sp>
        <p:nvSpPr>
          <p:cNvPr id="8" name="Text 6"/>
          <p:cNvSpPr txBox="1"/>
          <p:nvPr/>
        </p:nvSpPr>
        <p:spPr>
          <a:xfrm>
            <a:off x="731520" y="2368296"/>
            <a:ext cx="3200400" cy="228600"/>
          </a:xfrm>
          <a:prstGeom prst="rect">
            <a:avLst/>
          </a:prstGeom>
          <a:noFill/>
          <a:ln/>
        </p:spPr>
        <p:txBody>
          <a:bodyPr wrap="square" lIns="0" tIns="0" rIns="0" bIns="0" rtlCol="0" anchor="t"/>
          <a:lstStyle/>
          <a:p>
            <a:pPr indent="0" marL="0">
              <a:buNone/>
            </a:pPr>
            <a:r>
              <a:rPr lang="en-US" sz="1000" dirty="0">
                <a:solidFill>
                  <a:schemeClr val="accent4"/>
                </a:solidFill>
              </a:rPr>
              <a:t>Free-form inference experiment, test packet 2</a:t>
            </a:r>
            <a:endParaRPr lang="en-US" sz="1000" dirty="0"/>
          </a:p>
        </p:txBody>
      </p:sp>
      <p:sp>
        <p:nvSpPr>
          <p:cNvPr id="9" name="Text 7"/>
          <p:cNvSpPr txBox="1"/>
          <p:nvPr/>
        </p:nvSpPr>
        <p:spPr>
          <a:xfrm>
            <a:off x="731520" y="2651760"/>
            <a:ext cx="3200400" cy="914400"/>
          </a:xfrm>
          <a:prstGeom prst="rect">
            <a:avLst/>
          </a:prstGeom>
          <a:noFill/>
          <a:ln/>
        </p:spPr>
        <p:txBody>
          <a:bodyPr wrap="square" lIns="0" tIns="0" rIns="0" bIns="0" rtlCol="0" anchor="t"/>
          <a:lstStyle/>
          <a:p>
            <a:pPr indent="0" marL="0">
              <a:buNone/>
            </a:pPr>
            <a:r>
              <a:rPr lang="en-US" sz="1150" b="1" dirty="0">
                <a:solidFill>
                  <a:schemeClr val="accent3"/>
                </a:solidFill>
              </a:rPr>
              <a:t>What it said  </a:t>
            </a:r>
            <a:pPr indent="0" marL="0">
              <a:buNone/>
            </a:pPr>
            <a:r>
              <a:rPr lang="en-US" sz="1150" dirty="0">
                <a:solidFill>
                  <a:schemeClr val="tx1"/>
                </a:solidFill>
              </a:rPr>
              <a:t>Its summary called the carrier failure "the sole current blocker" while receiving and capacity were still unknown. The same-model auditor accepted it.</a:t>
            </a:r>
            <a:endParaRPr lang="en-US" sz="1150" dirty="0"/>
          </a:p>
        </p:txBody>
      </p:sp>
      <p:sp>
        <p:nvSpPr>
          <p:cNvPr id="10" name="Text 8"/>
          <p:cNvSpPr txBox="1"/>
          <p:nvPr/>
        </p:nvSpPr>
        <p:spPr>
          <a:xfrm>
            <a:off x="731520" y="3611880"/>
            <a:ext cx="3200400" cy="502920"/>
          </a:xfrm>
          <a:prstGeom prst="rect">
            <a:avLst/>
          </a:prstGeom>
          <a:noFill/>
          <a:ln/>
        </p:spPr>
        <p:txBody>
          <a:bodyPr wrap="square" lIns="0" tIns="0" rIns="0" bIns="0" rtlCol="0" anchor="t"/>
          <a:lstStyle/>
          <a:p>
            <a:pPr indent="0" marL="0">
              <a:buNone/>
            </a:pPr>
            <a:r>
              <a:rPr lang="en-US" sz="1150" b="1" dirty="0">
                <a:solidFill>
                  <a:schemeClr val="tx2"/>
                </a:solidFill>
              </a:rPr>
              <a:t>What caught it  </a:t>
            </a:r>
            <a:pPr indent="0" marL="0">
              <a:buNone/>
            </a:pPr>
            <a:r>
              <a:rPr lang="en-US" sz="1150" dirty="0">
                <a:solidFill>
                  <a:schemeClr val="tx1"/>
                </a:solidFill>
              </a:rPr>
              <a:t>A human reading the prose against the typed states.</a:t>
            </a:r>
            <a:endParaRPr lang="en-US" sz="1150" dirty="0"/>
          </a:p>
        </p:txBody>
      </p:sp>
      <p:sp>
        <p:nvSpPr>
          <p:cNvPr id="11" name="Text 9"/>
          <p:cNvSpPr txBox="1"/>
          <p:nvPr/>
        </p:nvSpPr>
        <p:spPr>
          <a:xfrm>
            <a:off x="731520" y="4114800"/>
            <a:ext cx="3200400" cy="1051560"/>
          </a:xfrm>
          <a:prstGeom prst="rect">
            <a:avLst/>
          </a:prstGeom>
          <a:noFill/>
          <a:ln/>
        </p:spPr>
        <p:txBody>
          <a:bodyPr wrap="square" lIns="0" tIns="0" rIns="0" bIns="0" rtlCol="0" anchor="t"/>
          <a:lstStyle/>
          <a:p>
            <a:pPr indent="0" marL="0">
              <a:buNone/>
            </a:pPr>
            <a:r>
              <a:rPr lang="en-US" sz="1150" b="1" dirty="0">
                <a:solidFill>
                  <a:schemeClr val="accent1"/>
                </a:solidFill>
              </a:rPr>
              <a:t>What changed  </a:t>
            </a:r>
            <a:pPr indent="0" marL="0">
              <a:buNone/>
            </a:pPr>
            <a:r>
              <a:rPr lang="en-US" sz="1150" dirty="0">
                <a:solidFill>
                  <a:schemeClr val="tx1"/>
                </a:solidFill>
              </a:rPr>
              <a:t>Component not released. Summary-versus-state contradiction tests are now required before any integration.</a:t>
            </a:r>
            <a:endParaRPr lang="en-US" sz="1150" dirty="0"/>
          </a:p>
        </p:txBody>
      </p:sp>
      <p:sp>
        <p:nvSpPr>
          <p:cNvPr id="12" name="Shape 10"/>
          <p:cNvSpPr/>
          <p:nvPr/>
        </p:nvSpPr>
        <p:spPr>
          <a:xfrm>
            <a:off x="4297680" y="1874520"/>
            <a:ext cx="3566160" cy="3337560"/>
          </a:xfrm>
          <a:prstGeom prst="roundRect">
            <a:avLst>
              <a:gd name="adj" fmla="val 1644"/>
            </a:avLst>
          </a:prstGeom>
          <a:solidFill>
            <a:schemeClr val="bg2"/>
          </a:solidFill>
          <a:ln w="9525">
            <a:solidFill>
              <a:srgbClr val="D9E6E1"/>
            </a:solidFill>
            <a:prstDash val="solid"/>
          </a:ln>
        </p:spPr>
      </p:sp>
      <p:sp>
        <p:nvSpPr>
          <p:cNvPr id="13" name="Text 11"/>
          <p:cNvSpPr txBox="1"/>
          <p:nvPr/>
        </p:nvSpPr>
        <p:spPr>
          <a:xfrm>
            <a:off x="4480560" y="2002536"/>
            <a:ext cx="3200400" cy="365760"/>
          </a:xfrm>
          <a:prstGeom prst="rect">
            <a:avLst/>
          </a:prstGeom>
          <a:noFill/>
          <a:ln/>
        </p:spPr>
        <p:txBody>
          <a:bodyPr wrap="square" lIns="0" tIns="0" rIns="0" bIns="0" rtlCol="0" anchor="t"/>
          <a:lstStyle/>
          <a:p>
            <a:pPr indent="0" marL="0">
              <a:buNone/>
            </a:pPr>
            <a:r>
              <a:rPr lang="en-US" sz="1400" b="1" dirty="0">
                <a:solidFill>
                  <a:schemeClr val="tx2"/>
                </a:solidFill>
              </a:rPr>
              <a:t>It hid a quantity in the prose</a:t>
            </a:r>
            <a:endParaRPr lang="en-US" sz="1400" dirty="0"/>
          </a:p>
        </p:txBody>
      </p:sp>
      <p:sp>
        <p:nvSpPr>
          <p:cNvPr id="14" name="Text 12"/>
          <p:cNvSpPr txBox="1"/>
          <p:nvPr/>
        </p:nvSpPr>
        <p:spPr>
          <a:xfrm>
            <a:off x="4480560" y="2368296"/>
            <a:ext cx="3200400" cy="228600"/>
          </a:xfrm>
          <a:prstGeom prst="rect">
            <a:avLst/>
          </a:prstGeom>
          <a:noFill/>
          <a:ln/>
        </p:spPr>
        <p:txBody>
          <a:bodyPr wrap="square" lIns="0" tIns="0" rIns="0" bIns="0" rtlCol="0" anchor="t"/>
          <a:lstStyle/>
          <a:p>
            <a:pPr indent="0" marL="0">
              <a:buNone/>
            </a:pPr>
            <a:r>
              <a:rPr lang="en-US" sz="1000" dirty="0">
                <a:solidFill>
                  <a:schemeClr val="accent4"/>
                </a:solidFill>
              </a:rPr>
              <a:t>Real-model test, third synthetic item</a:t>
            </a:r>
            <a:endParaRPr lang="en-US" sz="1000" dirty="0"/>
          </a:p>
        </p:txBody>
      </p:sp>
      <p:sp>
        <p:nvSpPr>
          <p:cNvPr id="15" name="Text 13"/>
          <p:cNvSpPr txBox="1"/>
          <p:nvPr/>
        </p:nvSpPr>
        <p:spPr>
          <a:xfrm>
            <a:off x="4480560" y="2651760"/>
            <a:ext cx="3200400" cy="914400"/>
          </a:xfrm>
          <a:prstGeom prst="rect">
            <a:avLst/>
          </a:prstGeom>
          <a:noFill/>
          <a:ln/>
        </p:spPr>
        <p:txBody>
          <a:bodyPr wrap="square" lIns="0" tIns="0" rIns="0" bIns="0" rtlCol="0" anchor="t"/>
          <a:lstStyle/>
          <a:p>
            <a:pPr indent="0" marL="0">
              <a:buNone/>
            </a:pPr>
            <a:r>
              <a:rPr lang="en-US" sz="1150" b="1" dirty="0">
                <a:solidFill>
                  <a:schemeClr val="accent3"/>
                </a:solidFill>
              </a:rPr>
              <a:t>What it said  </a:t>
            </a:r>
            <a:pPr indent="0" marL="0">
              <a:buNone/>
            </a:pPr>
            <a:r>
              <a:rPr lang="en-US" sz="1150" dirty="0">
                <a:solidFill>
                  <a:schemeClr val="tx1"/>
                </a:solidFill>
              </a:rPr>
              <a:t>Withheld the structured quantity, but kept "80 cases / CAD 770" in its text, computed on unconfirmed demand and without freight.</a:t>
            </a:r>
            <a:endParaRPr lang="en-US" sz="1150" dirty="0"/>
          </a:p>
        </p:txBody>
      </p:sp>
      <p:sp>
        <p:nvSpPr>
          <p:cNvPr id="16" name="Text 14"/>
          <p:cNvSpPr txBox="1"/>
          <p:nvPr/>
        </p:nvSpPr>
        <p:spPr>
          <a:xfrm>
            <a:off x="4480560" y="3611880"/>
            <a:ext cx="3200400" cy="502920"/>
          </a:xfrm>
          <a:prstGeom prst="rect">
            <a:avLst/>
          </a:prstGeom>
          <a:noFill/>
          <a:ln/>
        </p:spPr>
        <p:txBody>
          <a:bodyPr wrap="square" lIns="0" tIns="0" rIns="0" bIns="0" rtlCol="0" anchor="t"/>
          <a:lstStyle/>
          <a:p>
            <a:pPr indent="0" marL="0">
              <a:buNone/>
            </a:pPr>
            <a:r>
              <a:rPr lang="en-US" sz="1150" b="1" dirty="0">
                <a:solidFill>
                  <a:schemeClr val="tx2"/>
                </a:solidFill>
              </a:rPr>
              <a:t>What caught it  </a:t>
            </a:r>
            <a:pPr indent="0" marL="0">
              <a:buNone/>
            </a:pPr>
            <a:r>
              <a:rPr lang="en-US" sz="1150" dirty="0">
                <a:solidFill>
                  <a:schemeClr val="tx1"/>
                </a:solidFill>
              </a:rPr>
              <a:t>Offline semantic inspection; then a rule audit blocked the artifact from any use.</a:t>
            </a:r>
            <a:endParaRPr lang="en-US" sz="1150" dirty="0"/>
          </a:p>
        </p:txBody>
      </p:sp>
      <p:sp>
        <p:nvSpPr>
          <p:cNvPr id="17" name="Text 15"/>
          <p:cNvSpPr txBox="1"/>
          <p:nvPr/>
        </p:nvSpPr>
        <p:spPr>
          <a:xfrm>
            <a:off x="4480560" y="4114800"/>
            <a:ext cx="3200400" cy="1051560"/>
          </a:xfrm>
          <a:prstGeom prst="rect">
            <a:avLst/>
          </a:prstGeom>
          <a:noFill/>
          <a:ln/>
        </p:spPr>
        <p:txBody>
          <a:bodyPr wrap="square" lIns="0" tIns="0" rIns="0" bIns="0" rtlCol="0" anchor="t"/>
          <a:lstStyle/>
          <a:p>
            <a:pPr indent="0" marL="0">
              <a:buNone/>
            </a:pPr>
            <a:r>
              <a:rPr lang="en-US" sz="1150" b="1" dirty="0">
                <a:solidFill>
                  <a:schemeClr val="accent1"/>
                </a:solidFill>
              </a:rPr>
              <a:t>What changed  </a:t>
            </a:r>
            <a:pPr indent="0" marL="0">
              <a:buNone/>
            </a:pPr>
            <a:r>
              <a:rPr lang="en-US" sz="1150" dirty="0">
                <a:solidFill>
                  <a:schemeClr val="tx1"/>
                </a:solidFill>
              </a:rPr>
              <a:t>Quantity consistency now enforced across summary, evidence and recommendation; the calculator refuses when inputs are missing. Planner-triggered correction, two calls: proposal removed, missing evidence requested.</a:t>
            </a:r>
            <a:endParaRPr lang="en-US" sz="1150" dirty="0"/>
          </a:p>
        </p:txBody>
      </p:sp>
      <p:sp>
        <p:nvSpPr>
          <p:cNvPr id="18" name="Shape 16"/>
          <p:cNvSpPr/>
          <p:nvPr/>
        </p:nvSpPr>
        <p:spPr>
          <a:xfrm>
            <a:off x="8046720" y="1874520"/>
            <a:ext cx="3566160" cy="3337560"/>
          </a:xfrm>
          <a:prstGeom prst="roundRect">
            <a:avLst>
              <a:gd name="adj" fmla="val 1644"/>
            </a:avLst>
          </a:prstGeom>
          <a:solidFill>
            <a:schemeClr val="bg2"/>
          </a:solidFill>
          <a:ln w="9525">
            <a:solidFill>
              <a:srgbClr val="D9E6E1"/>
            </a:solidFill>
            <a:prstDash val="solid"/>
          </a:ln>
        </p:spPr>
      </p:sp>
      <p:sp>
        <p:nvSpPr>
          <p:cNvPr id="19" name="Text 17"/>
          <p:cNvSpPr txBox="1"/>
          <p:nvPr/>
        </p:nvSpPr>
        <p:spPr>
          <a:xfrm>
            <a:off x="8229600" y="2002536"/>
            <a:ext cx="3200400" cy="365760"/>
          </a:xfrm>
          <a:prstGeom prst="rect">
            <a:avLst/>
          </a:prstGeom>
          <a:noFill/>
          <a:ln/>
        </p:spPr>
        <p:txBody>
          <a:bodyPr wrap="square" lIns="0" tIns="0" rIns="0" bIns="0" rtlCol="0" anchor="t"/>
          <a:lstStyle/>
          <a:p>
            <a:pPr indent="0" marL="0">
              <a:buNone/>
            </a:pPr>
            <a:r>
              <a:rPr lang="en-US" sz="1400" b="1" dirty="0">
                <a:solidFill>
                  <a:schemeClr val="tx2"/>
                </a:solidFill>
              </a:rPr>
              <a:t>It mixed up two timestamps and a count</a:t>
            </a:r>
            <a:endParaRPr lang="en-US" sz="1400" dirty="0"/>
          </a:p>
        </p:txBody>
      </p:sp>
      <p:sp>
        <p:nvSpPr>
          <p:cNvPr id="20" name="Text 18"/>
          <p:cNvSpPr txBox="1"/>
          <p:nvPr/>
        </p:nvSpPr>
        <p:spPr>
          <a:xfrm>
            <a:off x="8229600" y="2368296"/>
            <a:ext cx="3200400" cy="228600"/>
          </a:xfrm>
          <a:prstGeom prst="rect">
            <a:avLst/>
          </a:prstGeom>
          <a:noFill/>
          <a:ln/>
        </p:spPr>
        <p:txBody>
          <a:bodyPr wrap="square" lIns="0" tIns="0" rIns="0" bIns="0" rtlCol="0" anchor="t"/>
          <a:lstStyle/>
          <a:p>
            <a:pPr indent="0" marL="0">
              <a:buNone/>
            </a:pPr>
            <a:r>
              <a:rPr lang="en-US" sz="1000" dirty="0">
                <a:solidFill>
                  <a:schemeClr val="accent4"/>
                </a:solidFill>
              </a:rPr>
              <a:t>Real-model test, first synthetic item</a:t>
            </a:r>
            <a:endParaRPr lang="en-US" sz="1000" dirty="0"/>
          </a:p>
        </p:txBody>
      </p:sp>
      <p:sp>
        <p:nvSpPr>
          <p:cNvPr id="21" name="Text 19"/>
          <p:cNvSpPr txBox="1"/>
          <p:nvPr/>
        </p:nvSpPr>
        <p:spPr>
          <a:xfrm>
            <a:off x="8229600" y="2651760"/>
            <a:ext cx="3200400" cy="914400"/>
          </a:xfrm>
          <a:prstGeom prst="rect">
            <a:avLst/>
          </a:prstGeom>
          <a:noFill/>
          <a:ln/>
        </p:spPr>
        <p:txBody>
          <a:bodyPr wrap="square" lIns="0" tIns="0" rIns="0" bIns="0" rtlCol="0" anchor="t"/>
          <a:lstStyle/>
          <a:p>
            <a:pPr indent="0" marL="0">
              <a:buNone/>
            </a:pPr>
            <a:r>
              <a:rPr lang="en-US" sz="1150" b="1" dirty="0">
                <a:solidFill>
                  <a:schemeClr val="accent3"/>
                </a:solidFill>
              </a:rPr>
              <a:t>What it said  </a:t>
            </a:r>
            <a:pPr indent="0" marL="0">
              <a:buNone/>
            </a:pPr>
            <a:r>
              <a:rPr lang="en-US" sz="1150" dirty="0">
                <a:solidFill>
                  <a:schemeClr val="tx1"/>
                </a:solidFill>
              </a:rPr>
              <a:t>Confused DC arrival at 08:00Z with store usable time at 12:00Z, and wrote 250 excluded cases where the figure was 200.</a:t>
            </a:r>
            <a:endParaRPr lang="en-US" sz="1150" dirty="0"/>
          </a:p>
        </p:txBody>
      </p:sp>
      <p:sp>
        <p:nvSpPr>
          <p:cNvPr id="22" name="Text 20"/>
          <p:cNvSpPr txBox="1"/>
          <p:nvPr/>
        </p:nvSpPr>
        <p:spPr>
          <a:xfrm>
            <a:off x="8229600" y="3611880"/>
            <a:ext cx="3200400" cy="502920"/>
          </a:xfrm>
          <a:prstGeom prst="rect">
            <a:avLst/>
          </a:prstGeom>
          <a:noFill/>
          <a:ln/>
        </p:spPr>
        <p:txBody>
          <a:bodyPr wrap="square" lIns="0" tIns="0" rIns="0" bIns="0" rtlCol="0" anchor="t"/>
          <a:lstStyle/>
          <a:p>
            <a:pPr indent="0" marL="0">
              <a:buNone/>
            </a:pPr>
            <a:r>
              <a:rPr lang="en-US" sz="1150" b="1" dirty="0">
                <a:solidFill>
                  <a:schemeClr val="tx2"/>
                </a:solidFill>
              </a:rPr>
              <a:t>What caught it  </a:t>
            </a:r>
            <a:pPr indent="0" marL="0">
              <a:buNone/>
            </a:pPr>
            <a:r>
              <a:rPr lang="en-US" sz="1150" dirty="0">
                <a:solidFill>
                  <a:schemeClr val="tx1"/>
                </a:solidFill>
              </a:rPr>
              <a:t>Review of the retained output.</a:t>
            </a:r>
            <a:endParaRPr lang="en-US" sz="1150" dirty="0"/>
          </a:p>
        </p:txBody>
      </p:sp>
      <p:sp>
        <p:nvSpPr>
          <p:cNvPr id="23" name="Text 21"/>
          <p:cNvSpPr txBox="1"/>
          <p:nvPr/>
        </p:nvSpPr>
        <p:spPr>
          <a:xfrm>
            <a:off x="8229600" y="4114800"/>
            <a:ext cx="3200400" cy="1051560"/>
          </a:xfrm>
          <a:prstGeom prst="rect">
            <a:avLst/>
          </a:prstGeom>
          <a:noFill/>
          <a:ln/>
        </p:spPr>
        <p:txBody>
          <a:bodyPr wrap="square" lIns="0" tIns="0" rIns="0" bIns="0" rtlCol="0" anchor="t"/>
          <a:lstStyle/>
          <a:p>
            <a:pPr indent="0" marL="0">
              <a:buNone/>
            </a:pPr>
            <a:r>
              <a:rPr lang="en-US" sz="1150" b="1" dirty="0">
                <a:solidFill>
                  <a:schemeClr val="accent1"/>
                </a:solidFill>
              </a:rPr>
              <a:t>What changed  </a:t>
            </a:r>
            <a:pPr indent="0" marL="0">
              <a:buNone/>
            </a:pPr>
            <a:r>
              <a:rPr lang="en-US" sz="1150" dirty="0">
                <a:solidFill>
                  <a:schemeClr val="tx1"/>
                </a:solidFill>
              </a:rPr>
              <a:t>Timing claims are now typed and tied to named source fields. Corrected in three calls; the original prose stays visible beside the correction.</a:t>
            </a:r>
            <a:endParaRPr lang="en-US" sz="1150" dirty="0"/>
          </a:p>
        </p:txBody>
      </p:sp>
      <p:sp>
        <p:nvSpPr>
          <p:cNvPr id="24" name="Shape 22"/>
          <p:cNvSpPr/>
          <p:nvPr/>
        </p:nvSpPr>
        <p:spPr>
          <a:xfrm>
            <a:off x="548640" y="5394960"/>
            <a:ext cx="11064240" cy="822960"/>
          </a:xfrm>
          <a:prstGeom prst="roundRect">
            <a:avLst>
              <a:gd name="adj" fmla="val 6667"/>
            </a:avLst>
          </a:prstGeom>
          <a:solidFill>
            <a:schemeClr val="bg1"/>
          </a:solidFill>
          <a:ln w="12700">
            <a:solidFill>
              <a:srgbClr val="B3261E"/>
            </a:solidFill>
            <a:prstDash val="solid"/>
          </a:ln>
        </p:spPr>
      </p:sp>
      <p:sp>
        <p:nvSpPr>
          <p:cNvPr id="25" name="Text 23"/>
          <p:cNvSpPr txBox="1"/>
          <p:nvPr/>
        </p:nvSpPr>
        <p:spPr>
          <a:xfrm>
            <a:off x="822960" y="5504688"/>
            <a:ext cx="10515600" cy="640080"/>
          </a:xfrm>
          <a:prstGeom prst="rect">
            <a:avLst/>
          </a:prstGeom>
          <a:noFill/>
          <a:ln/>
        </p:spPr>
        <p:txBody>
          <a:bodyPr wrap="square" lIns="0" tIns="0" rIns="0" bIns="0" rtlCol="0" anchor="t"/>
          <a:lstStyle/>
          <a:p>
            <a:pPr indent="0" marL="0">
              <a:buNone/>
            </a:pPr>
            <a:r>
              <a:rPr lang="en-US" sz="1250" b="1" dirty="0">
                <a:solidFill>
                  <a:schemeClr val="accent3"/>
                </a:solidFill>
              </a:rPr>
              <a:t>The pattern.  </a:t>
            </a:r>
            <a:pPr indent="0" marL="0">
              <a:buNone/>
            </a:pPr>
            <a:r>
              <a:rPr lang="en-US" sz="1250" dirty="0">
                <a:solidFill>
                  <a:schemeClr val="tx1"/>
                </a:solidFill>
              </a:rPr>
              <a:t>Structure passes, prose fails. Our answer is not a better prompt. It is a rule for that failure class, the failure kept on the timeline, and a linked correction that never overwrites the original. The second model audit remains a fallible review, not proof.</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Finance: model cost is measured and small; the business case is not yet measured</a:t>
            </a:r>
            <a:endParaRPr lang="en-US" sz="3000" dirty="0"/>
          </a:p>
        </p:txBody>
      </p:sp>
      <p:sp>
        <p:nvSpPr>
          <p:cNvPr id="3" name="Shape 1"/>
          <p:cNvSpPr/>
          <p:nvPr/>
        </p:nvSpPr>
        <p:spPr>
          <a:xfrm>
            <a:off x="548640" y="1371600"/>
            <a:ext cx="1143000" cy="274320"/>
          </a:xfrm>
          <a:prstGeom prst="roundRect">
            <a:avLst>
              <a:gd name="adj" fmla="val 50000"/>
            </a:avLst>
          </a:prstGeom>
          <a:solidFill>
            <a:schemeClr val="tx1"/>
          </a:solidFill>
          <a:ln w="12700">
            <a:solidFill>
              <a:schemeClr val="tx1"/>
            </a:solidFill>
            <a:prstDash val="solid"/>
          </a:ln>
        </p:spPr>
      </p:sp>
      <p:sp>
        <p:nvSpPr>
          <p:cNvPr id="4" name="Text 2"/>
          <p:cNvSpPr txBox="1"/>
          <p:nvPr/>
        </p:nvSpPr>
        <p:spPr>
          <a:xfrm>
            <a:off x="548640"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5" name="Shape 3"/>
          <p:cNvSpPr/>
          <p:nvPr/>
        </p:nvSpPr>
        <p:spPr>
          <a:xfrm>
            <a:off x="1801368" y="1371600"/>
            <a:ext cx="1143000" cy="274320"/>
          </a:xfrm>
          <a:prstGeom prst="roundRect">
            <a:avLst>
              <a:gd name="adj" fmla="val 50000"/>
            </a:avLst>
          </a:prstGeom>
          <a:solidFill>
            <a:schemeClr val="accent2"/>
          </a:solidFill>
          <a:ln w="12700">
            <a:solidFill>
              <a:schemeClr val="accent2"/>
            </a:solidFill>
            <a:prstDash val="solid"/>
          </a:ln>
        </p:spPr>
      </p:sp>
      <p:sp>
        <p:nvSpPr>
          <p:cNvPr id="6" name="Text 4"/>
          <p:cNvSpPr txBox="1"/>
          <p:nvPr/>
        </p:nvSpPr>
        <p:spPr>
          <a:xfrm>
            <a:off x="1801368"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7" name="Text 5"/>
          <p:cNvSpPr txBox="1"/>
          <p:nvPr/>
        </p:nvSpPr>
        <p:spPr>
          <a:xfrm>
            <a:off x="2926080" y="1344168"/>
            <a:ext cx="8716975" cy="365760"/>
          </a:xfrm>
          <a:prstGeom prst="rect">
            <a:avLst/>
          </a:prstGeom>
          <a:noFill/>
          <a:ln/>
        </p:spPr>
        <p:txBody>
          <a:bodyPr wrap="square" lIns="0" tIns="0" rIns="0" bIns="0" rtlCol="0" anchor="t"/>
          <a:lstStyle/>
          <a:p>
            <a:pPr indent="0" marL="0">
              <a:buNone/>
            </a:pPr>
            <a:r>
              <a:rPr lang="en-US" sz="1300" i="1" dirty="0">
                <a:solidFill>
                  <a:schemeClr val="accent4"/>
                </a:solidFill>
              </a:rPr>
              <a:t>"Show me the unit economics, and why should I believe any of it when your own report says the simulated profit gains failed replication?"</a:t>
            </a:r>
            <a:endParaRPr lang="en-US" sz="1300" dirty="0"/>
          </a:p>
        </p:txBody>
      </p:sp>
      <p:graphicFrame>
        <p:nvGraphicFramePr>
          <p:cNvPr id="8" name="Chart 0" descr=""/>
          <p:cNvGraphicFramePr/>
          <p:nvPr/>
        </p:nvGraphicFramePr>
        <p:xfrm>
          <a:off x="548640" y="1828800"/>
          <a:ext cx="5760720" cy="29260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0" y="1828800"/>
            <a:ext cx="5029200" cy="868680"/>
          </a:xfrm>
          <a:prstGeom prst="roundRect">
            <a:avLst>
              <a:gd name="adj" fmla="val 6316"/>
            </a:avLst>
          </a:prstGeom>
          <a:solidFill>
            <a:schemeClr val="bg2"/>
          </a:solidFill>
          <a:ln w="9525">
            <a:solidFill>
              <a:srgbClr val="D9E6E1"/>
            </a:solidFill>
            <a:prstDash val="solid"/>
          </a:ln>
        </p:spPr>
      </p:sp>
      <p:sp>
        <p:nvSpPr>
          <p:cNvPr id="10" name="Text 7"/>
          <p:cNvSpPr txBox="1"/>
          <p:nvPr/>
        </p:nvSpPr>
        <p:spPr>
          <a:xfrm>
            <a:off x="6766560" y="1938528"/>
            <a:ext cx="2011680" cy="64008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&lt; USD 1</a:t>
            </a:r>
            <a:endParaRPr lang="en-US" sz="2600" dirty="0"/>
          </a:p>
        </p:txBody>
      </p:sp>
      <p:sp>
        <p:nvSpPr>
          <p:cNvPr id="11" name="Text 8"/>
          <p:cNvSpPr txBox="1"/>
          <p:nvPr/>
        </p:nvSpPr>
        <p:spPr>
          <a:xfrm>
            <a:off x="8778240" y="1965960"/>
            <a:ext cx="2743200" cy="640080"/>
          </a:xfrm>
          <a:prstGeom prst="rect">
            <a:avLst/>
          </a:prstGeom>
          <a:noFill/>
          <a:ln/>
        </p:spPr>
        <p:txBody>
          <a:bodyPr wrap="square" lIns="0" tIns="0" rIns="0" bIns="0" rtlCol="0" anchor="ctr"/>
          <a:lstStyle/>
          <a:p>
            <a:pPr indent="0" marL="0">
              <a:buNone/>
            </a:pPr>
            <a:r>
              <a:rPr lang="en-US" sz="1150" dirty="0">
                <a:solidFill>
                  <a:schemeClr val="tx1"/>
                </a:solidFill>
              </a:rPr>
              <a:t>per exception including one correction round, on prototype prompts</a:t>
            </a:r>
            <a:endParaRPr lang="en-US" sz="1150" dirty="0"/>
          </a:p>
        </p:txBody>
      </p:sp>
      <p:sp>
        <p:nvSpPr>
          <p:cNvPr id="12" name="Shape 9"/>
          <p:cNvSpPr/>
          <p:nvPr/>
        </p:nvSpPr>
        <p:spPr>
          <a:xfrm>
            <a:off x="6583680" y="2816352"/>
            <a:ext cx="5029200" cy="868680"/>
          </a:xfrm>
          <a:prstGeom prst="roundRect">
            <a:avLst>
              <a:gd name="adj" fmla="val 6316"/>
            </a:avLst>
          </a:prstGeom>
          <a:solidFill>
            <a:schemeClr val="bg2"/>
          </a:solidFill>
          <a:ln w="9525">
            <a:solidFill>
              <a:srgbClr val="D9E6E1"/>
            </a:solidFill>
            <a:prstDash val="solid"/>
          </a:ln>
        </p:spPr>
      </p:sp>
      <p:sp>
        <p:nvSpPr>
          <p:cNvPr id="13" name="Text 10"/>
          <p:cNvSpPr txBox="1"/>
          <p:nvPr/>
        </p:nvSpPr>
        <p:spPr>
          <a:xfrm>
            <a:off x="6766560" y="2926080"/>
            <a:ext cx="2011680" cy="64008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3.03 / 4.00</a:t>
            </a:r>
            <a:endParaRPr lang="en-US" sz="2600" dirty="0"/>
          </a:p>
        </p:txBody>
      </p:sp>
      <p:sp>
        <p:nvSpPr>
          <p:cNvPr id="14" name="Text 11"/>
          <p:cNvSpPr txBox="1"/>
          <p:nvPr/>
        </p:nvSpPr>
        <p:spPr>
          <a:xfrm>
            <a:off x="8778240" y="2953512"/>
            <a:ext cx="2743200" cy="640080"/>
          </a:xfrm>
          <a:prstGeom prst="rect">
            <a:avLst/>
          </a:prstGeom>
          <a:noFill/>
          <a:ln/>
        </p:spPr>
        <p:txBody>
          <a:bodyPr wrap="square" lIns="0" tIns="0" rIns="0" bIns="0" rtlCol="0" anchor="ctr"/>
          <a:lstStyle/>
          <a:p>
            <a:pPr indent="0" marL="0">
              <a:buNone/>
            </a:pPr>
            <a:r>
              <a:rPr lang="en-US" sz="1150" dirty="0">
                <a:solidFill>
                  <a:schemeClr val="tx1"/>
                </a:solidFill>
              </a:rPr>
              <a:t>USD on the cloud ledger; project authorisation USD 20</a:t>
            </a:r>
            <a:endParaRPr lang="en-US" sz="1150" dirty="0"/>
          </a:p>
        </p:txBody>
      </p:sp>
      <p:sp>
        <p:nvSpPr>
          <p:cNvPr id="15" name="Shape 12"/>
          <p:cNvSpPr/>
          <p:nvPr/>
        </p:nvSpPr>
        <p:spPr>
          <a:xfrm>
            <a:off x="6583680" y="3803904"/>
            <a:ext cx="5029200" cy="868680"/>
          </a:xfrm>
          <a:prstGeom prst="roundRect">
            <a:avLst>
              <a:gd name="adj" fmla="val 6316"/>
            </a:avLst>
          </a:prstGeom>
          <a:solidFill>
            <a:schemeClr val="bg2"/>
          </a:solidFill>
          <a:ln w="9525">
            <a:solidFill>
              <a:srgbClr val="D9E6E1"/>
            </a:solidFill>
            <a:prstDash val="solid"/>
          </a:ln>
        </p:spPr>
      </p:sp>
      <p:sp>
        <p:nvSpPr>
          <p:cNvPr id="16" name="Text 13"/>
          <p:cNvSpPr txBox="1"/>
          <p:nvPr/>
        </p:nvSpPr>
        <p:spPr>
          <a:xfrm>
            <a:off x="6766560" y="3913632"/>
            <a:ext cx="2011680" cy="64008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1 of 3</a:t>
            </a:r>
            <a:endParaRPr lang="en-US" sz="2600" dirty="0"/>
          </a:p>
        </p:txBody>
      </p:sp>
      <p:sp>
        <p:nvSpPr>
          <p:cNvPr id="17" name="Text 14"/>
          <p:cNvSpPr txBox="1"/>
          <p:nvPr/>
        </p:nvSpPr>
        <p:spPr>
          <a:xfrm>
            <a:off x="8778240" y="3941064"/>
            <a:ext cx="2743200" cy="640080"/>
          </a:xfrm>
          <a:prstGeom prst="rect">
            <a:avLst/>
          </a:prstGeom>
          <a:noFill/>
          <a:ln/>
        </p:spPr>
        <p:txBody>
          <a:bodyPr wrap="square" lIns="0" tIns="0" rIns="0" bIns="0" rtlCol="0" anchor="ctr"/>
          <a:lstStyle/>
          <a:p>
            <a:pPr indent="0" marL="0">
              <a:buNone/>
            </a:pPr>
            <a:r>
              <a:rPr lang="en-US" sz="1150" dirty="0">
                <a:solidFill>
                  <a:schemeClr val="tx1"/>
                </a:solidFill>
              </a:rPr>
              <a:t>items produced an unsupported quantity in prose; caught, quarantined, repaired</a:t>
            </a:r>
            <a:endParaRPr lang="en-US" sz="1150" dirty="0"/>
          </a:p>
        </p:txBody>
      </p:sp>
      <p:sp>
        <p:nvSpPr>
          <p:cNvPr id="18" name="Shape 15"/>
          <p:cNvSpPr/>
          <p:nvPr/>
        </p:nvSpPr>
        <p:spPr>
          <a:xfrm>
            <a:off x="548640" y="4937760"/>
            <a:ext cx="11064240" cy="1280160"/>
          </a:xfrm>
          <a:prstGeom prst="roundRect">
            <a:avLst>
              <a:gd name="adj" fmla="val 4286"/>
            </a:avLst>
          </a:prstGeom>
          <a:solidFill>
            <a:schemeClr val="bg1"/>
          </a:solidFill>
          <a:ln w="12700">
            <a:solidFill>
              <a:srgbClr val="C8781E"/>
            </a:solidFill>
            <a:prstDash val="solid"/>
          </a:ln>
        </p:spPr>
      </p:sp>
      <p:sp>
        <p:nvSpPr>
          <p:cNvPr id="19" name="Text 16"/>
          <p:cNvSpPr txBox="1"/>
          <p:nvPr/>
        </p:nvSpPr>
        <p:spPr>
          <a:xfrm>
            <a:off x="822960" y="5047488"/>
            <a:ext cx="10515600" cy="1097280"/>
          </a:xfrm>
          <a:prstGeom prst="rect">
            <a:avLst/>
          </a:prstGeom>
          <a:noFill/>
          <a:ln/>
        </p:spPr>
        <p:txBody>
          <a:bodyPr wrap="square" lIns="0" tIns="0" rIns="0" bIns="0" rtlCol="0" anchor="t"/>
          <a:lstStyle/>
          <a:p>
            <a:pPr indent="0" marL="0">
              <a:buNone/>
            </a:pPr>
            <a:r>
              <a:rPr lang="en-US" sz="1200" b="1" dirty="0">
                <a:solidFill>
                  <a:schemeClr val="accent2"/>
                </a:solidFill>
              </a:rPr>
              <a:t>What the break-even depends on, all unmeasured.  </a:t>
            </a:r>
            <a:pPr indent="0" marL="0">
              <a:buNone/>
            </a:pPr>
            <a:r>
              <a:rPr lang="en-US" sz="1200" dirty="0">
                <a:solidFill>
                  <a:schemeClr val="tx1"/>
                </a:solidFill>
              </a:rPr>
              <a:t>Active minutes saved per exception on both sides; critical errors avoided versus introduced; one-time integration and onboarding on the customer's SAP landscape. Illustrative only: at a CAD 45 per hour loaded planner cost, about one minute covers the model cost, so integration is the number that matters. The simulated demand-recovery gains were withdrawn (equal-cost recovery negative on FreshRetailNet-50K; replication failed) and are not in this case.</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Four stakeholders, and the trade-offs we made</a:t>
            </a:r>
            <a:endParaRPr lang="en-US" sz="3000" dirty="0"/>
          </a:p>
        </p:txBody>
      </p:sp>
      <p:sp>
        <p:nvSpPr>
          <p:cNvPr id="3" name="Shape 1"/>
          <p:cNvSpPr/>
          <p:nvPr/>
        </p:nvSpPr>
        <p:spPr>
          <a:xfrm>
            <a:off x="548640" y="1371600"/>
            <a:ext cx="914400" cy="274320"/>
          </a:xfrm>
          <a:prstGeom prst="roundRect">
            <a:avLst>
              <a:gd name="adj" fmla="val 50000"/>
            </a:avLst>
          </a:prstGeom>
          <a:solidFill>
            <a:schemeClr val="accent1"/>
          </a:solidFill>
          <a:ln w="12700">
            <a:solidFill>
              <a:schemeClr val="accent1"/>
            </a:solidFill>
            <a:prstDash val="solid"/>
          </a:ln>
        </p:spPr>
      </p:sp>
      <p:sp>
        <p:nvSpPr>
          <p:cNvPr id="4" name="Text 2"/>
          <p:cNvSpPr txBox="1"/>
          <p:nvPr/>
        </p:nvSpPr>
        <p:spPr>
          <a:xfrm>
            <a:off x="548640" y="1371600"/>
            <a:ext cx="91440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5" name="Shape 3"/>
          <p:cNvSpPr/>
          <p:nvPr/>
        </p:nvSpPr>
        <p:spPr>
          <a:xfrm>
            <a:off x="1572768" y="1371600"/>
            <a:ext cx="1143000" cy="274320"/>
          </a:xfrm>
          <a:prstGeom prst="roundRect">
            <a:avLst>
              <a:gd name="adj" fmla="val 50000"/>
            </a:avLst>
          </a:prstGeom>
          <a:solidFill>
            <a:schemeClr val="tx1"/>
          </a:solidFill>
          <a:ln w="12700">
            <a:solidFill>
              <a:schemeClr val="tx1"/>
            </a:solidFill>
            <a:prstDash val="solid"/>
          </a:ln>
        </p:spPr>
      </p:sp>
      <p:sp>
        <p:nvSpPr>
          <p:cNvPr id="6" name="Text 4"/>
          <p:cNvSpPr txBox="1"/>
          <p:nvPr/>
        </p:nvSpPr>
        <p:spPr>
          <a:xfrm>
            <a:off x="1572768"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7" name="Shape 5"/>
          <p:cNvSpPr/>
          <p:nvPr/>
        </p:nvSpPr>
        <p:spPr>
          <a:xfrm>
            <a:off x="2825496" y="1371600"/>
            <a:ext cx="1143000" cy="274320"/>
          </a:xfrm>
          <a:prstGeom prst="roundRect">
            <a:avLst>
              <a:gd name="adj" fmla="val 50000"/>
            </a:avLst>
          </a:prstGeom>
          <a:solidFill>
            <a:schemeClr val="accent2"/>
          </a:solidFill>
          <a:ln w="12700">
            <a:solidFill>
              <a:schemeClr val="accent2"/>
            </a:solidFill>
            <a:prstDash val="solid"/>
          </a:ln>
        </p:spPr>
      </p:sp>
      <p:sp>
        <p:nvSpPr>
          <p:cNvPr id="8" name="Text 6"/>
          <p:cNvSpPr txBox="1"/>
          <p:nvPr/>
        </p:nvSpPr>
        <p:spPr>
          <a:xfrm>
            <a:off x="2825496"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9" name="Text 7"/>
          <p:cNvSpPr txBox="1"/>
          <p:nvPr/>
        </p:nvSpPr>
        <p:spPr>
          <a:xfrm>
            <a:off x="4023360" y="1344168"/>
            <a:ext cx="7619695" cy="365760"/>
          </a:xfrm>
          <a:prstGeom prst="rect">
            <a:avLst/>
          </a:prstGeom>
          <a:noFill/>
          <a:ln/>
        </p:spPr>
        <p:txBody>
          <a:bodyPr wrap="square" lIns="0" tIns="0" rIns="0" bIns="0" rtlCol="0" anchor="t"/>
          <a:lstStyle/>
          <a:p>
            <a:pPr indent="0" marL="0">
              <a:buNone/>
            </a:pPr>
            <a:r>
              <a:rPr lang="en-US" sz="1300" i="1" dirty="0">
                <a:solidFill>
                  <a:schemeClr val="accent4"/>
                </a:solidFill>
              </a:rPr>
              <a:t>Each row is a need we could not fully satisfy at once. The evidence label says how firm our answer is.</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1645920"/>
                <a:gridCol w="2286000"/>
                <a:gridCol w="3566160"/>
                <a:gridCol w="2468880"/>
                <a:gridCol w="109728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Stakeholder</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They need</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 chose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 gave up</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77724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Software development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Reliability; a clear SAP boundary; no model with write rights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Rules in the write path; the same handler in production and tests; failures retained; a sandbox contract that says what it is not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Feature speed; the interactive reply flow is still unvalidated</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r>
              <a:tr h="59436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Marketing</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differentiated story</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One claim for one buyer; four weaker claims withdrawn after the competitive check</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The "network" narrative; any price advantage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53A"/>
                          </a:solidFill>
                          <a:latin typeface="Calibri" pitchFamily="34" charset="0"/>
                          <a:ea typeface="Calibri" pitchFamily="34" charset="-122"/>
                          <a:cs typeface="Calibri" pitchFamily="34" charset="-120"/>
                        </a:rPr>
                        <a:t>Desk</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C8781E"/>
                    </a:solidFill>
                  </a:tcPr>
                </a:tc>
              </a:tr>
              <a:tr h="77724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Finance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return</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Measured cost: under USD 1 per exception; cloud ledger USD 3.03 of 4.00. Pre-set targets, kill rules, pilot model spend under USD 50</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Any savings number today; it is a hypothesis until the pilot</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Real-model</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4353A"/>
                    </a:solidFill>
                  </a:tcPr>
                </a:tc>
              </a:tr>
              <a:tr h="594360">
                <a:tc>
                  <a:txBody>
                    <a:bodyPr/>
                    <a:lstStyle/>
                    <a:p>
                      <a:pPr indent="0" marL="0">
                        <a:buNone/>
                      </a:pPr>
                      <a:r>
                        <a:rPr lang="en-US" sz="1150" b="1" dirty="0">
                          <a:solidFill>
                            <a:srgbClr val="14353A"/>
                          </a:solidFill>
                          <a:latin typeface="Calibri" pitchFamily="34" charset="0"/>
                          <a:ea typeface="Calibri" pitchFamily="34" charset="-122"/>
                          <a:cs typeface="Calibri" pitchFamily="34" charset="-120"/>
                        </a:rPr>
                        <a:t>Product strategy</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A scalable wedge</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The exception handoff, released through four gates</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150" dirty="0">
                          <a:solidFill>
                            <a:srgbClr val="14353A"/>
                          </a:solidFill>
                          <a:latin typeface="Calibri" pitchFamily="34" charset="0"/>
                          <a:ea typeface="Calibri" pitchFamily="34" charset="-122"/>
                          <a:cs typeface="Calibri" pitchFamily="34" charset="-120"/>
                        </a:rPr>
                        <a:t>Forecasting, store transfers, autonomous buying</a:t>
                      </a:r>
                      <a:endParaRPr lang="en-US" sz="1150" dirty="0">
                        <a:latin typeface="Calibri" charset="0"/>
                        <a:ea typeface="Calibri" charset="0"/>
                        <a:cs typeface="Calibri" charset="0"/>
                      </a:endParaRPr>
                    </a:p>
                  </a:txBody>
                  <a:tcPr marL="54864" marR="54864" marT="54864" marB="54864" anchor="t">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Hypothesis</a:t>
                      </a:r>
                      <a:endParaRPr lang="en-US" sz="1100" dirty="0">
                        <a:latin typeface="Calibri" charset="0"/>
                        <a:ea typeface="Calibri" charset="0"/>
                        <a:cs typeface="Calibri" charset="0"/>
                      </a:endParaRPr>
                    </a:p>
                  </a:txBody>
                  <a:tcPr marL="54864" marR="54864" marT="54864" marB="54864"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C8781E"/>
                    </a:solidFill>
                  </a:tcPr>
                </a:tc>
              </a:tr>
            </a:tbl>
          </a:graphicData>
        </a:graphic>
      </p:graphicFrame>
      <p:sp>
        <p:nvSpPr>
          <p:cNvPr id="11" name="Shape 8"/>
          <p:cNvSpPr/>
          <p:nvPr/>
        </p:nvSpPr>
        <p:spPr>
          <a:xfrm>
            <a:off x="548640" y="5257800"/>
            <a:ext cx="11064240" cy="960120"/>
          </a:xfrm>
          <a:prstGeom prst="roundRect">
            <a:avLst>
              <a:gd name="adj" fmla="val 5714"/>
            </a:avLst>
          </a:prstGeom>
          <a:solidFill>
            <a:schemeClr val="tx2"/>
          </a:solidFill>
          <a:ln w="12700">
            <a:solidFill>
              <a:srgbClr val="0F5C4D"/>
            </a:solidFill>
            <a:prstDash val="solid"/>
          </a:ln>
        </p:spPr>
      </p:sp>
      <p:sp>
        <p:nvSpPr>
          <p:cNvPr id="12" name="Text 9"/>
          <p:cNvSpPr txBox="1"/>
          <p:nvPr/>
        </p:nvSpPr>
        <p:spPr>
          <a:xfrm>
            <a:off x="822960" y="5376672"/>
            <a:ext cx="10515600" cy="777240"/>
          </a:xfrm>
          <a:prstGeom prst="rect">
            <a:avLst/>
          </a:prstGeom>
          <a:noFill/>
          <a:ln/>
        </p:spPr>
        <p:txBody>
          <a:bodyPr wrap="square" lIns="0" tIns="0" rIns="0" bIns="0" rtlCol="0" anchor="t"/>
          <a:lstStyle/>
          <a:p>
            <a:pPr indent="0" marL="0">
              <a:buNone/>
            </a:pPr>
            <a:r>
              <a:rPr lang="en-US" sz="1200" b="1" dirty="0">
                <a:solidFill>
                  <a:schemeClr val="accent6"/>
                </a:solidFill>
              </a:rPr>
              <a:t>Where they still conflict.  </a:t>
            </a:r>
            <a:pPr indent="0" marL="0">
              <a:buNone/>
            </a:pPr>
            <a:r>
              <a:rPr lang="en-US" sz="1200" dirty="0">
                <a:solidFill>
                  <a:schemeClr val="bg1"/>
                </a:solidFill>
              </a:rPr>
              <a:t>Marketing wants a bigger claim than finance will fund and engineering will stand behind. The gated roadmap resolves it: each gate is one function's condition, and no gate is skipped. Limitations we own: no measured value, a sandbox that is not SAP, tasks authored on the development side, model prose that can pass checks and still be wrong.</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68680"/>
          </a:xfrm>
          <a:prstGeom prst="rect">
            <a:avLst/>
          </a:prstGeom>
          <a:noFill/>
          <a:ln/>
        </p:spPr>
        <p:txBody>
          <a:bodyPr wrap="square" lIns="0" tIns="0" rIns="0" bIns="0" rtlCol="0" anchor="ctr"/>
          <a:lstStyle/>
          <a:p>
            <a:pPr indent="0" marL="0">
              <a:buNone/>
            </a:pPr>
            <a:r>
              <a:rPr lang="en-US" sz="3000" b="1" dirty="0">
                <a:solidFill>
                  <a:schemeClr val="tx1"/>
                </a:solidFill>
              </a:rPr>
              <a:t>Implementation plan: twelve days, then a pilot, then SAP in two steps</a:t>
            </a:r>
            <a:endParaRPr lang="en-US" sz="3000" dirty="0"/>
          </a:p>
        </p:txBody>
      </p:sp>
      <p:sp>
        <p:nvSpPr>
          <p:cNvPr id="3" name="Shape 1"/>
          <p:cNvSpPr/>
          <p:nvPr/>
        </p:nvSpPr>
        <p:spPr>
          <a:xfrm>
            <a:off x="548640" y="1371600"/>
            <a:ext cx="1143000" cy="274320"/>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548640" y="1371600"/>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5" name="Text 3"/>
          <p:cNvSpPr txBox="1"/>
          <p:nvPr/>
        </p:nvSpPr>
        <p:spPr>
          <a:xfrm>
            <a:off x="1828800" y="1344168"/>
            <a:ext cx="9814255" cy="365760"/>
          </a:xfrm>
          <a:prstGeom prst="rect">
            <a:avLst/>
          </a:prstGeom>
          <a:noFill/>
          <a:ln/>
        </p:spPr>
        <p:txBody>
          <a:bodyPr wrap="square" lIns="0" tIns="0" rIns="0" bIns="0" rtlCol="0" anchor="t"/>
          <a:lstStyle/>
          <a:p>
            <a:pPr indent="0" marL="0">
              <a:buNone/>
            </a:pPr>
            <a:r>
              <a:rPr lang="en-US" sz="1300" i="1" dirty="0">
                <a:solidFill>
                  <a:schemeClr val="accent4"/>
                </a:solidFill>
              </a:rPr>
              <a:t>Resources, dependencies, milestones, success criteria and stop rules, all stated before run one.</a:t>
            </a:r>
            <a:endParaRPr lang="en-US" sz="1300" dirty="0"/>
          </a:p>
        </p:txBody>
      </p:sp>
      <p:sp>
        <p:nvSpPr>
          <p:cNvPr id="6" name="Shape 4"/>
          <p:cNvSpPr/>
          <p:nvPr/>
        </p:nvSpPr>
        <p:spPr>
          <a:xfrm>
            <a:off x="548640" y="1874520"/>
            <a:ext cx="3566160" cy="3291840"/>
          </a:xfrm>
          <a:prstGeom prst="roundRect">
            <a:avLst>
              <a:gd name="adj" fmla="val 1667"/>
            </a:avLst>
          </a:prstGeom>
          <a:solidFill>
            <a:schemeClr val="bg2"/>
          </a:solidFill>
          <a:ln w="9525">
            <a:solidFill>
              <a:srgbClr val="D9E6E1"/>
            </a:solidFill>
            <a:prstDash val="solid"/>
          </a:ln>
        </p:spPr>
      </p:sp>
      <p:sp>
        <p:nvSpPr>
          <p:cNvPr id="7" name="Text 5"/>
          <p:cNvSpPr txBox="1"/>
          <p:nvPr/>
        </p:nvSpPr>
        <p:spPr>
          <a:xfrm>
            <a:off x="731520" y="2020824"/>
            <a:ext cx="3200400" cy="329184"/>
          </a:xfrm>
          <a:prstGeom prst="rect">
            <a:avLst/>
          </a:prstGeom>
          <a:noFill/>
          <a:ln/>
        </p:spPr>
        <p:txBody>
          <a:bodyPr wrap="square" lIns="0" tIns="0" rIns="0" bIns="0" rtlCol="0" anchor="t"/>
          <a:lstStyle/>
          <a:p>
            <a:pPr indent="0" marL="0">
              <a:buNone/>
            </a:pPr>
            <a:r>
              <a:rPr lang="en-US" sz="1500" b="1" dirty="0">
                <a:solidFill>
                  <a:schemeClr val="tx2"/>
                </a:solidFill>
              </a:rPr>
              <a:t>Milestones</a:t>
            </a:r>
            <a:endParaRPr lang="en-US" sz="1500" dirty="0"/>
          </a:p>
        </p:txBody>
      </p:sp>
      <p:sp>
        <p:nvSpPr>
          <p:cNvPr id="8" name="Text 6"/>
          <p:cNvSpPr txBox="1"/>
          <p:nvPr/>
        </p:nvSpPr>
        <p:spPr>
          <a:xfrm>
            <a:off x="731520" y="2404872"/>
            <a:ext cx="3200400" cy="265176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Days 1–3: inbound endpoint, case matching, duplicate guard, transition timestamps</a:t>
            </a:r>
            <a:endParaRPr lang="en-US" sz="1150" dirty="0"/>
          </a:p>
          <a:p>
            <a:pPr marL="177800" indent="-177800">
              <a:spcAft>
                <a:spcPts val="400"/>
              </a:spcAft>
              <a:buSzPct val="100000"/>
              <a:buChar char="•"/>
            </a:pPr>
            <a:r>
              <a:rPr lang="en-US" sz="1150" dirty="0">
                <a:solidFill>
                  <a:schemeClr val="tx1"/>
                </a:solidFill>
              </a:rPr>
              <a:t>Days 4–7: procurement approver role, submission with receipts and staleness check, case closure; one version, then freeze</a:t>
            </a:r>
            <a:endParaRPr lang="en-US" sz="1150" dirty="0"/>
          </a:p>
          <a:p>
            <a:pPr marL="177800" indent="-177800">
              <a:spcAft>
                <a:spcPts val="400"/>
              </a:spcAft>
              <a:buSzPct val="100000"/>
              <a:buChar char="•"/>
            </a:pPr>
            <a:r>
              <a:rPr lang="en-US" sz="1150" dirty="0">
                <a:solidFill>
                  <a:schemeClr val="tx1"/>
                </a:solidFill>
              </a:rPr>
              <a:t>Days 8–12: run the ten frozen tasks, score against sandbox records, publish the engineering report</a:t>
            </a:r>
            <a:endParaRPr lang="en-US" sz="1150" dirty="0"/>
          </a:p>
          <a:p>
            <a:pPr marL="177800" indent="-177800">
              <a:spcAft>
                <a:spcPts val="400"/>
              </a:spcAft>
              <a:buSzPct val="100000"/>
              <a:buChar char="•"/>
            </a:pPr>
            <a:r>
              <a:rPr lang="en-US" sz="1150" dirty="0">
                <a:solidFill>
                  <a:schemeClr val="tx1"/>
                </a:solidFill>
              </a:rPr>
              <a:t>Then: three-arm pilot on 10–20 real exceptions when a partner exists; SAP read on a real tenant; SAP write into existing approval</a:t>
            </a:r>
            <a:endParaRPr lang="en-US" sz="1150" dirty="0"/>
          </a:p>
        </p:txBody>
      </p:sp>
      <p:sp>
        <p:nvSpPr>
          <p:cNvPr id="9" name="Shape 7"/>
          <p:cNvSpPr/>
          <p:nvPr/>
        </p:nvSpPr>
        <p:spPr>
          <a:xfrm>
            <a:off x="4297680" y="1874520"/>
            <a:ext cx="3566160" cy="3291840"/>
          </a:xfrm>
          <a:prstGeom prst="roundRect">
            <a:avLst>
              <a:gd name="adj" fmla="val 1667"/>
            </a:avLst>
          </a:prstGeom>
          <a:solidFill>
            <a:schemeClr val="bg2"/>
          </a:solidFill>
          <a:ln w="9525">
            <a:solidFill>
              <a:srgbClr val="D9E6E1"/>
            </a:solidFill>
            <a:prstDash val="solid"/>
          </a:ln>
        </p:spPr>
      </p:sp>
      <p:sp>
        <p:nvSpPr>
          <p:cNvPr id="10" name="Text 8"/>
          <p:cNvSpPr txBox="1"/>
          <p:nvPr/>
        </p:nvSpPr>
        <p:spPr>
          <a:xfrm>
            <a:off x="4480560" y="2020824"/>
            <a:ext cx="3200400" cy="329184"/>
          </a:xfrm>
          <a:prstGeom prst="rect">
            <a:avLst/>
          </a:prstGeom>
          <a:noFill/>
          <a:ln/>
        </p:spPr>
        <p:txBody>
          <a:bodyPr wrap="square" lIns="0" tIns="0" rIns="0" bIns="0" rtlCol="0" anchor="t"/>
          <a:lstStyle/>
          <a:p>
            <a:pPr indent="0" marL="0">
              <a:buNone/>
            </a:pPr>
            <a:r>
              <a:rPr lang="en-US" sz="1500" b="1" dirty="0">
                <a:solidFill>
                  <a:schemeClr val="tx2"/>
                </a:solidFill>
              </a:rPr>
              <a:t>Resources and dependencies</a:t>
            </a:r>
            <a:endParaRPr lang="en-US" sz="1500" dirty="0"/>
          </a:p>
        </p:txBody>
      </p:sp>
      <p:sp>
        <p:nvSpPr>
          <p:cNvPr id="11" name="Text 9"/>
          <p:cNvSpPr txBox="1"/>
          <p:nvPr/>
        </p:nvSpPr>
        <p:spPr>
          <a:xfrm>
            <a:off x="4480560" y="2404872"/>
            <a:ext cx="3200400" cy="265176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Two builders and two model lanes; no new hires</a:t>
            </a:r>
            <a:endParaRPr lang="en-US" sz="1150" dirty="0"/>
          </a:p>
          <a:p>
            <a:pPr marL="177800" indent="-177800">
              <a:spcAft>
                <a:spcPts val="400"/>
              </a:spcAft>
              <a:buSzPct val="100000"/>
              <a:buChar char="•"/>
            </a:pPr>
            <a:r>
              <a:rPr lang="en-US" sz="1150" dirty="0">
                <a:solidFill>
                  <a:schemeClr val="tx1"/>
                </a:solidFill>
              </a:rPr>
              <a:t>A case mailbox domain, or the inbound simulator until one exists</a:t>
            </a:r>
            <a:endParaRPr lang="en-US" sz="1150" dirty="0"/>
          </a:p>
          <a:p>
            <a:pPr marL="177800" indent="-177800">
              <a:spcAft>
                <a:spcPts val="400"/>
              </a:spcAft>
              <a:buSzPct val="100000"/>
              <a:buChar char="•"/>
            </a:pPr>
            <a:r>
              <a:rPr lang="en-US" sz="1150" dirty="0">
                <a:solidFill>
                  <a:schemeClr val="tx1"/>
                </a:solidFill>
              </a:rPr>
              <a:t>A reachable sandbox host (tunnel for development, a small host for a stable demo)</a:t>
            </a:r>
            <a:endParaRPr lang="en-US" sz="1150" dirty="0"/>
          </a:p>
          <a:p>
            <a:pPr marL="177800" indent="-177800">
              <a:spcAft>
                <a:spcPts val="400"/>
              </a:spcAft>
              <a:buSzPct val="100000"/>
              <a:buChar char="•"/>
            </a:pPr>
            <a:r>
              <a:rPr lang="en-US" sz="1150" dirty="0">
                <a:solidFill>
                  <a:schemeClr val="tx1"/>
                </a:solidFill>
              </a:rPr>
              <a:t>One partner with 10–20 consecutive real exceptions and timestamps</a:t>
            </a:r>
            <a:endParaRPr lang="en-US" sz="1150" dirty="0"/>
          </a:p>
          <a:p>
            <a:pPr marL="177800" indent="-177800">
              <a:spcAft>
                <a:spcPts val="400"/>
              </a:spcAft>
              <a:buSzPct val="100000"/>
              <a:buChar char="•"/>
            </a:pPr>
            <a:r>
              <a:rPr lang="en-US" sz="1150" dirty="0">
                <a:solidFill>
                  <a:schemeClr val="tx1"/>
                </a:solidFill>
              </a:rPr>
              <a:t>An SAP tenant owner to validate the read boundary before phase 2</a:t>
            </a:r>
            <a:endParaRPr lang="en-US" sz="1150" dirty="0"/>
          </a:p>
          <a:p>
            <a:pPr marL="177800" indent="-177800">
              <a:spcAft>
                <a:spcPts val="400"/>
              </a:spcAft>
              <a:buSzPct val="100000"/>
              <a:buChar char="•"/>
            </a:pPr>
            <a:r>
              <a:rPr lang="en-US" sz="1150" dirty="0">
                <a:solidFill>
                  <a:schemeClr val="tx1"/>
                </a:solidFill>
              </a:rPr>
              <a:t>Budget: project cap USD 20; cloud USD 3.03 of 4.00 used; pilot model spend under USD 50</a:t>
            </a:r>
            <a:endParaRPr lang="en-US" sz="1150" dirty="0"/>
          </a:p>
        </p:txBody>
      </p:sp>
      <p:sp>
        <p:nvSpPr>
          <p:cNvPr id="12" name="Shape 10"/>
          <p:cNvSpPr/>
          <p:nvPr/>
        </p:nvSpPr>
        <p:spPr>
          <a:xfrm>
            <a:off x="8046720" y="1874520"/>
            <a:ext cx="3566160" cy="3291840"/>
          </a:xfrm>
          <a:prstGeom prst="roundRect">
            <a:avLst>
              <a:gd name="adj" fmla="val 1667"/>
            </a:avLst>
          </a:prstGeom>
          <a:solidFill>
            <a:schemeClr val="bg2"/>
          </a:solidFill>
          <a:ln w="9525">
            <a:solidFill>
              <a:srgbClr val="D9E6E1"/>
            </a:solidFill>
            <a:prstDash val="solid"/>
          </a:ln>
        </p:spPr>
      </p:sp>
      <p:sp>
        <p:nvSpPr>
          <p:cNvPr id="13" name="Text 11"/>
          <p:cNvSpPr txBox="1"/>
          <p:nvPr/>
        </p:nvSpPr>
        <p:spPr>
          <a:xfrm>
            <a:off x="8229600" y="2020824"/>
            <a:ext cx="3200400" cy="329184"/>
          </a:xfrm>
          <a:prstGeom prst="rect">
            <a:avLst/>
          </a:prstGeom>
          <a:noFill/>
          <a:ln/>
        </p:spPr>
        <p:txBody>
          <a:bodyPr wrap="square" lIns="0" tIns="0" rIns="0" bIns="0" rtlCol="0" anchor="t"/>
          <a:lstStyle/>
          <a:p>
            <a:pPr indent="0" marL="0">
              <a:buNone/>
            </a:pPr>
            <a:r>
              <a:rPr lang="en-US" sz="1500" b="1" dirty="0">
                <a:solidFill>
                  <a:schemeClr val="tx2"/>
                </a:solidFill>
              </a:rPr>
              <a:t>Success criteria and stop rules</a:t>
            </a:r>
            <a:endParaRPr lang="en-US" sz="1500" dirty="0"/>
          </a:p>
        </p:txBody>
      </p:sp>
      <p:sp>
        <p:nvSpPr>
          <p:cNvPr id="14" name="Text 12"/>
          <p:cNvSpPr txBox="1"/>
          <p:nvPr/>
        </p:nvSpPr>
        <p:spPr>
          <a:xfrm>
            <a:off x="8229600" y="2404872"/>
            <a:ext cx="3200400" cy="265176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Engineering: all ten tasks run end to end; zero critical errors; every claim confirmed by sandbox records</a:t>
            </a:r>
            <a:endParaRPr lang="en-US" sz="1150" dirty="0"/>
          </a:p>
          <a:p>
            <a:pPr marL="177800" indent="-177800">
              <a:spcAft>
                <a:spcPts val="400"/>
              </a:spcAft>
              <a:buSzPct val="100000"/>
              <a:buChar char="•"/>
            </a:pPr>
            <a:r>
              <a:rPr lang="en-US" sz="1150" dirty="0">
                <a:solidFill>
                  <a:schemeClr val="tx1"/>
                </a:solidFill>
              </a:rPr>
              <a:t>Business: −30% combined active time versus manual; −15% further versus a strong form; no work shifted to the supplier; errors not worse</a:t>
            </a:r>
            <a:endParaRPr lang="en-US" sz="1150" dirty="0"/>
          </a:p>
          <a:p>
            <a:pPr marL="177800" indent="-177800">
              <a:spcAft>
                <a:spcPts val="400"/>
              </a:spcAft>
              <a:buSzPct val="100000"/>
              <a:buChar char="•"/>
            </a:pPr>
            <a:r>
              <a:rPr lang="en-US" sz="1150" dirty="0">
                <a:solidFill>
                  <a:schemeClr val="tx1"/>
                </a:solidFill>
              </a:rPr>
              <a:t>Stop: forms match → ship the form. Any critical error → suspend automatic submission. Production or transport dominate → no arrival promise</a:t>
            </a:r>
            <a:endParaRPr lang="en-US" sz="1150" dirty="0"/>
          </a:p>
        </p:txBody>
      </p:sp>
      <p:sp>
        <p:nvSpPr>
          <p:cNvPr id="15" name="Shape 13"/>
          <p:cNvSpPr/>
          <p:nvPr/>
        </p:nvSpPr>
        <p:spPr>
          <a:xfrm>
            <a:off x="548640" y="5349240"/>
            <a:ext cx="11064240" cy="868680"/>
          </a:xfrm>
          <a:prstGeom prst="roundRect">
            <a:avLst>
              <a:gd name="adj" fmla="val 6316"/>
            </a:avLst>
          </a:prstGeom>
          <a:solidFill>
            <a:schemeClr val="bg1"/>
          </a:solidFill>
          <a:ln w="12700">
            <a:solidFill>
              <a:srgbClr val="B3261E"/>
            </a:solidFill>
            <a:prstDash val="solid"/>
          </a:ln>
        </p:spPr>
      </p:sp>
      <p:sp>
        <p:nvSpPr>
          <p:cNvPr id="16" name="Text 14"/>
          <p:cNvSpPr txBox="1"/>
          <p:nvPr/>
        </p:nvSpPr>
        <p:spPr>
          <a:xfrm>
            <a:off x="822960" y="5458968"/>
            <a:ext cx="10515600" cy="685800"/>
          </a:xfrm>
          <a:prstGeom prst="rect">
            <a:avLst/>
          </a:prstGeom>
          <a:noFill/>
          <a:ln/>
        </p:spPr>
        <p:txBody>
          <a:bodyPr wrap="square" lIns="0" tIns="0" rIns="0" bIns="0" rtlCol="0" anchor="t"/>
          <a:lstStyle/>
          <a:p>
            <a:pPr indent="0" marL="0">
              <a:buNone/>
            </a:pPr>
            <a:r>
              <a:rPr lang="en-US" sz="1200" b="1" dirty="0">
                <a:solidFill>
                  <a:schemeClr val="accent3"/>
                </a:solidFill>
              </a:rPr>
              <a:t>Top risks.  </a:t>
            </a:r>
            <a:pPr indent="0" marL="0">
              <a:buNone/>
            </a:pPr>
            <a:r>
              <a:rPr lang="en-US" sz="1200" dirty="0">
                <a:solidFill>
                  <a:schemeClr val="tx1"/>
                </a:solidFill>
              </a:rPr>
              <a:t>No partner appears, so business validation never starts; the sandbox is mistaken for SAP; the ten tasks are read as a blinded test when they are not. Each is named in the report before anyone else names it.</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we ask of this panel</a:t>
            </a:r>
            <a:endParaRPr lang="en-US" sz="3200" dirty="0"/>
          </a:p>
        </p:txBody>
      </p:sp>
      <p:sp>
        <p:nvSpPr>
          <p:cNvPr id="3" name="Shape 1"/>
          <p:cNvSpPr/>
          <p:nvPr/>
        </p:nvSpPr>
        <p:spPr>
          <a:xfrm>
            <a:off x="548640" y="1508760"/>
            <a:ext cx="5440680" cy="1600200"/>
          </a:xfrm>
          <a:prstGeom prst="roundRect">
            <a:avLst>
              <a:gd name="adj" fmla="val 3429"/>
            </a:avLst>
          </a:prstGeom>
          <a:solidFill>
            <a:schemeClr val="tx2"/>
          </a:solidFill>
          <a:ln w="12700">
            <a:solidFill>
              <a:srgbClr val="0F5C4D"/>
            </a:solidFill>
            <a:prstDash val="solid"/>
          </a:ln>
        </p:spPr>
      </p:sp>
      <p:sp>
        <p:nvSpPr>
          <p:cNvPr id="4" name="Text 2"/>
          <p:cNvSpPr txBox="1"/>
          <p:nvPr/>
        </p:nvSpPr>
        <p:spPr>
          <a:xfrm>
            <a:off x="777240" y="1691640"/>
            <a:ext cx="4983480" cy="320040"/>
          </a:xfrm>
          <a:prstGeom prst="rect">
            <a:avLst/>
          </a:prstGeom>
          <a:noFill/>
          <a:ln/>
        </p:spPr>
        <p:txBody>
          <a:bodyPr wrap="square" lIns="0" tIns="0" rIns="0" bIns="0" rtlCol="0" anchor="t"/>
          <a:lstStyle/>
          <a:p>
            <a:pPr indent="0" marL="0">
              <a:buNone/>
            </a:pPr>
            <a:r>
              <a:rPr lang="en-US" sz="1500" b="1" dirty="0">
                <a:solidFill>
                  <a:schemeClr val="accent6"/>
                </a:solidFill>
              </a:rPr>
              <a:t>Software development</a:t>
            </a:r>
            <a:endParaRPr lang="en-US" sz="1500" dirty="0"/>
          </a:p>
        </p:txBody>
      </p:sp>
      <p:sp>
        <p:nvSpPr>
          <p:cNvPr id="5" name="Text 3"/>
          <p:cNvSpPr txBox="1"/>
          <p:nvPr/>
        </p:nvSpPr>
        <p:spPr>
          <a:xfrm>
            <a:off x="777240" y="2057400"/>
            <a:ext cx="4983480" cy="960120"/>
          </a:xfrm>
          <a:prstGeom prst="rect">
            <a:avLst/>
          </a:prstGeom>
          <a:noFill/>
          <a:ln/>
        </p:spPr>
        <p:txBody>
          <a:bodyPr wrap="square" lIns="0" tIns="0" rIns="0" bIns="0" rtlCol="0" anchor="t"/>
          <a:lstStyle/>
          <a:p>
            <a:pPr indent="0" marL="0">
              <a:buNone/>
            </a:pPr>
            <a:r>
              <a:rPr lang="en-US" sz="1300" dirty="0">
                <a:solidFill>
                  <a:schemeClr val="bg1"/>
                </a:solidFill>
              </a:rPr>
              <a:t>Review the sandbox contract and the SAP boundary; agree the production-gap list as the definition of done for phase 2.</a:t>
            </a:r>
            <a:endParaRPr lang="en-US" sz="1300" dirty="0"/>
          </a:p>
        </p:txBody>
      </p:sp>
      <p:sp>
        <p:nvSpPr>
          <p:cNvPr id="6" name="Shape 4"/>
          <p:cNvSpPr/>
          <p:nvPr/>
        </p:nvSpPr>
        <p:spPr>
          <a:xfrm>
            <a:off x="6172200" y="1508760"/>
            <a:ext cx="5440680" cy="1600200"/>
          </a:xfrm>
          <a:prstGeom prst="roundRect">
            <a:avLst>
              <a:gd name="adj" fmla="val 3429"/>
            </a:avLst>
          </a:prstGeom>
          <a:solidFill>
            <a:schemeClr val="tx2"/>
          </a:solidFill>
          <a:ln w="12700">
            <a:solidFill>
              <a:srgbClr val="0F5C4D"/>
            </a:solidFill>
            <a:prstDash val="solid"/>
          </a:ln>
        </p:spPr>
      </p:sp>
      <p:sp>
        <p:nvSpPr>
          <p:cNvPr id="7" name="Text 5"/>
          <p:cNvSpPr txBox="1"/>
          <p:nvPr/>
        </p:nvSpPr>
        <p:spPr>
          <a:xfrm>
            <a:off x="6400800" y="1691640"/>
            <a:ext cx="4983480" cy="320040"/>
          </a:xfrm>
          <a:prstGeom prst="rect">
            <a:avLst/>
          </a:prstGeom>
          <a:noFill/>
          <a:ln/>
        </p:spPr>
        <p:txBody>
          <a:bodyPr wrap="square" lIns="0" tIns="0" rIns="0" bIns="0" rtlCol="0" anchor="t"/>
          <a:lstStyle/>
          <a:p>
            <a:pPr indent="0" marL="0">
              <a:buNone/>
            </a:pPr>
            <a:r>
              <a:rPr lang="en-US" sz="1500" b="1" dirty="0">
                <a:solidFill>
                  <a:schemeClr val="accent6"/>
                </a:solidFill>
              </a:rPr>
              <a:t>Marketing</a:t>
            </a:r>
            <a:endParaRPr lang="en-US" sz="1500" dirty="0"/>
          </a:p>
        </p:txBody>
      </p:sp>
      <p:sp>
        <p:nvSpPr>
          <p:cNvPr id="8" name="Text 6"/>
          <p:cNvSpPr txBox="1"/>
          <p:nvPr/>
        </p:nvSpPr>
        <p:spPr>
          <a:xfrm>
            <a:off x="6400800" y="2057400"/>
            <a:ext cx="4983480" cy="960120"/>
          </a:xfrm>
          <a:prstGeom prst="rect">
            <a:avLst/>
          </a:prstGeom>
          <a:noFill/>
          <a:ln/>
        </p:spPr>
        <p:txBody>
          <a:bodyPr wrap="square" lIns="0" tIns="0" rIns="0" bIns="0" rtlCol="0" anchor="t"/>
          <a:lstStyle/>
          <a:p>
            <a:pPr indent="0" marL="0">
              <a:buNone/>
            </a:pPr>
            <a:r>
              <a:rPr lang="en-US" sz="1300" dirty="0">
                <a:solidFill>
                  <a:schemeClr val="bg1"/>
                </a:solidFill>
              </a:rPr>
              <a:t>Approve the one-sentence positioning and the four withdrawn claims; agree that "hidden demand recovery" is not said.</a:t>
            </a:r>
            <a:endParaRPr lang="en-US" sz="1300" dirty="0"/>
          </a:p>
        </p:txBody>
      </p:sp>
      <p:sp>
        <p:nvSpPr>
          <p:cNvPr id="9" name="Shape 7"/>
          <p:cNvSpPr/>
          <p:nvPr/>
        </p:nvSpPr>
        <p:spPr>
          <a:xfrm>
            <a:off x="548640" y="3291840"/>
            <a:ext cx="5440680" cy="1600200"/>
          </a:xfrm>
          <a:prstGeom prst="roundRect">
            <a:avLst>
              <a:gd name="adj" fmla="val 3429"/>
            </a:avLst>
          </a:prstGeom>
          <a:solidFill>
            <a:schemeClr val="tx2"/>
          </a:solidFill>
          <a:ln w="12700">
            <a:solidFill>
              <a:srgbClr val="0F5C4D"/>
            </a:solidFill>
            <a:prstDash val="solid"/>
          </a:ln>
        </p:spPr>
      </p:sp>
      <p:sp>
        <p:nvSpPr>
          <p:cNvPr id="10" name="Text 8"/>
          <p:cNvSpPr txBox="1"/>
          <p:nvPr/>
        </p:nvSpPr>
        <p:spPr>
          <a:xfrm>
            <a:off x="777240" y="3474720"/>
            <a:ext cx="4983480" cy="320040"/>
          </a:xfrm>
          <a:prstGeom prst="rect">
            <a:avLst/>
          </a:prstGeom>
          <a:noFill/>
          <a:ln/>
        </p:spPr>
        <p:txBody>
          <a:bodyPr wrap="square" lIns="0" tIns="0" rIns="0" bIns="0" rtlCol="0" anchor="t"/>
          <a:lstStyle/>
          <a:p>
            <a:pPr indent="0" marL="0">
              <a:buNone/>
            </a:pPr>
            <a:r>
              <a:rPr lang="en-US" sz="1500" b="1" dirty="0">
                <a:solidFill>
                  <a:schemeClr val="accent6"/>
                </a:solidFill>
              </a:rPr>
              <a:t>Finance</a:t>
            </a:r>
            <a:endParaRPr lang="en-US" sz="1500" dirty="0"/>
          </a:p>
        </p:txBody>
      </p:sp>
      <p:sp>
        <p:nvSpPr>
          <p:cNvPr id="11" name="Text 9"/>
          <p:cNvSpPr txBox="1"/>
          <p:nvPr/>
        </p:nvSpPr>
        <p:spPr>
          <a:xfrm>
            <a:off x="777240" y="3840480"/>
            <a:ext cx="4983480" cy="960120"/>
          </a:xfrm>
          <a:prstGeom prst="rect">
            <a:avLst/>
          </a:prstGeom>
          <a:noFill/>
          <a:ln/>
        </p:spPr>
        <p:txBody>
          <a:bodyPr wrap="square" lIns="0" tIns="0" rIns="0" bIns="0" rtlCol="0" anchor="t"/>
          <a:lstStyle/>
          <a:p>
            <a:pPr indent="0" marL="0">
              <a:buNone/>
            </a:pPr>
            <a:r>
              <a:rPr lang="en-US" sz="1300" dirty="0">
                <a:solidFill>
                  <a:schemeClr val="bg1"/>
                </a:solidFill>
              </a:rPr>
              <a:t>Accept that costs are reported as measured and savings as hypotheses until the pilot; help size the integration scoping engagement.</a:t>
            </a:r>
            <a:endParaRPr lang="en-US" sz="1300" dirty="0"/>
          </a:p>
        </p:txBody>
      </p:sp>
      <p:sp>
        <p:nvSpPr>
          <p:cNvPr id="12" name="Shape 10"/>
          <p:cNvSpPr/>
          <p:nvPr/>
        </p:nvSpPr>
        <p:spPr>
          <a:xfrm>
            <a:off x="6172200" y="3291840"/>
            <a:ext cx="5440680" cy="1600200"/>
          </a:xfrm>
          <a:prstGeom prst="roundRect">
            <a:avLst>
              <a:gd name="adj" fmla="val 3429"/>
            </a:avLst>
          </a:prstGeom>
          <a:solidFill>
            <a:schemeClr val="tx2"/>
          </a:solidFill>
          <a:ln w="12700">
            <a:solidFill>
              <a:srgbClr val="0F5C4D"/>
            </a:solidFill>
            <a:prstDash val="solid"/>
          </a:ln>
        </p:spPr>
      </p:sp>
      <p:sp>
        <p:nvSpPr>
          <p:cNvPr id="13" name="Text 11"/>
          <p:cNvSpPr txBox="1"/>
          <p:nvPr/>
        </p:nvSpPr>
        <p:spPr>
          <a:xfrm>
            <a:off x="6400800" y="3474720"/>
            <a:ext cx="4983480" cy="320040"/>
          </a:xfrm>
          <a:prstGeom prst="rect">
            <a:avLst/>
          </a:prstGeom>
          <a:noFill/>
          <a:ln/>
        </p:spPr>
        <p:txBody>
          <a:bodyPr wrap="square" lIns="0" tIns="0" rIns="0" bIns="0" rtlCol="0" anchor="t"/>
          <a:lstStyle/>
          <a:p>
            <a:pPr indent="0" marL="0">
              <a:buNone/>
            </a:pPr>
            <a:r>
              <a:rPr lang="en-US" sz="1500" b="1" dirty="0">
                <a:solidFill>
                  <a:schemeClr val="accent6"/>
                </a:solidFill>
              </a:rPr>
              <a:t>Product strategy</a:t>
            </a:r>
            <a:endParaRPr lang="en-US" sz="1500" dirty="0"/>
          </a:p>
        </p:txBody>
      </p:sp>
      <p:sp>
        <p:nvSpPr>
          <p:cNvPr id="14" name="Text 12"/>
          <p:cNvSpPr txBox="1"/>
          <p:nvPr/>
        </p:nvSpPr>
        <p:spPr>
          <a:xfrm>
            <a:off x="6400800" y="3840480"/>
            <a:ext cx="4983480" cy="960120"/>
          </a:xfrm>
          <a:prstGeom prst="rect">
            <a:avLst/>
          </a:prstGeom>
          <a:noFill/>
          <a:ln/>
        </p:spPr>
        <p:txBody>
          <a:bodyPr wrap="square" lIns="0" tIns="0" rIns="0" bIns="0" rtlCol="0" anchor="t"/>
          <a:lstStyle/>
          <a:p>
            <a:pPr indent="0" marL="0">
              <a:buNone/>
            </a:pPr>
            <a:r>
              <a:rPr lang="en-US" sz="1300" dirty="0">
                <a:solidFill>
                  <a:schemeClr val="bg1"/>
                </a:solidFill>
              </a:rPr>
              <a:t>Approve the gated roadmap and the six stop conditions; help find one partner for ten to twenty consecutive real exceptions.</a:t>
            </a:r>
            <a:endParaRPr lang="en-US" sz="1300" dirty="0"/>
          </a:p>
        </p:txBody>
      </p:sp>
      <p:sp>
        <p:nvSpPr>
          <p:cNvPr id="15" name="Text 13"/>
          <p:cNvSpPr txBox="1"/>
          <p:nvPr/>
        </p:nvSpPr>
        <p:spPr>
          <a:xfrm>
            <a:off x="548640" y="5166360"/>
            <a:ext cx="5486400" cy="320040"/>
          </a:xfrm>
          <a:prstGeom prst="rect">
            <a:avLst/>
          </a:prstGeom>
          <a:noFill/>
          <a:ln/>
        </p:spPr>
        <p:txBody>
          <a:bodyPr wrap="square" lIns="0" tIns="0" rIns="0" bIns="0" rtlCol="0" anchor="t"/>
          <a:lstStyle/>
          <a:p>
            <a:pPr indent="0" marL="0">
              <a:buNone/>
            </a:pPr>
            <a:r>
              <a:rPr lang="en-US" sz="1300" b="1" dirty="0">
                <a:solidFill>
                  <a:schemeClr val="accent6"/>
                </a:solidFill>
              </a:rPr>
              <a:t>Next twelve days if approved</a:t>
            </a:r>
            <a:endParaRPr lang="en-US" sz="1300" dirty="0"/>
          </a:p>
        </p:txBody>
      </p:sp>
      <p:sp>
        <p:nvSpPr>
          <p:cNvPr id="16" name="Text 14"/>
          <p:cNvSpPr txBox="1"/>
          <p:nvPr/>
        </p:nvSpPr>
        <p:spPr>
          <a:xfrm>
            <a:off x="548640" y="5486400"/>
            <a:ext cx="11064240" cy="868680"/>
          </a:xfrm>
          <a:prstGeom prst="rect">
            <a:avLst/>
          </a:prstGeom>
          <a:noFill/>
          <a:ln/>
        </p:spPr>
        <p:txBody>
          <a:bodyPr wrap="square" lIns="0" tIns="0" rIns="0" bIns="0" rtlCol="0" anchor="t"/>
          <a:lstStyle/>
          <a:p>
            <a:pPr indent="0" marL="0">
              <a:buNone/>
            </a:pPr>
            <a:r>
              <a:rPr lang="en-US" sz="1250" dirty="0">
                <a:solidFill>
                  <a:schemeClr val="bg1"/>
                </a:solidFill>
              </a:rPr>
              <a:t>Days 1–3: inbound endpoint, case matching, duplicate guard, transition timestamps.  Days 4–7: procurement approver role, submission with receipts and staleness check, case closure; one version, then freeze.  Days 8–12: run the ten frozen tasks, score against sandbox records, publish the engineering report. Business validation starts only when a partner provides real tasks.</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Demand Pulse Evidence">
  <a:themeElements>
    <a:clrScheme name="Demand Pulse Evidence">
      <a:dk1>
        <a:srgbClr val="14353A"/>
      </a:dk1>
      <a:lt1>
        <a:srgbClr val="FFFFFF"/>
      </a:lt1>
      <a:dk2>
        <a:srgbClr val="0F5C4D"/>
      </a:dk2>
      <a:lt2>
        <a:srgbClr val="EEF4F2"/>
      </a:lt2>
      <a:accent1>
        <a:srgbClr val="16765F"/>
      </a:accent1>
      <a:accent2>
        <a:srgbClr val="C8781E"/>
      </a:accent2>
      <a:accent3>
        <a:srgbClr val="B3261E"/>
      </a:accent3>
      <a:accent4>
        <a:srgbClr val="557078"/>
      </a:accent4>
      <a:accent5>
        <a:srgbClr val="D9E6E1"/>
      </a:accent5>
      <a:accent6>
        <a:srgbClr val="9AB7AE"/>
      </a:accent6>
      <a:hlink>
        <a:srgbClr val="0F5C4D"/>
      </a:hlink>
      <a:folHlink>
        <a:srgbClr val="557078"/>
      </a:folHlink>
    </a:clrScheme>
    <a:fontScheme name="Demand Pulse Evid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Demand Pulse business case</dc:title>
  <dc:subject>Internal stakeholder review</dc:subject>
  <dc:creator>The J Collective</dc:creator>
  <cp:lastModifiedBy>The J Collective</cp:lastModifiedBy>
  <cp:revision>1</cp:revision>
  <dcterms:created xsi:type="dcterms:W3CDTF">2026-10-25T12:07:00Z</dcterms:created>
  <dcterms:modified xsi:type="dcterms:W3CDTF">2026-10-25T12:07:00Z</dcterms:modified>
</cp:coreProperties>
</file>