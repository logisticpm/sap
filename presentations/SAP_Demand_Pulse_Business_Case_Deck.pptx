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1.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mand Pulse business case" id="{24503715-4694-bc0c-175b-f36748674740}">
          <p14:sldIdLst/>
        </p14:section>
        <p14:section name="Default-1" id="{61ed5780-b576-2797-3fd3-fcaa7e15b417}">
          <p14:sldIdLst>
            <p14:sldId id="256"/>
            <p14:sldId id="257"/>
            <p14:sldId id="258"/>
            <p14:sldId id="259"/>
            <p14:sldId id="260"/>
            <p14:sldId id="261"/>
            <p14:sldId id="262"/>
            <p14:sldId id="263"/>
            <p14:sldId id="264"/>
            <p14:sldId id="265"/>
            <p14:sldId id="266"/>
            <p14:sldId id="267"/>
            <p14:sldId id="268"/>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4353A"/>
                </a:solidFill>
                <a:latin typeface="+mn-lt"/>
              </a:defRPr>
            </a:pPr>
            <a:r>
              <a:rPr sz="1200" b="0" i="0" u="none" strike="noStrike">
                <a:solidFill>
                  <a:srgbClr val="14353A"/>
                </a:solidFill>
                <a:latin typeface="+mn-lt"/>
              </a:rPr>
              <a:t>Model cost per exception, USD (real calls, synthetic items)</a:t>
            </a:r>
          </a:p>
        </c:rich>
      </c:tx>
      <c:layout/>
      <c:overlay val="0"/>
    </c:title>
    <c:autoTitleDeleted val="0"/>
    <c:plotArea>
      <c:layout/>
      <c:barChart>
        <c:barDir val="col"/>
        <c:grouping val="stacked"/>
        <c:varyColors val="0"/>
        <c:ser>
          <c:idx val="0"/>
          <c:order val="0"/>
          <c:tx>
            <c:strRef>
              <c:f>Sheet1!$B$1</c:f>
              <c:strCache>
                <c:ptCount val="1"/>
                <c:pt idx="0">
                  <c:v>Initial review</c:v>
                </c:pt>
              </c:strCache>
            </c:strRef>
          </c:tx>
          <c:spPr>
            <a:solidFill>
              <a:srgbClr val="16765F"/>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c:v>
                  </c:pt>
                  <c:pt idx="1">
                    <c:v>Item B</c:v>
                  </c:pt>
                  <c:pt idx="2">
                    <c:v>Item C</c:v>
                  </c:pt>
                </c:lvl>
              </c:multiLvlStrCache>
            </c:multiLvlStrRef>
          </c:cat>
          <c:val>
            <c:numRef>
              <c:f>Sheet1!$B$2:$B$4</c:f>
              <c:numCache>
                <c:formatCode>General</c:formatCode>
                <c:ptCount val="3"/>
                <c:pt idx="0">
                  <c:v>0.475</c:v>
                </c:pt>
                <c:pt idx="1">
                  <c:v>0.359</c:v>
                </c:pt>
                <c:pt idx="2">
                  <c:v>0.277</c:v>
                </c:pt>
              </c:numCache>
            </c:numRef>
          </c:val>
        </c:ser>
        <c:ser>
          <c:idx val="1"/>
          <c:order val="1"/>
          <c:tx>
            <c:strRef>
              <c:f>Sheet1!$C$1</c:f>
              <c:strCache>
                <c:ptCount val="1"/>
                <c:pt idx="0">
                  <c:v>Correction</c:v>
                </c:pt>
              </c:strCache>
            </c:strRef>
          </c:tx>
          <c:spPr>
            <a:solidFill>
              <a:srgbClr val="C8781E"/>
            </a:solidFill>
            <a:effectLst/>
          </c:spPr>
          <c:invertIfNegative val="0"/>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cat>
            <c:multiLvlStrRef>
              <c:f>Sheet1!$A$2:$A$4</c:f>
              <c:multiLvlStrCache>
                <c:ptCount val="3"/>
                <c:lvl>
                  <c:pt idx="0">
                    <c:v>Item A</c:v>
                  </c:pt>
                  <c:pt idx="1">
                    <c:v>Item B</c:v>
                  </c:pt>
                  <c:pt idx="2">
                    <c:v>Item C</c:v>
                  </c:pt>
                </c:lvl>
              </c:multiLvlStrCache>
            </c:multiLvlStrRef>
          </c:cat>
          <c:val>
            <c:numRef>
              <c:f>Sheet1!$C$2:$C$4</c:f>
              <c:numCache>
                <c:formatCode>General</c:formatCode>
                <c:ptCount val="3"/>
                <c:pt idx="0">
                  <c:v>0.085</c:v>
                </c:pt>
                <c:pt idx="1">
                  <c:v>0</c:v>
                </c:pt>
                <c:pt idx="2">
                  <c:v>0.063</c:v>
                </c:pt>
              </c:numCache>
            </c:numRef>
          </c:val>
        </c:ser>
        <c:dLbls>
          <c:numFmt formatCode="$0.000;;" sourceLinked="0"/>
          <c:txPr>
            <a:bodyPr/>
            <a:lstStyle/>
            <a:p>
              <a:pPr>
                <a:defRPr b="0" i="0" strike="noStrike" sz="1000" u="none">
                  <a:solidFill>
                    <a:srgbClr val="FFFFFF"/>
                  </a:solidFill>
                  <a:latin typeface="+mn-lt"/>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4353A"/>
                </a:solidFill>
                <a:latin typeface="+mn-lt"/>
              </a:defRPr>
            </a:pPr>
            <a:endParaRPr lang="en-US"/>
          </a:p>
        </c:txPr>
        <c:crossAx val="2094734552"/>
        <c:crosses val="autoZero"/>
        <c:auto val="1"/>
        <c:lblAlgn val="ctr"/>
        <c:noMultiLvlLbl val="1"/>
      </c:catAx>
      <c:valAx>
        <c:axId val="2094734552"/>
        <c:scaling>
          <c:orientation val="minMax"/>
          <c:max val="0.6"/>
        </c:scaling>
        <c:delete val="0"/>
        <c:axPos val="l"/>
        <c:majorGridlines>
          <c:spPr>
            <a:ln w="6350" cap="flat">
              <a:solidFill>
                <a:srgbClr val="D9E6E1"/>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57078"/>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4353A"/>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[0:00–0:10] Say the boundary out loud in three sentences: every business fact is synthetic; the procurement target is a sandbox that says 'not SAP connected' on every response; model costs are measured, savings and profit are hypotheses a pilot is designed to test. We would rather you hear that from us. Then the three beats: the problem is a handoff, not a forecast; the model reads while rules decide and humans authorise; we have said in advance how we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[0:10–0:35] Problem definition, twenty percent. Start with the pulse: a stockout during a promotion, a spike, a short shipment. Two users: the planner who owns the shelf, the coordinator who owns the truck. Five steps; the red ones are where the decision goes wrong: whether the signal is worth pursuing is judged by gut with nothing on record, the supplier's reply is free-form, and nothing reaches procurement in a form it can act on. CASE-1042 is the instance we built against. Workflow synthesised from desk research; planner interviews are the first pilot activity.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[0:35–0:55] Four numbers. The real SAP log gives the baseline: 9.3 days median, about twelve percent of it in steps a coordination tool can compress; simulation on that log gives five to eleven percent. The regulator study gives the supplier's view. The last number is ours and negative: at equal waste, the demand-recovery policy lost, which is why we stopped forecasting and chose the handoff. Say what is missing: planner interviews, frequency.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[0:55–1:15] Product solution, twenty percent. Three moves in order. One: the demand evidence gate gives a cited continue, clarify or pause on the retailer's own records; only a current continue opens investigation; it judges whether the evidence supports pursuing supply and never estimates unrecorded demand. Two: the supplier's reply is read, cited, rule-validated and authorised by the supplier before the planner sees it. Three: the decision lands as a change draft to procurement approval, a keep, or a wait with an owner. Dwell on WAIT. Quantity comes only from approved requests or an explicit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[1:15–1:35] Improvement over alternatives, feature priority, adoption, value against cost. Read by rows. Incumbents: SAP Business Network Assistant, SourceDay, Microsoft Procurement Agent cover adjacent steps; four of our earlier differentiation claims were withdrawn after that check. Dwell on the form column: it may be enough, and the pilot will tell us before we scale.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[1:35–1:55] Prototype, twenty percent, with the demo. The loop starts with the demand signal and the gate, then the supplier reply. The answer to 'is it just AI': the model reads and drafts, a deterministic rule layer validates every output in the same handler production uses, humans hold every commercial authority. Point at the dashed gate. Be straight about the two ends: the email arrives through a simulated test intake behind the same validator a real mailbox would use, and the receipt lives in a procurement sandbox, not SAP. They ran in two retained real-model tests, which the video replays; one connected run on a single task is still to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[1:55–4:55 · VIDEO 3:00] Before pressing play, one sentence: 'The prototype demonstrates these stages in two retained tests; one connected task-level validation remains to be done.' Then click once; three minutes, own narration, natural speed. Six chapters: 0:00 demand evidence gate, retained test A: a stockout traced to a feed outage, the Agent pauses; a later physical stockout with unfulfilled requests, the Agent recommends continue, quantity unknown, the planner re-authorises investigation. 0:41 supplier response, separate retained test B: an earlier refusal explicitly withdrawn, the Agent cites the revision; receiving and QA still unconfirmed. 1:16 two targeted questions, prepared not sent; supplier authorises what is shared. 1:41 planner disposition: retain 360 cases, add 0, a recorded decision. 2:06 this disposition followed the demo's separate approval path; receipt SBX-PR-3C6BEEEE62CB, refreshed and read back; not every KEEP needs approval, routing follows the retailer's policy. 2:36 close: Agent interprets, people authorise. If sound fails, narrate the chapter titles over the picture.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[4:55–5:10] Fifteen seconds, point only. Four labels used on every slide, each with what it cannot establish. The table says what each artefact does not prove; the in-progress reply flow is deliberately not used as evidence.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[5:10–5:35] Stakeholder alignment: acknowledge limitations before they are raised. Three real failures from our runs, what caught each, and the rule that now exists because of it. This is why the correction loop and preserved records matter more than any single good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[5:35–5:55] Value against cost. Model cost measured on real calls: under one dollar per exception. The cloud ledger and the project cap. One of three items failed semantic review and was repaired. Everything on the savings side is a hypothesis the pilot measures; pilot model spend for ten to twenty exceptions across three arms is under fifty dollars.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[5:55–6:30] Stakeholder alignment, twenty percent. One row per function: what they need, what we chose, what we gave up, how firm the evidence is. Then the gates: each is one function's condition. Limitations we own: no measured value, a sandbox that is not SAP, acceptance tasks authored on the development side, model prose that can pass checks and still be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[6:30–7:00] Implementation plan, ten percent. The twelve days produce an engineering report, never a business number. Business validation starts only when a partner provides real tasks. Measurable criteria are pre-set and frozen; the stop rules are the losing conditions in short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[7:00–7:25] Twenty seconds. Today is a pilot of one loop. If it passes, the same loop covers every plan-change exception on a real SAP landscape, with replies through Business Network and a decision log that makes time-to-decision a KPI. The long view is the Retail Response Network: a supplier answers once and the checked evidence reaches every retailer it serves, with consent, through Joule. Say clearly: vision is context, not scope, and nothing here is agreed with SAP.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[7:25–7:50 · 10 s buffer] Close on a recommendation, not on requests the panel cannot grant. Three steps, each with its own gate. Then the three sentences on the slide, slowly.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4"/>
                </a:solidFill>
              </a:rPr>
              <a:t>Demand Pulse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4353A"/>
        </a:solidFill>
      </p:bgPr>
    </p:bg>
    <p:spTree>
      <p:nvGrpSpPr>
        <p:cNvPr id="1" name=""/>
        <p:cNvGrpSpPr/>
        <p:nvPr/>
      </p:nvGrpSpPr>
      <p:grpSpPr>
        <a:xfrm>
          <a:off x="0" y="0"/>
          <a:ext cx="0" cy="0"/>
          <a:chOff x="0" y="0"/>
          <a:chExt cx="0" cy="0"/>
        </a:xfrm>
      </p:grpSpPr>
      <p:sp>
        <p:nvSpPr>
          <p:cNvPr id="2" name="Text 0"/>
          <p:cNvSpPr/>
          <p:nvPr/>
        </p:nvSpPr>
        <p:spPr>
          <a:xfrm>
            <a:off x="548640" y="6419088"/>
            <a:ext cx="9692640" cy="274320"/>
          </a:xfrm>
          <a:prstGeom prst="rect">
            <a:avLst/>
          </a:prstGeom>
          <a:noFill/>
          <a:ln/>
        </p:spPr>
        <p:txBody>
          <a:bodyPr wrap="square" lIns="0" tIns="0" rIns="0" bIns="0" rtlCol="0" anchor="ctr"/>
          <a:lstStyle/>
          <a:p>
            <a:pPr indent="0" marL="0">
              <a:buNone/>
            </a:pPr>
            <a:r>
              <a:rPr lang="en-US" sz="1000" dirty="0">
                <a:solidFill>
                  <a:schemeClr val="accent6"/>
                </a:solidFill>
              </a:rPr>
              <a:t>Demand Pulse · synthetic business facts · procurement sandbox, not SAP connected</a:t>
            </a:r>
            <a:endParaRPr lang="en-US" sz="10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video" Target="../media/media-7-1.mp4"/><Relationship Id="rId2" Type="http://schemas.microsoft.com/office/2007/relationships/media" Target="../media/media-7-1.mp4"/><Relationship Id="rId3" Type="http://schemas.openxmlformats.org/officeDocument/2006/relationships/image" Target="../media/image-7-3.png"/><Relationship Id="rId4" Type="http://schemas.openxmlformats.org/officeDocument/2006/relationships/slideLayout" Target="../slideLayouts/slideLayout3.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463040"/>
            <a:ext cx="10972800" cy="1005840"/>
          </a:xfrm>
          <a:prstGeom prst="rect">
            <a:avLst/>
          </a:prstGeom>
          <a:noFill/>
          <a:ln/>
        </p:spPr>
        <p:txBody>
          <a:bodyPr wrap="square" lIns="0" tIns="0" rIns="0" bIns="0" rtlCol="0" anchor="t"/>
          <a:lstStyle/>
          <a:p>
            <a:pPr indent="0" marL="0">
              <a:buNone/>
            </a:pPr>
            <a:r>
              <a:rPr lang="en-US" sz="5600" b="1" dirty="0">
                <a:solidFill>
                  <a:schemeClr val="bg1"/>
                </a:solidFill>
                <a:latin typeface="Cambria" pitchFamily="34" charset="0"/>
                <a:ea typeface="Cambria" pitchFamily="34" charset="-122"/>
                <a:cs typeface="Cambria" pitchFamily="34" charset="-120"/>
              </a:rPr>
              <a:t>Demand Pulse</a:t>
            </a:r>
            <a:endParaRPr lang="en-US" sz="5600" dirty="0"/>
          </a:p>
        </p:txBody>
      </p:sp>
      <p:sp>
        <p:nvSpPr>
          <p:cNvPr id="3" name="Text 1"/>
          <p:cNvSpPr txBox="1"/>
          <p:nvPr/>
        </p:nvSpPr>
        <p:spPr>
          <a:xfrm>
            <a:off x="548640" y="2560320"/>
            <a:ext cx="11064240" cy="914400"/>
          </a:xfrm>
          <a:prstGeom prst="rect">
            <a:avLst/>
          </a:prstGeom>
          <a:noFill/>
          <a:ln/>
        </p:spPr>
        <p:txBody>
          <a:bodyPr wrap="square" lIns="0" tIns="0" rIns="0" bIns="0" rtlCol="0" anchor="t"/>
          <a:lstStyle/>
          <a:p>
            <a:pPr indent="0" marL="0">
              <a:buNone/>
            </a:pPr>
            <a:r>
              <a:rPr lang="en-US" sz="2300" dirty="0">
                <a:solidFill>
                  <a:schemeClr val="accent6"/>
                </a:solidFill>
              </a:rPr>
              <a:t>From demand signal to procurement decision: evidence-checked, human-approved</a:t>
            </a:r>
            <a:endParaRPr lang="en-US" sz="2300" dirty="0"/>
          </a:p>
        </p:txBody>
      </p:sp>
      <p:sp>
        <p:nvSpPr>
          <p:cNvPr id="4" name="Text 2"/>
          <p:cNvSpPr txBox="1"/>
          <p:nvPr/>
        </p:nvSpPr>
        <p:spPr>
          <a:xfrm>
            <a:off x="548640" y="3657600"/>
            <a:ext cx="10058400" cy="365760"/>
          </a:xfrm>
          <a:prstGeom prst="rect">
            <a:avLst/>
          </a:prstGeom>
          <a:noFill/>
          <a:ln/>
        </p:spPr>
        <p:txBody>
          <a:bodyPr wrap="square" lIns="0" tIns="0" rIns="0" bIns="0" rtlCol="0" anchor="t"/>
          <a:lstStyle/>
          <a:p>
            <a:pPr indent="0" marL="0">
              <a:buNone/>
            </a:pPr>
            <a:r>
              <a:rPr lang="en-US" sz="1400" dirty="0">
                <a:solidFill>
                  <a:schemeClr val="accent6"/>
                </a:solidFill>
              </a:rPr>
              <a:t>The J Collective  ·  internal stakeholder review  ·  25 October 2026</a:t>
            </a:r>
            <a:endParaRPr lang="en-US" sz="1400" dirty="0"/>
          </a:p>
        </p:txBody>
      </p:sp>
      <p:sp>
        <p:nvSpPr>
          <p:cNvPr id="5" name="Shape 3"/>
          <p:cNvSpPr/>
          <p:nvPr/>
        </p:nvSpPr>
        <p:spPr>
          <a:xfrm>
            <a:off x="548640" y="5120640"/>
            <a:ext cx="7223760" cy="384048"/>
          </a:xfrm>
          <a:prstGeom prst="roundRect">
            <a:avLst>
              <a:gd name="adj" fmla="val 50000"/>
            </a:avLst>
          </a:prstGeom>
          <a:solidFill>
            <a:schemeClr val="tx2"/>
          </a:solidFill>
          <a:ln w="12700">
            <a:solidFill>
              <a:srgbClr val="0F5C4D"/>
            </a:solidFill>
            <a:prstDash val="solid"/>
          </a:ln>
        </p:spPr>
      </p:sp>
      <p:sp>
        <p:nvSpPr>
          <p:cNvPr id="6" name="Text 4"/>
          <p:cNvSpPr txBox="1"/>
          <p:nvPr/>
        </p:nvSpPr>
        <p:spPr>
          <a:xfrm>
            <a:off x="822960" y="5120640"/>
            <a:ext cx="6766560" cy="384048"/>
          </a:xfrm>
          <a:prstGeom prst="rect">
            <a:avLst/>
          </a:prstGeom>
          <a:noFill/>
          <a:ln/>
        </p:spPr>
        <p:txBody>
          <a:bodyPr wrap="square" lIns="0" tIns="0" rIns="0" bIns="0" rtlCol="0" anchor="ctr"/>
          <a:lstStyle/>
          <a:p>
            <a:pPr indent="0" marL="0">
              <a:buNone/>
            </a:pPr>
            <a:r>
              <a:rPr lang="en-US" sz="1250" dirty="0">
                <a:solidFill>
                  <a:schemeClr val="bg1"/>
                </a:solidFill>
              </a:rPr>
              <a:t>Synthetic data  ·  procurement sandbox, not SAP  ·  costs measured, value still a hypothesis</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One demand signal, two people, nowhere to decide</a:t>
            </a:r>
            <a:endParaRPr lang="en-US" sz="3200" dirty="0"/>
          </a:p>
        </p:txBody>
      </p:sp>
      <p:sp>
        <p:nvSpPr>
          <p:cNvPr id="3" name="Shape 1"/>
          <p:cNvSpPr/>
          <p:nvPr/>
        </p:nvSpPr>
        <p:spPr>
          <a:xfrm>
            <a:off x="548640" y="1371600"/>
            <a:ext cx="5440680" cy="868680"/>
          </a:xfrm>
          <a:prstGeom prst="roundRect">
            <a:avLst>
              <a:gd name="adj" fmla="val 8421"/>
            </a:avLst>
          </a:prstGeom>
          <a:solidFill>
            <a:schemeClr val="bg2"/>
          </a:solidFill>
          <a:ln w="9525">
            <a:solidFill>
              <a:srgbClr val="D9E6E1"/>
            </a:solidFill>
            <a:prstDash val="solid"/>
          </a:ln>
        </p:spPr>
      </p:sp>
      <p:sp>
        <p:nvSpPr>
          <p:cNvPr id="4" name="Shape 2"/>
          <p:cNvSpPr/>
          <p:nvPr/>
        </p:nvSpPr>
        <p:spPr>
          <a:xfrm>
            <a:off x="731520" y="1609344"/>
            <a:ext cx="384048" cy="384048"/>
          </a:xfrm>
          <a:prstGeom prst="ellipse">
            <a:avLst/>
          </a:prstGeom>
          <a:solidFill>
            <a:schemeClr val="accent2"/>
          </a:solidFill>
          <a:ln w="12700">
            <a:solidFill>
              <a:schemeClr val="accent2"/>
            </a:solidFill>
            <a:prstDash val="solid"/>
          </a:ln>
        </p:spPr>
      </p:sp>
      <p:sp>
        <p:nvSpPr>
          <p:cNvPr id="5" name="Text 3"/>
          <p:cNvSpPr txBox="1"/>
          <p:nvPr/>
        </p:nvSpPr>
        <p:spPr>
          <a:xfrm>
            <a:off x="731520" y="1609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P</a:t>
            </a:r>
            <a:endParaRPr lang="en-US" sz="1300" dirty="0"/>
          </a:p>
        </p:txBody>
      </p:sp>
      <p:sp>
        <p:nvSpPr>
          <p:cNvPr id="6" name="Text 4"/>
          <p:cNvSpPr txBox="1"/>
          <p:nvPr/>
        </p:nvSpPr>
        <p:spPr>
          <a:xfrm>
            <a:off x="1280160" y="1463040"/>
            <a:ext cx="4572000" cy="320040"/>
          </a:xfrm>
          <a:prstGeom prst="rect">
            <a:avLst/>
          </a:prstGeom>
          <a:noFill/>
          <a:ln/>
        </p:spPr>
        <p:txBody>
          <a:bodyPr wrap="square" lIns="0" tIns="0" rIns="0" bIns="0" rtlCol="0" anchor="t"/>
          <a:lstStyle/>
          <a:p>
            <a:pPr indent="0" marL="0">
              <a:buNone/>
            </a:pPr>
            <a:r>
              <a:rPr lang="en-US" sz="1500" b="1" dirty="0">
                <a:solidFill>
                  <a:schemeClr val="tx2"/>
                </a:solidFill>
              </a:rPr>
              <a:t>Retail replenishment planner</a:t>
            </a:r>
            <a:endParaRPr lang="en-US" sz="1500" dirty="0"/>
          </a:p>
        </p:txBody>
      </p:sp>
      <p:sp>
        <p:nvSpPr>
          <p:cNvPr id="7" name="Text 5"/>
          <p:cNvSpPr txBox="1"/>
          <p:nvPr/>
        </p:nvSpPr>
        <p:spPr>
          <a:xfrm>
            <a:off x="1280160" y="1783080"/>
            <a:ext cx="4572000" cy="365760"/>
          </a:xfrm>
          <a:prstGeom prst="rect">
            <a:avLst/>
          </a:prstGeom>
          <a:noFill/>
          <a:ln/>
        </p:spPr>
        <p:txBody>
          <a:bodyPr wrap="square" lIns="0" tIns="0" rIns="0" bIns="0" rtlCol="0" anchor="t"/>
          <a:lstStyle/>
          <a:p>
            <a:pPr indent="0" marL="0">
              <a:buNone/>
            </a:pPr>
            <a:r>
              <a:rPr lang="en-US" sz="1200" dirty="0">
                <a:solidFill>
                  <a:schemeClr val="accent4"/>
                </a:solidFill>
              </a:rPr>
              <a:t>Owns the shelf. Answers for stockouts and for waste.</a:t>
            </a:r>
            <a:endParaRPr lang="en-US" sz="1200" dirty="0"/>
          </a:p>
        </p:txBody>
      </p:sp>
      <p:sp>
        <p:nvSpPr>
          <p:cNvPr id="8" name="Shape 6"/>
          <p:cNvSpPr/>
          <p:nvPr/>
        </p:nvSpPr>
        <p:spPr>
          <a:xfrm>
            <a:off x="6172200" y="1371600"/>
            <a:ext cx="5440680" cy="868680"/>
          </a:xfrm>
          <a:prstGeom prst="roundRect">
            <a:avLst>
              <a:gd name="adj" fmla="val 8421"/>
            </a:avLst>
          </a:prstGeom>
          <a:solidFill>
            <a:schemeClr val="bg2"/>
          </a:solidFill>
          <a:ln w="9525">
            <a:solidFill>
              <a:srgbClr val="D9E6E1"/>
            </a:solidFill>
            <a:prstDash val="solid"/>
          </a:ln>
        </p:spPr>
      </p:sp>
      <p:sp>
        <p:nvSpPr>
          <p:cNvPr id="9" name="Shape 7"/>
          <p:cNvSpPr/>
          <p:nvPr/>
        </p:nvSpPr>
        <p:spPr>
          <a:xfrm>
            <a:off x="6355080" y="1609344"/>
            <a:ext cx="384048" cy="384048"/>
          </a:xfrm>
          <a:prstGeom prst="ellipse">
            <a:avLst/>
          </a:prstGeom>
          <a:solidFill>
            <a:schemeClr val="tx2"/>
          </a:solidFill>
          <a:ln w="12700">
            <a:solidFill>
              <a:schemeClr val="tx2"/>
            </a:solidFill>
            <a:prstDash val="solid"/>
          </a:ln>
        </p:spPr>
      </p:sp>
      <p:sp>
        <p:nvSpPr>
          <p:cNvPr id="10" name="Text 8"/>
          <p:cNvSpPr txBox="1"/>
          <p:nvPr/>
        </p:nvSpPr>
        <p:spPr>
          <a:xfrm>
            <a:off x="6355080" y="1609344"/>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S</a:t>
            </a:r>
            <a:endParaRPr lang="en-US" sz="1300" dirty="0"/>
          </a:p>
        </p:txBody>
      </p:sp>
      <p:sp>
        <p:nvSpPr>
          <p:cNvPr id="11" name="Text 9"/>
          <p:cNvSpPr txBox="1"/>
          <p:nvPr/>
        </p:nvSpPr>
        <p:spPr>
          <a:xfrm>
            <a:off x="6903720" y="1463040"/>
            <a:ext cx="4572000" cy="320040"/>
          </a:xfrm>
          <a:prstGeom prst="rect">
            <a:avLst/>
          </a:prstGeom>
          <a:noFill/>
          <a:ln/>
        </p:spPr>
        <p:txBody>
          <a:bodyPr wrap="square" lIns="0" tIns="0" rIns="0" bIns="0" rtlCol="0" anchor="t"/>
          <a:lstStyle/>
          <a:p>
            <a:pPr indent="0" marL="0">
              <a:buNone/>
            </a:pPr>
            <a:r>
              <a:rPr lang="en-US" sz="1500" b="1" dirty="0">
                <a:solidFill>
                  <a:schemeClr val="tx2"/>
                </a:solidFill>
              </a:rPr>
              <a:t>Supplier coordinator</a:t>
            </a:r>
            <a:endParaRPr lang="en-US" sz="1500" dirty="0"/>
          </a:p>
        </p:txBody>
      </p:sp>
      <p:sp>
        <p:nvSpPr>
          <p:cNvPr id="12" name="Text 10"/>
          <p:cNvSpPr txBox="1"/>
          <p:nvPr/>
        </p:nvSpPr>
        <p:spPr>
          <a:xfrm>
            <a:off x="6903720" y="1783080"/>
            <a:ext cx="4572000" cy="365760"/>
          </a:xfrm>
          <a:prstGeom prst="rect">
            <a:avLst/>
          </a:prstGeom>
          <a:noFill/>
          <a:ln/>
        </p:spPr>
        <p:txBody>
          <a:bodyPr wrap="square" lIns="0" tIns="0" rIns="0" bIns="0" rtlCol="0" anchor="t"/>
          <a:lstStyle/>
          <a:p>
            <a:pPr indent="0" marL="0">
              <a:buNone/>
            </a:pPr>
            <a:r>
              <a:rPr lang="en-US" sz="1200" dirty="0">
                <a:solidFill>
                  <a:schemeClr val="accent4"/>
                </a:solidFill>
              </a:rPr>
              <a:t>Owns the truck. Sees orders, never what shoppers wanted.</a:t>
            </a:r>
            <a:endParaRPr lang="en-US" sz="1200" dirty="0"/>
          </a:p>
        </p:txBody>
      </p:sp>
      <p:sp>
        <p:nvSpPr>
          <p:cNvPr id="13" name="Shape 11"/>
          <p:cNvSpPr/>
          <p:nvPr/>
        </p:nvSpPr>
        <p:spPr>
          <a:xfrm>
            <a:off x="548640" y="2514600"/>
            <a:ext cx="2103120" cy="1600200"/>
          </a:xfrm>
          <a:prstGeom prst="roundRect">
            <a:avLst>
              <a:gd name="adj" fmla="val 4571"/>
            </a:avLst>
          </a:prstGeom>
          <a:solidFill>
            <a:schemeClr val="bg2"/>
          </a:solidFill>
          <a:ln w="9525">
            <a:solidFill>
              <a:srgbClr val="D9E6E1"/>
            </a:solidFill>
            <a:prstDash val="solid"/>
          </a:ln>
        </p:spPr>
      </p:sp>
      <p:sp>
        <p:nvSpPr>
          <p:cNvPr id="14" name="Shape 12"/>
          <p:cNvSpPr/>
          <p:nvPr/>
        </p:nvSpPr>
        <p:spPr>
          <a:xfrm>
            <a:off x="713232" y="2679192"/>
            <a:ext cx="347472" cy="347472"/>
          </a:xfrm>
          <a:prstGeom prst="ellipse">
            <a:avLst/>
          </a:prstGeom>
          <a:solidFill>
            <a:schemeClr val="accent1"/>
          </a:solidFill>
          <a:ln w="12700">
            <a:solidFill>
              <a:schemeClr val="accent1"/>
            </a:solidFill>
            <a:prstDash val="solid"/>
          </a:ln>
        </p:spPr>
      </p:sp>
      <p:sp>
        <p:nvSpPr>
          <p:cNvPr id="15" name="Text 13"/>
          <p:cNvSpPr txBox="1"/>
          <p:nvPr/>
        </p:nvSpPr>
        <p:spPr>
          <a:xfrm>
            <a:off x="71323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16" name="Text 14"/>
          <p:cNvSpPr txBox="1"/>
          <p:nvPr/>
        </p:nvSpPr>
        <p:spPr>
          <a:xfrm>
            <a:off x="71323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A demand signal</a:t>
            </a:r>
            <a:endParaRPr lang="en-US" sz="1350" dirty="0"/>
          </a:p>
        </p:txBody>
      </p:sp>
      <p:sp>
        <p:nvSpPr>
          <p:cNvPr id="17" name="Text 15"/>
          <p:cNvSpPr txBox="1"/>
          <p:nvPr/>
        </p:nvSpPr>
        <p:spPr>
          <a:xfrm>
            <a:off x="71323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stockout, promotion, a spike, a short ship</a:t>
            </a:r>
            <a:endParaRPr lang="en-US" sz="1150" dirty="0"/>
          </a:p>
        </p:txBody>
      </p:sp>
      <p:sp>
        <p:nvSpPr>
          <p:cNvPr id="18" name="Shape 16"/>
          <p:cNvSpPr/>
          <p:nvPr/>
        </p:nvSpPr>
        <p:spPr>
          <a:xfrm>
            <a:off x="2656332" y="3200400"/>
            <a:ext cx="128016" cy="219456"/>
          </a:xfrm>
          <a:prstGeom prst="rightArrow">
            <a:avLst/>
          </a:prstGeom>
          <a:solidFill>
            <a:schemeClr val="accent4"/>
          </a:solidFill>
          <a:ln w="12700">
            <a:solidFill>
              <a:srgbClr val="557078"/>
            </a:solidFill>
            <a:prstDash val="solid"/>
          </a:ln>
        </p:spPr>
      </p:sp>
      <p:sp>
        <p:nvSpPr>
          <p:cNvPr id="19" name="Shape 17"/>
          <p:cNvSpPr/>
          <p:nvPr/>
        </p:nvSpPr>
        <p:spPr>
          <a:xfrm>
            <a:off x="2788920" y="2514600"/>
            <a:ext cx="2103120" cy="1600200"/>
          </a:xfrm>
          <a:prstGeom prst="roundRect">
            <a:avLst>
              <a:gd name="adj" fmla="val 4571"/>
            </a:avLst>
          </a:prstGeom>
          <a:solidFill>
            <a:schemeClr val="bg1"/>
          </a:solidFill>
          <a:ln w="15875">
            <a:solidFill>
              <a:srgbClr val="B3261E"/>
            </a:solidFill>
            <a:prstDash val="solid"/>
          </a:ln>
        </p:spPr>
      </p:sp>
      <p:sp>
        <p:nvSpPr>
          <p:cNvPr id="20" name="Shape 18"/>
          <p:cNvSpPr/>
          <p:nvPr/>
        </p:nvSpPr>
        <p:spPr>
          <a:xfrm>
            <a:off x="2953512" y="2679192"/>
            <a:ext cx="347472" cy="347472"/>
          </a:xfrm>
          <a:prstGeom prst="ellipse">
            <a:avLst/>
          </a:prstGeom>
          <a:solidFill>
            <a:schemeClr val="accent3"/>
          </a:solidFill>
          <a:ln w="12700">
            <a:solidFill>
              <a:schemeClr val="accent3"/>
            </a:solidFill>
            <a:prstDash val="solid"/>
          </a:ln>
        </p:spPr>
      </p:sp>
      <p:sp>
        <p:nvSpPr>
          <p:cNvPr id="21" name="Text 19"/>
          <p:cNvSpPr txBox="1"/>
          <p:nvPr/>
        </p:nvSpPr>
        <p:spPr>
          <a:xfrm>
            <a:off x="295351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22" name="Text 20"/>
          <p:cNvSpPr txBox="1"/>
          <p:nvPr/>
        </p:nvSpPr>
        <p:spPr>
          <a:xfrm>
            <a:off x="295351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Worth pursuing?</a:t>
            </a:r>
            <a:endParaRPr lang="en-US" sz="1350" dirty="0"/>
          </a:p>
        </p:txBody>
      </p:sp>
      <p:sp>
        <p:nvSpPr>
          <p:cNvPr id="23" name="Text 21"/>
          <p:cNvSpPr txBox="1"/>
          <p:nvPr/>
        </p:nvSpPr>
        <p:spPr>
          <a:xfrm>
            <a:off x="295351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today: gut feel, no evidence on record</a:t>
            </a:r>
            <a:endParaRPr lang="en-US" sz="1150" dirty="0"/>
          </a:p>
        </p:txBody>
      </p:sp>
      <p:sp>
        <p:nvSpPr>
          <p:cNvPr id="24" name="Shape 22"/>
          <p:cNvSpPr/>
          <p:nvPr/>
        </p:nvSpPr>
        <p:spPr>
          <a:xfrm>
            <a:off x="4896612" y="3200400"/>
            <a:ext cx="128016" cy="219456"/>
          </a:xfrm>
          <a:prstGeom prst="rightArrow">
            <a:avLst/>
          </a:prstGeom>
          <a:solidFill>
            <a:schemeClr val="accent4"/>
          </a:solidFill>
          <a:ln w="12700">
            <a:solidFill>
              <a:srgbClr val="557078"/>
            </a:solidFill>
            <a:prstDash val="solid"/>
          </a:ln>
        </p:spPr>
      </p:sp>
      <p:sp>
        <p:nvSpPr>
          <p:cNvPr id="25" name="Shape 23"/>
          <p:cNvSpPr/>
          <p:nvPr/>
        </p:nvSpPr>
        <p:spPr>
          <a:xfrm>
            <a:off x="5029200" y="2514600"/>
            <a:ext cx="2103120" cy="1600200"/>
          </a:xfrm>
          <a:prstGeom prst="roundRect">
            <a:avLst>
              <a:gd name="adj" fmla="val 4571"/>
            </a:avLst>
          </a:prstGeom>
          <a:solidFill>
            <a:schemeClr val="bg1"/>
          </a:solidFill>
          <a:ln w="15875">
            <a:solidFill>
              <a:srgbClr val="B3261E"/>
            </a:solidFill>
            <a:prstDash val="solid"/>
          </a:ln>
        </p:spPr>
      </p:sp>
      <p:sp>
        <p:nvSpPr>
          <p:cNvPr id="26" name="Shape 24"/>
          <p:cNvSpPr/>
          <p:nvPr/>
        </p:nvSpPr>
        <p:spPr>
          <a:xfrm>
            <a:off x="5193792" y="2679192"/>
            <a:ext cx="347472" cy="347472"/>
          </a:xfrm>
          <a:prstGeom prst="ellipse">
            <a:avLst/>
          </a:prstGeom>
          <a:solidFill>
            <a:schemeClr val="accent3"/>
          </a:solidFill>
          <a:ln w="12700">
            <a:solidFill>
              <a:schemeClr val="accent3"/>
            </a:solidFill>
            <a:prstDash val="solid"/>
          </a:ln>
        </p:spPr>
      </p:sp>
      <p:sp>
        <p:nvSpPr>
          <p:cNvPr id="27" name="Text 25"/>
          <p:cNvSpPr txBox="1"/>
          <p:nvPr/>
        </p:nvSpPr>
        <p:spPr>
          <a:xfrm>
            <a:off x="519379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8" name="Text 26"/>
          <p:cNvSpPr txBox="1"/>
          <p:nvPr/>
        </p:nvSpPr>
        <p:spPr>
          <a:xfrm>
            <a:off x="519379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Supplier reply is free-form</a:t>
            </a:r>
            <a:endParaRPr lang="en-US" sz="1350" dirty="0"/>
          </a:p>
        </p:txBody>
      </p:sp>
      <p:sp>
        <p:nvSpPr>
          <p:cNvPr id="29" name="Text 27"/>
          <p:cNvSpPr txBox="1"/>
          <p:nvPr/>
        </p:nvSpPr>
        <p:spPr>
          <a:xfrm>
            <a:off x="519379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"Friday or Monday, same lot, should be fine"</a:t>
            </a:r>
            <a:endParaRPr lang="en-US" sz="1150" dirty="0"/>
          </a:p>
        </p:txBody>
      </p:sp>
      <p:sp>
        <p:nvSpPr>
          <p:cNvPr id="30" name="Shape 28"/>
          <p:cNvSpPr/>
          <p:nvPr/>
        </p:nvSpPr>
        <p:spPr>
          <a:xfrm>
            <a:off x="7136892" y="3200400"/>
            <a:ext cx="128016" cy="219456"/>
          </a:xfrm>
          <a:prstGeom prst="rightArrow">
            <a:avLst/>
          </a:prstGeom>
          <a:solidFill>
            <a:schemeClr val="accent4"/>
          </a:solidFill>
          <a:ln w="12700">
            <a:solidFill>
              <a:srgbClr val="557078"/>
            </a:solidFill>
            <a:prstDash val="solid"/>
          </a:ln>
        </p:spPr>
      </p:sp>
      <p:sp>
        <p:nvSpPr>
          <p:cNvPr id="31" name="Shape 29"/>
          <p:cNvSpPr/>
          <p:nvPr/>
        </p:nvSpPr>
        <p:spPr>
          <a:xfrm>
            <a:off x="7269480" y="2514600"/>
            <a:ext cx="2103120" cy="1600200"/>
          </a:xfrm>
          <a:prstGeom prst="roundRect">
            <a:avLst>
              <a:gd name="adj" fmla="val 4571"/>
            </a:avLst>
          </a:prstGeom>
          <a:solidFill>
            <a:schemeClr val="bg2"/>
          </a:solidFill>
          <a:ln w="9525">
            <a:solidFill>
              <a:srgbClr val="D9E6E1"/>
            </a:solidFill>
            <a:prstDash val="solid"/>
          </a:ln>
        </p:spPr>
      </p:sp>
      <p:sp>
        <p:nvSpPr>
          <p:cNvPr id="32" name="Shape 30"/>
          <p:cNvSpPr/>
          <p:nvPr/>
        </p:nvSpPr>
        <p:spPr>
          <a:xfrm>
            <a:off x="7434072" y="2679192"/>
            <a:ext cx="347472" cy="347472"/>
          </a:xfrm>
          <a:prstGeom prst="ellipse">
            <a:avLst/>
          </a:prstGeom>
          <a:solidFill>
            <a:schemeClr val="accent1"/>
          </a:solidFill>
          <a:ln w="12700">
            <a:solidFill>
              <a:schemeClr val="accent1"/>
            </a:solidFill>
            <a:prstDash val="solid"/>
          </a:ln>
        </p:spPr>
      </p:sp>
      <p:sp>
        <p:nvSpPr>
          <p:cNvPr id="33" name="Text 31"/>
          <p:cNvSpPr txBox="1"/>
          <p:nvPr/>
        </p:nvSpPr>
        <p:spPr>
          <a:xfrm>
            <a:off x="743407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4</a:t>
            </a:r>
            <a:endParaRPr lang="en-US" sz="1300" dirty="0"/>
          </a:p>
        </p:txBody>
      </p:sp>
      <p:sp>
        <p:nvSpPr>
          <p:cNvPr id="34" name="Text 32"/>
          <p:cNvSpPr txBox="1"/>
          <p:nvPr/>
        </p:nvSpPr>
        <p:spPr>
          <a:xfrm>
            <a:off x="743407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Facts chased by email</a:t>
            </a:r>
            <a:endParaRPr lang="en-US" sz="1350" dirty="0"/>
          </a:p>
        </p:txBody>
      </p:sp>
      <p:sp>
        <p:nvSpPr>
          <p:cNvPr id="35" name="Text 33"/>
          <p:cNvSpPr txBox="1"/>
          <p:nvPr/>
        </p:nvSpPr>
        <p:spPr>
          <a:xfrm>
            <a:off x="743407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carrier, QA, slot, capacity, price, re-keyed</a:t>
            </a:r>
            <a:endParaRPr lang="en-US" sz="1150" dirty="0"/>
          </a:p>
        </p:txBody>
      </p:sp>
      <p:sp>
        <p:nvSpPr>
          <p:cNvPr id="36" name="Shape 34"/>
          <p:cNvSpPr/>
          <p:nvPr/>
        </p:nvSpPr>
        <p:spPr>
          <a:xfrm>
            <a:off x="9377172" y="3200400"/>
            <a:ext cx="128016" cy="219456"/>
          </a:xfrm>
          <a:prstGeom prst="rightArrow">
            <a:avLst/>
          </a:prstGeom>
          <a:solidFill>
            <a:schemeClr val="accent4"/>
          </a:solidFill>
          <a:ln w="12700">
            <a:solidFill>
              <a:srgbClr val="557078"/>
            </a:solidFill>
            <a:prstDash val="solid"/>
          </a:ln>
        </p:spPr>
      </p:sp>
      <p:sp>
        <p:nvSpPr>
          <p:cNvPr id="37" name="Shape 35"/>
          <p:cNvSpPr/>
          <p:nvPr/>
        </p:nvSpPr>
        <p:spPr>
          <a:xfrm>
            <a:off x="9509760" y="2514600"/>
            <a:ext cx="2103120" cy="1600200"/>
          </a:xfrm>
          <a:prstGeom prst="roundRect">
            <a:avLst>
              <a:gd name="adj" fmla="val 4571"/>
            </a:avLst>
          </a:prstGeom>
          <a:solidFill>
            <a:schemeClr val="bg1"/>
          </a:solidFill>
          <a:ln w="15875">
            <a:solidFill>
              <a:srgbClr val="B3261E"/>
            </a:solidFill>
            <a:prstDash val="solid"/>
          </a:ln>
        </p:spPr>
      </p:sp>
      <p:sp>
        <p:nvSpPr>
          <p:cNvPr id="38" name="Shape 36"/>
          <p:cNvSpPr/>
          <p:nvPr/>
        </p:nvSpPr>
        <p:spPr>
          <a:xfrm>
            <a:off x="9674352" y="2679192"/>
            <a:ext cx="347472" cy="347472"/>
          </a:xfrm>
          <a:prstGeom prst="ellipse">
            <a:avLst/>
          </a:prstGeom>
          <a:solidFill>
            <a:schemeClr val="accent3"/>
          </a:solidFill>
          <a:ln w="12700">
            <a:solidFill>
              <a:schemeClr val="accent3"/>
            </a:solidFill>
            <a:prstDash val="solid"/>
          </a:ln>
        </p:spPr>
      </p:sp>
      <p:sp>
        <p:nvSpPr>
          <p:cNvPr id="39" name="Text 37"/>
          <p:cNvSpPr txBox="1"/>
          <p:nvPr/>
        </p:nvSpPr>
        <p:spPr>
          <a:xfrm>
            <a:off x="9674352" y="2679192"/>
            <a:ext cx="347472" cy="347472"/>
          </a:xfrm>
          <a:prstGeom prst="rect">
            <a:avLst/>
          </a:prstGeom>
          <a:noFill/>
          <a:ln/>
        </p:spPr>
        <p:txBody>
          <a:bodyPr wrap="square" lIns="0" tIns="0" rIns="0" bIns="0" rtlCol="0" anchor="ctr"/>
          <a:lstStyle/>
          <a:p>
            <a:pPr algn="ctr" indent="0" marL="0">
              <a:buNone/>
            </a:pPr>
            <a:r>
              <a:rPr lang="en-US" sz="1300" b="1" dirty="0">
                <a:solidFill>
                  <a:schemeClr val="bg1"/>
                </a:solidFill>
              </a:rPr>
              <a:t>5</a:t>
            </a:r>
            <a:endParaRPr lang="en-US" sz="1300" dirty="0"/>
          </a:p>
        </p:txBody>
      </p:sp>
      <p:sp>
        <p:nvSpPr>
          <p:cNvPr id="40" name="Text 38"/>
          <p:cNvSpPr txBox="1"/>
          <p:nvPr/>
        </p:nvSpPr>
        <p:spPr>
          <a:xfrm>
            <a:off x="9674352" y="3108960"/>
            <a:ext cx="1773936" cy="365760"/>
          </a:xfrm>
          <a:prstGeom prst="rect">
            <a:avLst/>
          </a:prstGeom>
          <a:noFill/>
          <a:ln/>
        </p:spPr>
        <p:txBody>
          <a:bodyPr wrap="square" lIns="0" tIns="0" rIns="0" bIns="0" rtlCol="0" anchor="t"/>
          <a:lstStyle/>
          <a:p>
            <a:pPr indent="0" marL="0">
              <a:buNone/>
            </a:pPr>
            <a:r>
              <a:rPr lang="en-US" sz="1350" b="1" dirty="0">
                <a:solidFill>
                  <a:schemeClr val="tx2"/>
                </a:solidFill>
              </a:rPr>
              <a:t>No handoff</a:t>
            </a:r>
            <a:endParaRPr lang="en-US" sz="1350" dirty="0"/>
          </a:p>
        </p:txBody>
      </p:sp>
      <p:sp>
        <p:nvSpPr>
          <p:cNvPr id="41" name="Text 39"/>
          <p:cNvSpPr txBox="1"/>
          <p:nvPr/>
        </p:nvSpPr>
        <p:spPr>
          <a:xfrm>
            <a:off x="9674352" y="3474720"/>
            <a:ext cx="1773936" cy="594360"/>
          </a:xfrm>
          <a:prstGeom prst="rect">
            <a:avLst/>
          </a:prstGeom>
          <a:noFill/>
          <a:ln/>
        </p:spPr>
        <p:txBody>
          <a:bodyPr wrap="square" lIns="0" tIns="0" rIns="0" bIns="0" rtlCol="0" anchor="t"/>
          <a:lstStyle/>
          <a:p>
            <a:pPr indent="0" marL="0">
              <a:buNone/>
            </a:pPr>
            <a:r>
              <a:rPr lang="en-US" sz="1150" dirty="0">
                <a:solidFill>
                  <a:schemeClr val="accent4"/>
                </a:solidFill>
              </a:rPr>
              <a:t>nothing procurement can act on</a:t>
            </a:r>
            <a:endParaRPr lang="en-US" sz="1150" dirty="0"/>
          </a:p>
        </p:txBody>
      </p:sp>
      <p:sp>
        <p:nvSpPr>
          <p:cNvPr id="42" name="Shape 40"/>
          <p:cNvSpPr/>
          <p:nvPr/>
        </p:nvSpPr>
        <p:spPr>
          <a:xfrm>
            <a:off x="548640" y="4343400"/>
            <a:ext cx="3566160" cy="1051560"/>
          </a:xfrm>
          <a:prstGeom prst="roundRect">
            <a:avLst>
              <a:gd name="adj" fmla="val 6957"/>
            </a:avLst>
          </a:prstGeom>
          <a:solidFill>
            <a:schemeClr val="bg2"/>
          </a:solidFill>
          <a:ln w="9525">
            <a:solidFill>
              <a:srgbClr val="D9E6E1"/>
            </a:solidFill>
            <a:prstDash val="solid"/>
          </a:ln>
        </p:spPr>
      </p:sp>
      <p:sp>
        <p:nvSpPr>
          <p:cNvPr id="43" name="Shape 41"/>
          <p:cNvSpPr/>
          <p:nvPr/>
        </p:nvSpPr>
        <p:spPr>
          <a:xfrm>
            <a:off x="749808" y="4553712"/>
            <a:ext cx="237744" cy="237744"/>
          </a:xfrm>
          <a:prstGeom prst="ellipse">
            <a:avLst/>
          </a:prstGeom>
          <a:solidFill>
            <a:schemeClr val="accent3"/>
          </a:solidFill>
          <a:ln w="12700">
            <a:solidFill>
              <a:srgbClr val="B3261E"/>
            </a:solidFill>
            <a:prstDash val="solid"/>
          </a:ln>
        </p:spPr>
      </p:sp>
      <p:sp>
        <p:nvSpPr>
          <p:cNvPr id="44" name="Text 42"/>
          <p:cNvSpPr txBox="1"/>
          <p:nvPr/>
        </p:nvSpPr>
        <p:spPr>
          <a:xfrm>
            <a:off x="109728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Demand judged by gut</a:t>
            </a:r>
            <a:endParaRPr lang="en-US" sz="1500" dirty="0"/>
          </a:p>
        </p:txBody>
      </p:sp>
      <p:sp>
        <p:nvSpPr>
          <p:cNvPr id="45" name="Text 43"/>
          <p:cNvSpPr txBox="1"/>
          <p:nvPr/>
        </p:nvSpPr>
        <p:spPr>
          <a:xfrm>
            <a:off x="109728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no cited evidence, no record of why</a:t>
            </a:r>
            <a:endParaRPr lang="en-US" sz="1200" dirty="0"/>
          </a:p>
        </p:txBody>
      </p:sp>
      <p:sp>
        <p:nvSpPr>
          <p:cNvPr id="46" name="Shape 44"/>
          <p:cNvSpPr/>
          <p:nvPr/>
        </p:nvSpPr>
        <p:spPr>
          <a:xfrm>
            <a:off x="4297680" y="4343400"/>
            <a:ext cx="3566160" cy="1051560"/>
          </a:xfrm>
          <a:prstGeom prst="roundRect">
            <a:avLst>
              <a:gd name="adj" fmla="val 6957"/>
            </a:avLst>
          </a:prstGeom>
          <a:solidFill>
            <a:schemeClr val="bg2"/>
          </a:solidFill>
          <a:ln w="9525">
            <a:solidFill>
              <a:srgbClr val="D9E6E1"/>
            </a:solidFill>
            <a:prstDash val="solid"/>
          </a:ln>
        </p:spPr>
      </p:sp>
      <p:sp>
        <p:nvSpPr>
          <p:cNvPr id="47" name="Shape 45"/>
          <p:cNvSpPr/>
          <p:nvPr/>
        </p:nvSpPr>
        <p:spPr>
          <a:xfrm>
            <a:off x="4498848" y="4553712"/>
            <a:ext cx="237744" cy="237744"/>
          </a:xfrm>
          <a:prstGeom prst="ellipse">
            <a:avLst/>
          </a:prstGeom>
          <a:solidFill>
            <a:schemeClr val="accent3"/>
          </a:solidFill>
          <a:ln w="12700">
            <a:solidFill>
              <a:srgbClr val="B3261E"/>
            </a:solidFill>
            <a:prstDash val="solid"/>
          </a:ln>
        </p:spPr>
      </p:sp>
      <p:sp>
        <p:nvSpPr>
          <p:cNvPr id="48" name="Text 46"/>
          <p:cNvSpPr txBox="1"/>
          <p:nvPr/>
        </p:nvSpPr>
        <p:spPr>
          <a:xfrm>
            <a:off x="484632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Supply mistaken for demand</a:t>
            </a:r>
            <a:endParaRPr lang="en-US" sz="1500" dirty="0"/>
          </a:p>
        </p:txBody>
      </p:sp>
      <p:sp>
        <p:nvSpPr>
          <p:cNvPr id="49" name="Text 47"/>
          <p:cNvSpPr txBox="1"/>
          <p:nvPr/>
        </p:nvSpPr>
        <p:spPr>
          <a:xfrm>
            <a:off x="484632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an offer is not a need</a:t>
            </a:r>
            <a:endParaRPr lang="en-US" sz="1200" dirty="0"/>
          </a:p>
        </p:txBody>
      </p:sp>
      <p:sp>
        <p:nvSpPr>
          <p:cNvPr id="50" name="Shape 48"/>
          <p:cNvSpPr/>
          <p:nvPr/>
        </p:nvSpPr>
        <p:spPr>
          <a:xfrm>
            <a:off x="8046720" y="4343400"/>
            <a:ext cx="3566160" cy="1051560"/>
          </a:xfrm>
          <a:prstGeom prst="roundRect">
            <a:avLst>
              <a:gd name="adj" fmla="val 6957"/>
            </a:avLst>
          </a:prstGeom>
          <a:solidFill>
            <a:schemeClr val="bg2"/>
          </a:solidFill>
          <a:ln w="9525">
            <a:solidFill>
              <a:srgbClr val="D9E6E1"/>
            </a:solidFill>
            <a:prstDash val="solid"/>
          </a:ln>
        </p:spPr>
      </p:sp>
      <p:sp>
        <p:nvSpPr>
          <p:cNvPr id="51" name="Shape 49"/>
          <p:cNvSpPr/>
          <p:nvPr/>
        </p:nvSpPr>
        <p:spPr>
          <a:xfrm>
            <a:off x="8247888" y="4553712"/>
            <a:ext cx="237744" cy="237744"/>
          </a:xfrm>
          <a:prstGeom prst="ellipse">
            <a:avLst/>
          </a:prstGeom>
          <a:solidFill>
            <a:schemeClr val="accent3"/>
          </a:solidFill>
          <a:ln w="12700">
            <a:solidFill>
              <a:srgbClr val="B3261E"/>
            </a:solidFill>
            <a:prstDash val="solid"/>
          </a:ln>
        </p:spPr>
      </p:sp>
      <p:sp>
        <p:nvSpPr>
          <p:cNvPr id="52" name="Text 50"/>
          <p:cNvSpPr txBox="1"/>
          <p:nvPr/>
        </p:nvSpPr>
        <p:spPr>
          <a:xfrm>
            <a:off x="8595360" y="4480560"/>
            <a:ext cx="2834640" cy="365760"/>
          </a:xfrm>
          <a:prstGeom prst="rect">
            <a:avLst/>
          </a:prstGeom>
          <a:noFill/>
          <a:ln/>
        </p:spPr>
        <p:txBody>
          <a:bodyPr wrap="square" lIns="0" tIns="0" rIns="0" bIns="0" rtlCol="0" anchor="t"/>
          <a:lstStyle/>
          <a:p>
            <a:pPr indent="0" marL="0">
              <a:buNone/>
            </a:pPr>
            <a:r>
              <a:rPr lang="en-US" sz="1500" b="1" dirty="0">
                <a:solidFill>
                  <a:schemeClr val="tx1"/>
                </a:solidFill>
              </a:rPr>
              <a:t>Decisions live in a mailbox</a:t>
            </a:r>
            <a:endParaRPr lang="en-US" sz="1500" dirty="0"/>
          </a:p>
        </p:txBody>
      </p:sp>
      <p:sp>
        <p:nvSpPr>
          <p:cNvPr id="53" name="Text 51"/>
          <p:cNvSpPr txBox="1"/>
          <p:nvPr/>
        </p:nvSpPr>
        <p:spPr>
          <a:xfrm>
            <a:off x="8595360" y="4828032"/>
            <a:ext cx="2834640" cy="457200"/>
          </a:xfrm>
          <a:prstGeom prst="rect">
            <a:avLst/>
          </a:prstGeom>
          <a:noFill/>
          <a:ln/>
        </p:spPr>
        <p:txBody>
          <a:bodyPr wrap="square" lIns="0" tIns="0" rIns="0" bIns="0" rtlCol="0" anchor="t"/>
          <a:lstStyle/>
          <a:p>
            <a:pPr indent="0" marL="0">
              <a:buNone/>
            </a:pPr>
            <a:r>
              <a:rPr lang="en-US" sz="1200" dirty="0">
                <a:solidFill>
                  <a:schemeClr val="accent4"/>
                </a:solidFill>
              </a:rPr>
              <a:t>no authority, no handoff, no clock</a:t>
            </a:r>
            <a:endParaRPr lang="en-US" sz="1200" dirty="0"/>
          </a:p>
        </p:txBody>
      </p:sp>
      <p:sp>
        <p:nvSpPr>
          <p:cNvPr id="54" name="Text 52"/>
          <p:cNvSpPr txBox="1"/>
          <p:nvPr/>
        </p:nvSpPr>
        <p:spPr>
          <a:xfrm>
            <a:off x="548640" y="562356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Red = where the decision goes wrong today.  Built and tested on one synthetic instance, CASE-1042: orange juice, Toronto DC. The loop is the same for any signal.</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The handoff is the step our evidence did not eliminate</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Four numbers behind the problem; each with what it cannot show.</a:t>
            </a:r>
            <a:endParaRPr lang="en-US" sz="1300" dirty="0"/>
          </a:p>
        </p:txBody>
      </p:sp>
      <p:sp>
        <p:nvSpPr>
          <p:cNvPr id="4" name="Shape 2"/>
          <p:cNvSpPr/>
          <p:nvPr/>
        </p:nvSpPr>
        <p:spPr>
          <a:xfrm>
            <a:off x="548640" y="1828800"/>
            <a:ext cx="2651760" cy="2377440"/>
          </a:xfrm>
          <a:prstGeom prst="roundRect">
            <a:avLst>
              <a:gd name="adj" fmla="val 3077"/>
            </a:avLst>
          </a:prstGeom>
          <a:solidFill>
            <a:schemeClr val="bg2"/>
          </a:solidFill>
          <a:ln w="9525">
            <a:solidFill>
              <a:srgbClr val="D9E6E1"/>
            </a:solidFill>
            <a:prstDash val="solid"/>
          </a:ln>
        </p:spPr>
      </p:sp>
      <p:sp>
        <p:nvSpPr>
          <p:cNvPr id="5" name="Text 3"/>
          <p:cNvSpPr txBox="1"/>
          <p:nvPr/>
        </p:nvSpPr>
        <p:spPr>
          <a:xfrm>
            <a:off x="777240"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9.3 days</a:t>
            </a:r>
            <a:endParaRPr lang="en-US" sz="3400" dirty="0"/>
          </a:p>
        </p:txBody>
      </p:sp>
      <p:sp>
        <p:nvSpPr>
          <p:cNvPr id="6" name="Text 4"/>
          <p:cNvSpPr txBox="1"/>
          <p:nvPr/>
        </p:nvSpPr>
        <p:spPr>
          <a:xfrm>
            <a:off x="777240"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median from order to first goods receipt in a real SAP purchasing log, 251,734 PO items (BPI Challenge 2019)</a:t>
            </a:r>
            <a:endParaRPr lang="en-US" sz="1200" dirty="0"/>
          </a:p>
        </p:txBody>
      </p:sp>
      <p:sp>
        <p:nvSpPr>
          <p:cNvPr id="7" name="Shape 5"/>
          <p:cNvSpPr/>
          <p:nvPr/>
        </p:nvSpPr>
        <p:spPr>
          <a:xfrm>
            <a:off x="3364992" y="1828800"/>
            <a:ext cx="2651760" cy="2377440"/>
          </a:xfrm>
          <a:prstGeom prst="roundRect">
            <a:avLst>
              <a:gd name="adj" fmla="val 3077"/>
            </a:avLst>
          </a:prstGeom>
          <a:solidFill>
            <a:schemeClr val="bg2"/>
          </a:solidFill>
          <a:ln w="9525">
            <a:solidFill>
              <a:srgbClr val="D9E6E1"/>
            </a:solidFill>
            <a:prstDash val="solid"/>
          </a:ln>
        </p:spPr>
      </p:sp>
      <p:sp>
        <p:nvSpPr>
          <p:cNvPr id="8" name="Text 6"/>
          <p:cNvSpPr txBox="1"/>
          <p:nvPr/>
        </p:nvSpPr>
        <p:spPr>
          <a:xfrm>
            <a:off x="3593592"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12%</a:t>
            </a:r>
            <a:endParaRPr lang="en-US" sz="3400" dirty="0"/>
          </a:p>
        </p:txBody>
      </p:sp>
      <p:sp>
        <p:nvSpPr>
          <p:cNvPr id="9" name="Text 7"/>
          <p:cNvSpPr txBox="1"/>
          <p:nvPr/>
        </p:nvSpPr>
        <p:spPr>
          <a:xfrm>
            <a:off x="3593592"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of that time sits in compressible communication and approval steps; simulated agent saving 5–11%</a:t>
            </a:r>
            <a:endParaRPr lang="en-US" sz="1200" dirty="0"/>
          </a:p>
        </p:txBody>
      </p:sp>
      <p:sp>
        <p:nvSpPr>
          <p:cNvPr id="10" name="Shape 8"/>
          <p:cNvSpPr/>
          <p:nvPr/>
        </p:nvSpPr>
        <p:spPr>
          <a:xfrm>
            <a:off x="6181344" y="1828800"/>
            <a:ext cx="2651760" cy="2377440"/>
          </a:xfrm>
          <a:prstGeom prst="roundRect">
            <a:avLst>
              <a:gd name="adj" fmla="val 3077"/>
            </a:avLst>
          </a:prstGeom>
          <a:solidFill>
            <a:schemeClr val="bg2"/>
          </a:solidFill>
          <a:ln w="9525">
            <a:solidFill>
              <a:srgbClr val="D9E6E1"/>
            </a:solidFill>
            <a:prstDash val="solid"/>
          </a:ln>
        </p:spPr>
      </p:sp>
      <p:sp>
        <p:nvSpPr>
          <p:cNvPr id="11" name="Text 9"/>
          <p:cNvSpPr txBox="1"/>
          <p:nvPr/>
        </p:nvSpPr>
        <p:spPr>
          <a:xfrm>
            <a:off x="6409944" y="1965960"/>
            <a:ext cx="219456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28</a:t>
            </a:r>
            <a:endParaRPr lang="en-US" sz="3400" dirty="0"/>
          </a:p>
        </p:txBody>
      </p:sp>
      <p:sp>
        <p:nvSpPr>
          <p:cNvPr id="12" name="Text 10"/>
          <p:cNvSpPr txBox="1"/>
          <p:nvPr/>
        </p:nvSpPr>
        <p:spPr>
          <a:xfrm>
            <a:off x="6409944"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supplier interviews (UK GCA / YouGov 2025): forecast-versus-order mismatch, portal burden, unclear stock risk</a:t>
            </a:r>
            <a:endParaRPr lang="en-US" sz="1200" dirty="0"/>
          </a:p>
        </p:txBody>
      </p:sp>
      <p:sp>
        <p:nvSpPr>
          <p:cNvPr id="13" name="Shape 11"/>
          <p:cNvSpPr/>
          <p:nvPr/>
        </p:nvSpPr>
        <p:spPr>
          <a:xfrm>
            <a:off x="8997696" y="1828800"/>
            <a:ext cx="2651760" cy="2377440"/>
          </a:xfrm>
          <a:prstGeom prst="roundRect">
            <a:avLst>
              <a:gd name="adj" fmla="val 3077"/>
            </a:avLst>
          </a:prstGeom>
          <a:solidFill>
            <a:schemeClr val="bg2"/>
          </a:solidFill>
          <a:ln w="9525">
            <a:solidFill>
              <a:srgbClr val="D9E6E1"/>
            </a:solidFill>
            <a:prstDash val="solid"/>
          </a:ln>
        </p:spPr>
      </p:sp>
      <p:sp>
        <p:nvSpPr>
          <p:cNvPr id="14" name="Text 12"/>
          <p:cNvSpPr txBox="1"/>
          <p:nvPr/>
        </p:nvSpPr>
        <p:spPr>
          <a:xfrm>
            <a:off x="9226296" y="1965960"/>
            <a:ext cx="2194560" cy="68580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−4.7%</a:t>
            </a:r>
            <a:endParaRPr lang="en-US" sz="3400" dirty="0"/>
          </a:p>
        </p:txBody>
      </p:sp>
      <p:sp>
        <p:nvSpPr>
          <p:cNvPr id="15" name="Text 13"/>
          <p:cNvSpPr txBox="1"/>
          <p:nvPr/>
        </p:nvSpPr>
        <p:spPr>
          <a:xfrm>
            <a:off x="9226296" y="2670048"/>
            <a:ext cx="2194560" cy="1463040"/>
          </a:xfrm>
          <a:prstGeom prst="rect">
            <a:avLst/>
          </a:prstGeom>
          <a:noFill/>
          <a:ln/>
        </p:spPr>
        <p:txBody>
          <a:bodyPr wrap="square" lIns="0" tIns="0" rIns="0" bIns="0" rtlCol="0" anchor="t"/>
          <a:lstStyle/>
          <a:p>
            <a:pPr indent="0" marL="0">
              <a:buNone/>
            </a:pPr>
            <a:r>
              <a:rPr lang="en-US" sz="1200" dirty="0">
                <a:solidFill>
                  <a:schemeClr val="tx1"/>
                </a:solidFill>
              </a:rPr>
              <a:t>unmet-demand recovery at equal waste in our own simulation: the forecasting route failed, so the handoff is the wedge</a:t>
            </a:r>
            <a:endParaRPr lang="en-US" sz="1200" dirty="0"/>
          </a:p>
        </p:txBody>
      </p:sp>
      <p:sp>
        <p:nvSpPr>
          <p:cNvPr id="16" name="Shape 14"/>
          <p:cNvSpPr/>
          <p:nvPr/>
        </p:nvSpPr>
        <p:spPr>
          <a:xfrm>
            <a:off x="548640" y="4434840"/>
            <a:ext cx="11064240" cy="1737360"/>
          </a:xfrm>
          <a:prstGeom prst="roundRect">
            <a:avLst>
              <a:gd name="adj" fmla="val 4211"/>
            </a:avLst>
          </a:prstGeom>
          <a:solidFill>
            <a:schemeClr val="bg2"/>
          </a:solidFill>
          <a:ln w="9525">
            <a:solidFill>
              <a:srgbClr val="D9E6E1"/>
            </a:solidFill>
            <a:prstDash val="solid"/>
          </a:ln>
        </p:spPr>
      </p:sp>
      <p:sp>
        <p:nvSpPr>
          <p:cNvPr id="17" name="Text 15"/>
          <p:cNvSpPr txBox="1"/>
          <p:nvPr/>
        </p:nvSpPr>
        <p:spPr>
          <a:xfrm>
            <a:off x="777240" y="4572000"/>
            <a:ext cx="10515600" cy="320040"/>
          </a:xfrm>
          <a:prstGeom prst="rect">
            <a:avLst/>
          </a:prstGeom>
          <a:noFill/>
          <a:ln/>
        </p:spPr>
        <p:txBody>
          <a:bodyPr wrap="square" lIns="0" tIns="0" rIns="0" bIns="0" rtlCol="0" anchor="t"/>
          <a:lstStyle/>
          <a:p>
            <a:pPr indent="0" marL="0">
              <a:buNone/>
            </a:pPr>
            <a:r>
              <a:rPr lang="en-US" sz="1500" b="1" dirty="0">
                <a:solidFill>
                  <a:schemeClr val="tx2"/>
                </a:solidFill>
              </a:rPr>
              <a:t>Why this problem, and what is still missing</a:t>
            </a:r>
            <a:endParaRPr lang="en-US" sz="1500" dirty="0"/>
          </a:p>
        </p:txBody>
      </p:sp>
      <p:sp>
        <p:nvSpPr>
          <p:cNvPr id="18" name="Text 16"/>
          <p:cNvSpPr txBox="1"/>
          <p:nvPr/>
        </p:nvSpPr>
        <p:spPr>
          <a:xfrm>
            <a:off x="777240" y="4937760"/>
            <a:ext cx="10607040" cy="118872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tx1"/>
                </a:solidFill>
              </a:rPr>
              <a:t>Regulators (ACCC 2024–25) and retailer documents (Loblaw PO-update guide, Mucci Farms roles) show the workflow exists and hurts; none measure its timing</a:t>
            </a:r>
            <a:endParaRPr lang="en-US" sz="1250" dirty="0"/>
          </a:p>
          <a:p>
            <a:pPr marL="177800" indent="-177800">
              <a:spcAft>
                <a:spcPts val="400"/>
              </a:spcAft>
              <a:buSzPct val="100000"/>
              <a:buChar char="•"/>
            </a:pPr>
            <a:r>
              <a:rPr lang="en-US" sz="1250" dirty="0">
                <a:solidFill>
                  <a:schemeClr val="tx1"/>
                </a:solidFill>
              </a:rPr>
              <a:t>The information exists at every step; nothing carries it to a decision. That is a handoff problem, not a forecasting problem</a:t>
            </a:r>
            <a:endParaRPr lang="en-US" sz="1250" dirty="0"/>
          </a:p>
          <a:p>
            <a:pPr marL="177800" indent="-177800">
              <a:spcAft>
                <a:spcPts val="400"/>
              </a:spcAft>
              <a:buSzPct val="100000"/>
              <a:buChar char="•"/>
            </a:pPr>
            <a:r>
              <a:rPr lang="en-US" sz="1250" dirty="0">
                <a:solidFill>
                  <a:schemeClr val="tx1"/>
                </a:solidFill>
              </a:rPr>
              <a:t>Not yet done: direct planner interviews and a measured frequency. Both are the first pilot activity</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Judge the signal, check the reply, land the decision</a:t>
            </a:r>
            <a:endParaRPr lang="en-US" sz="3200" dirty="0"/>
          </a:p>
        </p:txBody>
      </p:sp>
      <p:sp>
        <p:nvSpPr>
          <p:cNvPr id="3" name="Shape 1"/>
          <p:cNvSpPr/>
          <p:nvPr/>
        </p:nvSpPr>
        <p:spPr>
          <a:xfrm>
            <a:off x="548640" y="1371600"/>
            <a:ext cx="11064240" cy="868680"/>
          </a:xfrm>
          <a:prstGeom prst="roundRect">
            <a:avLst>
              <a:gd name="adj" fmla="val 8421"/>
            </a:avLst>
          </a:prstGeom>
          <a:solidFill>
            <a:schemeClr val="tx2"/>
          </a:solidFill>
          <a:ln w="12700">
            <a:solidFill>
              <a:srgbClr val="0F5C4D"/>
            </a:solidFill>
            <a:prstDash val="solid"/>
          </a:ln>
        </p:spPr>
      </p:sp>
      <p:sp>
        <p:nvSpPr>
          <p:cNvPr id="4" name="Text 2"/>
          <p:cNvSpPr txBox="1"/>
          <p:nvPr/>
        </p:nvSpPr>
        <p:spPr>
          <a:xfrm>
            <a:off x="822960" y="1444752"/>
            <a:ext cx="10515600" cy="731520"/>
          </a:xfrm>
          <a:prstGeom prst="rect">
            <a:avLst/>
          </a:prstGeom>
          <a:noFill/>
          <a:ln/>
        </p:spPr>
        <p:txBody>
          <a:bodyPr wrap="square" lIns="0" tIns="0" rIns="0" bIns="0" rtlCol="0" anchor="ctr"/>
          <a:lstStyle/>
          <a:p>
            <a:pPr indent="0" marL="0">
              <a:buNone/>
            </a:pPr>
            <a:r>
              <a:rPr lang="en-US" sz="1550" i="1" dirty="0">
                <a:solidFill>
                  <a:schemeClr val="bg1"/>
                </a:solidFill>
              </a:rPr>
              <a:t>A demand signal is judged on evidence, the supplier's reply is checked against it, and the result lands in procurement approval or a reasoned stop. Evidence and decisions stay attached to the task; every commitment is still approved by a human.</a:t>
            </a:r>
            <a:endParaRPr lang="en-US" sz="1550" dirty="0"/>
          </a:p>
        </p:txBody>
      </p:sp>
      <p:sp>
        <p:nvSpPr>
          <p:cNvPr id="5" name="Shape 3"/>
          <p:cNvSpPr/>
          <p:nvPr/>
        </p:nvSpPr>
        <p:spPr>
          <a:xfrm>
            <a:off x="548640" y="2423160"/>
            <a:ext cx="11064240" cy="1097280"/>
          </a:xfrm>
          <a:prstGeom prst="roundRect">
            <a:avLst>
              <a:gd name="adj" fmla="val 6667"/>
            </a:avLst>
          </a:prstGeom>
          <a:solidFill>
            <a:schemeClr val="bg1"/>
          </a:solidFill>
          <a:ln w="19050">
            <a:solidFill>
              <a:srgbClr val="16765F"/>
            </a:solidFill>
            <a:prstDash val="solid"/>
          </a:ln>
        </p:spPr>
      </p:sp>
      <p:sp>
        <p:nvSpPr>
          <p:cNvPr id="6" name="Shape 4"/>
          <p:cNvSpPr/>
          <p:nvPr/>
        </p:nvSpPr>
        <p:spPr>
          <a:xfrm>
            <a:off x="777240" y="2606040"/>
            <a:ext cx="365760" cy="365760"/>
          </a:xfrm>
          <a:prstGeom prst="ellipse">
            <a:avLst/>
          </a:prstGeom>
          <a:solidFill>
            <a:schemeClr val="accent1"/>
          </a:solidFill>
          <a:ln w="12700">
            <a:solidFill>
              <a:schemeClr val="accent1"/>
            </a:solidFill>
            <a:prstDash val="solid"/>
          </a:ln>
        </p:spPr>
      </p:sp>
      <p:sp>
        <p:nvSpPr>
          <p:cNvPr id="7" name="Text 5"/>
          <p:cNvSpPr txBox="1"/>
          <p:nvPr/>
        </p:nvSpPr>
        <p:spPr>
          <a:xfrm>
            <a:off x="777240" y="2606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8" name="Text 6"/>
          <p:cNvSpPr txBox="1"/>
          <p:nvPr/>
        </p:nvSpPr>
        <p:spPr>
          <a:xfrm>
            <a:off x="1280160" y="2542032"/>
            <a:ext cx="3291840" cy="320040"/>
          </a:xfrm>
          <a:prstGeom prst="rect">
            <a:avLst/>
          </a:prstGeom>
          <a:noFill/>
          <a:ln/>
        </p:spPr>
        <p:txBody>
          <a:bodyPr wrap="square" lIns="0" tIns="0" rIns="0" bIns="0" rtlCol="0" anchor="t"/>
          <a:lstStyle/>
          <a:p>
            <a:pPr indent="0" marL="0">
              <a:buNone/>
            </a:pPr>
            <a:r>
              <a:rPr lang="en-US" sz="1600" b="1" dirty="0">
                <a:solidFill>
                  <a:schemeClr val="accent1"/>
                </a:solidFill>
              </a:rPr>
              <a:t>Demand evidence gate</a:t>
            </a:r>
            <a:endParaRPr lang="en-US" sz="1600" dirty="0"/>
          </a:p>
        </p:txBody>
      </p:sp>
      <p:sp>
        <p:nvSpPr>
          <p:cNvPr id="9" name="Text 7"/>
          <p:cNvSpPr txBox="1"/>
          <p:nvPr/>
        </p:nvSpPr>
        <p:spPr>
          <a:xfrm>
            <a:off x="1280160" y="2862072"/>
            <a:ext cx="5852160" cy="594360"/>
          </a:xfrm>
          <a:prstGeom prst="rect">
            <a:avLst/>
          </a:prstGeom>
          <a:noFill/>
          <a:ln/>
        </p:spPr>
        <p:txBody>
          <a:bodyPr wrap="square" lIns="0" tIns="0" rIns="0" bIns="0" rtlCol="0" anchor="t"/>
          <a:lstStyle/>
          <a:p>
            <a:pPr indent="0" marL="0">
              <a:buNone/>
            </a:pPr>
            <a:r>
              <a:rPr lang="en-US" sz="1250" dirty="0">
                <a:solidFill>
                  <a:schemeClr val="tx1"/>
                </a:solidFill>
              </a:rPr>
              <a:t>Judges whether the demand evidence supports pursuing additional supply. Never estimates unrecorded demand.</a:t>
            </a:r>
            <a:endParaRPr lang="en-US" sz="1250" dirty="0"/>
          </a:p>
        </p:txBody>
      </p:sp>
      <p:sp>
        <p:nvSpPr>
          <p:cNvPr id="10" name="Shape 8"/>
          <p:cNvSpPr/>
          <p:nvPr/>
        </p:nvSpPr>
        <p:spPr>
          <a:xfrm>
            <a:off x="7315200" y="2697480"/>
            <a:ext cx="1234440" cy="548640"/>
          </a:xfrm>
          <a:prstGeom prst="rect">
            <a:avLst/>
          </a:prstGeom>
          <a:solidFill>
            <a:schemeClr val="accent1"/>
          </a:solidFill>
          <a:ln w="12700">
            <a:solidFill>
              <a:srgbClr val="D9E6E1"/>
            </a:solidFill>
            <a:prstDash val="solid"/>
          </a:ln>
        </p:spPr>
      </p:sp>
      <p:sp>
        <p:nvSpPr>
          <p:cNvPr id="11" name="Text 9"/>
          <p:cNvSpPr txBox="1"/>
          <p:nvPr/>
        </p:nvSpPr>
        <p:spPr>
          <a:xfrm>
            <a:off x="73152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continue</a:t>
            </a:r>
            <a:endParaRPr lang="en-US" sz="1300" dirty="0"/>
          </a:p>
        </p:txBody>
      </p:sp>
      <p:sp>
        <p:nvSpPr>
          <p:cNvPr id="12" name="Shape 10"/>
          <p:cNvSpPr/>
          <p:nvPr/>
        </p:nvSpPr>
        <p:spPr>
          <a:xfrm>
            <a:off x="8686800" y="2697480"/>
            <a:ext cx="1234440" cy="548640"/>
          </a:xfrm>
          <a:prstGeom prst="rect">
            <a:avLst/>
          </a:prstGeom>
          <a:solidFill>
            <a:schemeClr val="accent2"/>
          </a:solidFill>
          <a:ln w="12700">
            <a:solidFill>
              <a:srgbClr val="D9E6E1"/>
            </a:solidFill>
            <a:prstDash val="solid"/>
          </a:ln>
        </p:spPr>
      </p:sp>
      <p:sp>
        <p:nvSpPr>
          <p:cNvPr id="13" name="Text 11"/>
          <p:cNvSpPr txBox="1"/>
          <p:nvPr/>
        </p:nvSpPr>
        <p:spPr>
          <a:xfrm>
            <a:off x="86868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clarify</a:t>
            </a:r>
            <a:endParaRPr lang="en-US" sz="1300" dirty="0"/>
          </a:p>
        </p:txBody>
      </p:sp>
      <p:sp>
        <p:nvSpPr>
          <p:cNvPr id="14" name="Shape 12"/>
          <p:cNvSpPr/>
          <p:nvPr/>
        </p:nvSpPr>
        <p:spPr>
          <a:xfrm>
            <a:off x="10058400" y="2697480"/>
            <a:ext cx="1234440" cy="548640"/>
          </a:xfrm>
          <a:prstGeom prst="rect">
            <a:avLst/>
          </a:prstGeom>
          <a:solidFill>
            <a:schemeClr val="tx1"/>
          </a:solidFill>
          <a:ln w="12700">
            <a:solidFill>
              <a:srgbClr val="D9E6E1"/>
            </a:solidFill>
            <a:prstDash val="solid"/>
          </a:ln>
        </p:spPr>
      </p:sp>
      <p:sp>
        <p:nvSpPr>
          <p:cNvPr id="15" name="Text 13"/>
          <p:cNvSpPr txBox="1"/>
          <p:nvPr/>
        </p:nvSpPr>
        <p:spPr>
          <a:xfrm>
            <a:off x="10058400" y="2697480"/>
            <a:ext cx="1234440" cy="548640"/>
          </a:xfrm>
          <a:prstGeom prst="rect">
            <a:avLst/>
          </a:prstGeom>
          <a:noFill/>
          <a:ln/>
        </p:spPr>
        <p:txBody>
          <a:bodyPr wrap="square" lIns="0" tIns="0" rIns="0" bIns="0" rtlCol="0" anchor="ctr"/>
          <a:lstStyle/>
          <a:p>
            <a:pPr algn="ctr" indent="0" marL="0">
              <a:buNone/>
            </a:pPr>
            <a:r>
              <a:rPr lang="en-US" sz="1300" b="1" dirty="0">
                <a:solidFill>
                  <a:schemeClr val="bg1"/>
                </a:solidFill>
              </a:rPr>
              <a:t>pause</a:t>
            </a:r>
            <a:endParaRPr lang="en-US" sz="1300" dirty="0"/>
          </a:p>
        </p:txBody>
      </p:sp>
      <p:sp>
        <p:nvSpPr>
          <p:cNvPr id="16" name="Text 14"/>
          <p:cNvSpPr txBox="1"/>
          <p:nvPr/>
        </p:nvSpPr>
        <p:spPr>
          <a:xfrm>
            <a:off x="7315200" y="3264408"/>
            <a:ext cx="4023360" cy="228600"/>
          </a:xfrm>
          <a:prstGeom prst="rect">
            <a:avLst/>
          </a:prstGeom>
          <a:noFill/>
          <a:ln/>
        </p:spPr>
        <p:txBody>
          <a:bodyPr wrap="square" lIns="0" tIns="0" rIns="0" bIns="0" rtlCol="0" anchor="t"/>
          <a:lstStyle/>
          <a:p>
            <a:pPr indent="0" marL="0">
              <a:buNone/>
            </a:pPr>
            <a:r>
              <a:rPr lang="en-US" sz="1050" i="1" dirty="0">
                <a:solidFill>
                  <a:schemeClr val="accent4"/>
                </a:solidFill>
              </a:rPr>
              <a:t>only continue opens investigation</a:t>
            </a:r>
            <a:endParaRPr lang="en-US" sz="1050" dirty="0"/>
          </a:p>
        </p:txBody>
      </p:sp>
      <p:sp>
        <p:nvSpPr>
          <p:cNvPr id="17" name="Shape 15"/>
          <p:cNvSpPr/>
          <p:nvPr/>
        </p:nvSpPr>
        <p:spPr>
          <a:xfrm>
            <a:off x="548640" y="3749040"/>
            <a:ext cx="365760" cy="365760"/>
          </a:xfrm>
          <a:prstGeom prst="ellipse">
            <a:avLst/>
          </a:prstGeom>
          <a:solidFill>
            <a:schemeClr val="accent1"/>
          </a:solidFill>
          <a:ln w="12700">
            <a:solidFill>
              <a:schemeClr val="accent1"/>
            </a:solidFill>
            <a:prstDash val="solid"/>
          </a:ln>
        </p:spPr>
      </p:sp>
      <p:sp>
        <p:nvSpPr>
          <p:cNvPr id="18" name="Text 16"/>
          <p:cNvSpPr txBox="1"/>
          <p:nvPr/>
        </p:nvSpPr>
        <p:spPr>
          <a:xfrm>
            <a:off x="548640" y="374904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9" name="Text 17"/>
          <p:cNvSpPr txBox="1"/>
          <p:nvPr/>
        </p:nvSpPr>
        <p:spPr>
          <a:xfrm>
            <a:off x="1051560" y="3730752"/>
            <a:ext cx="10515600" cy="411480"/>
          </a:xfrm>
          <a:prstGeom prst="rect">
            <a:avLst/>
          </a:prstGeom>
          <a:noFill/>
          <a:ln/>
        </p:spPr>
        <p:txBody>
          <a:bodyPr wrap="square" lIns="0" tIns="0" rIns="0" bIns="0" rtlCol="0" anchor="ctr"/>
          <a:lstStyle/>
          <a:p>
            <a:pPr indent="0" marL="0">
              <a:buNone/>
            </a:pPr>
            <a:r>
              <a:rPr lang="en-US" sz="1350" b="1" dirty="0">
                <a:solidFill>
                  <a:schemeClr val="tx2"/>
                </a:solidFill>
              </a:rPr>
              <a:t>Supplier reply checked against the signal: read, revisions recognised, cited, rule-validated, authorised before disclosure</a:t>
            </a:r>
            <a:endParaRPr lang="en-US" sz="1350" dirty="0"/>
          </a:p>
        </p:txBody>
      </p:sp>
      <p:sp>
        <p:nvSpPr>
          <p:cNvPr id="20" name="Shape 18"/>
          <p:cNvSpPr/>
          <p:nvPr/>
        </p:nvSpPr>
        <p:spPr>
          <a:xfrm>
            <a:off x="548640" y="4297680"/>
            <a:ext cx="365760" cy="365760"/>
          </a:xfrm>
          <a:prstGeom prst="ellipse">
            <a:avLst/>
          </a:prstGeom>
          <a:solidFill>
            <a:schemeClr val="accent1"/>
          </a:solidFill>
          <a:ln w="12700">
            <a:solidFill>
              <a:schemeClr val="accent1"/>
            </a:solidFill>
            <a:prstDash val="solid"/>
          </a:ln>
        </p:spPr>
      </p:sp>
      <p:sp>
        <p:nvSpPr>
          <p:cNvPr id="21" name="Text 19"/>
          <p:cNvSpPr txBox="1"/>
          <p:nvPr/>
        </p:nvSpPr>
        <p:spPr>
          <a:xfrm>
            <a:off x="548640" y="4297680"/>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2" name="Text 20"/>
          <p:cNvSpPr txBox="1"/>
          <p:nvPr/>
        </p:nvSpPr>
        <p:spPr>
          <a:xfrm>
            <a:off x="1051560" y="4279392"/>
            <a:ext cx="10515600" cy="411480"/>
          </a:xfrm>
          <a:prstGeom prst="rect">
            <a:avLst/>
          </a:prstGeom>
          <a:noFill/>
          <a:ln/>
        </p:spPr>
        <p:txBody>
          <a:bodyPr wrap="square" lIns="0" tIns="0" rIns="0" bIns="0" rtlCol="0" anchor="ctr"/>
          <a:lstStyle/>
          <a:p>
            <a:pPr indent="0" marL="0">
              <a:buNone/>
            </a:pPr>
            <a:r>
              <a:rPr lang="en-US" sz="1350" b="1" dirty="0">
                <a:solidFill>
                  <a:schemeClr val="tx2"/>
                </a:solidFill>
              </a:rPr>
              <a:t>The decision lands as one of three</a:t>
            </a:r>
            <a:endParaRPr lang="en-US" sz="1350" dirty="0"/>
          </a:p>
        </p:txBody>
      </p:sp>
      <p:sp>
        <p:nvSpPr>
          <p:cNvPr id="23" name="Shape 21"/>
          <p:cNvSpPr/>
          <p:nvPr/>
        </p:nvSpPr>
        <p:spPr>
          <a:xfrm>
            <a:off x="548640" y="4800600"/>
            <a:ext cx="3566160" cy="1188720"/>
          </a:xfrm>
          <a:prstGeom prst="roundRect">
            <a:avLst>
              <a:gd name="adj" fmla="val 6154"/>
            </a:avLst>
          </a:prstGeom>
          <a:solidFill>
            <a:schemeClr val="bg2"/>
          </a:solidFill>
          <a:ln w="9525">
            <a:solidFill>
              <a:srgbClr val="D9E6E1"/>
            </a:solidFill>
            <a:prstDash val="solid"/>
          </a:ln>
        </p:spPr>
      </p:sp>
      <p:sp>
        <p:nvSpPr>
          <p:cNvPr id="24" name="Shape 22"/>
          <p:cNvSpPr/>
          <p:nvPr/>
        </p:nvSpPr>
        <p:spPr>
          <a:xfrm>
            <a:off x="749808" y="4965192"/>
            <a:ext cx="1234440" cy="274320"/>
          </a:xfrm>
          <a:prstGeom prst="rect">
            <a:avLst/>
          </a:prstGeom>
          <a:solidFill>
            <a:schemeClr val="accent1"/>
          </a:solidFill>
          <a:ln w="12700">
            <a:solidFill>
              <a:srgbClr val="D9E6E1"/>
            </a:solidFill>
            <a:prstDash val="solid"/>
          </a:ln>
        </p:spPr>
      </p:sp>
      <p:sp>
        <p:nvSpPr>
          <p:cNvPr id="25" name="Text 23"/>
          <p:cNvSpPr txBox="1"/>
          <p:nvPr/>
        </p:nvSpPr>
        <p:spPr>
          <a:xfrm>
            <a:off x="74980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CHANGE</a:t>
            </a:r>
            <a:endParaRPr lang="en-US" sz="1050" dirty="0"/>
          </a:p>
        </p:txBody>
      </p:sp>
      <p:sp>
        <p:nvSpPr>
          <p:cNvPr id="26" name="Text 24"/>
          <p:cNvSpPr txBox="1"/>
          <p:nvPr/>
        </p:nvSpPr>
        <p:spPr>
          <a:xfrm>
            <a:off x="210312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Request a change</a:t>
            </a:r>
            <a:endParaRPr lang="en-US" sz="1400" dirty="0"/>
          </a:p>
        </p:txBody>
      </p:sp>
      <p:sp>
        <p:nvSpPr>
          <p:cNvPr id="27" name="Text 25"/>
          <p:cNvSpPr txBox="1"/>
          <p:nvPr/>
        </p:nvSpPr>
        <p:spPr>
          <a:xfrm>
            <a:off x="74980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A change draft goes to existing procurement approval.</a:t>
            </a:r>
            <a:endParaRPr lang="en-US" sz="1200" dirty="0"/>
          </a:p>
        </p:txBody>
      </p:sp>
      <p:sp>
        <p:nvSpPr>
          <p:cNvPr id="28" name="Shape 26"/>
          <p:cNvSpPr/>
          <p:nvPr/>
        </p:nvSpPr>
        <p:spPr>
          <a:xfrm>
            <a:off x="4297680" y="4800600"/>
            <a:ext cx="3566160" cy="1188720"/>
          </a:xfrm>
          <a:prstGeom prst="roundRect">
            <a:avLst>
              <a:gd name="adj" fmla="val 6154"/>
            </a:avLst>
          </a:prstGeom>
          <a:solidFill>
            <a:schemeClr val="bg2"/>
          </a:solidFill>
          <a:ln w="9525">
            <a:solidFill>
              <a:srgbClr val="D9E6E1"/>
            </a:solidFill>
            <a:prstDash val="solid"/>
          </a:ln>
        </p:spPr>
      </p:sp>
      <p:sp>
        <p:nvSpPr>
          <p:cNvPr id="29" name="Shape 27"/>
          <p:cNvSpPr/>
          <p:nvPr/>
        </p:nvSpPr>
        <p:spPr>
          <a:xfrm>
            <a:off x="4498848" y="4965192"/>
            <a:ext cx="1234440" cy="274320"/>
          </a:xfrm>
          <a:prstGeom prst="rect">
            <a:avLst/>
          </a:prstGeom>
          <a:solidFill>
            <a:schemeClr val="tx2"/>
          </a:solidFill>
          <a:ln w="12700">
            <a:solidFill>
              <a:srgbClr val="D9E6E1"/>
            </a:solidFill>
            <a:prstDash val="solid"/>
          </a:ln>
        </p:spPr>
      </p:sp>
      <p:sp>
        <p:nvSpPr>
          <p:cNvPr id="30" name="Text 28"/>
          <p:cNvSpPr txBox="1"/>
          <p:nvPr/>
        </p:nvSpPr>
        <p:spPr>
          <a:xfrm>
            <a:off x="449884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KEEP · STOP</a:t>
            </a:r>
            <a:endParaRPr lang="en-US" sz="1050" dirty="0"/>
          </a:p>
        </p:txBody>
      </p:sp>
      <p:sp>
        <p:nvSpPr>
          <p:cNvPr id="31" name="Text 29"/>
          <p:cNvSpPr txBox="1"/>
          <p:nvPr/>
        </p:nvSpPr>
        <p:spPr>
          <a:xfrm>
            <a:off x="585216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Keep the plan</a:t>
            </a:r>
            <a:endParaRPr lang="en-US" sz="1400" dirty="0"/>
          </a:p>
        </p:txBody>
      </p:sp>
      <p:sp>
        <p:nvSpPr>
          <p:cNvPr id="32" name="Text 30"/>
          <p:cNvSpPr txBox="1"/>
          <p:nvPr/>
        </p:nvSpPr>
        <p:spPr>
          <a:xfrm>
            <a:off x="449884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Reason recorded, plan untouched; routed for approval where policy requires.</a:t>
            </a:r>
            <a:endParaRPr lang="en-US" sz="1200" dirty="0"/>
          </a:p>
        </p:txBody>
      </p:sp>
      <p:sp>
        <p:nvSpPr>
          <p:cNvPr id="33" name="Shape 31"/>
          <p:cNvSpPr/>
          <p:nvPr/>
        </p:nvSpPr>
        <p:spPr>
          <a:xfrm>
            <a:off x="8046720" y="4800600"/>
            <a:ext cx="3566160" cy="1188720"/>
          </a:xfrm>
          <a:prstGeom prst="roundRect">
            <a:avLst>
              <a:gd name="adj" fmla="val 6154"/>
            </a:avLst>
          </a:prstGeom>
          <a:solidFill>
            <a:schemeClr val="bg2"/>
          </a:solidFill>
          <a:ln w="9525">
            <a:solidFill>
              <a:srgbClr val="D9E6E1"/>
            </a:solidFill>
            <a:prstDash val="solid"/>
          </a:ln>
        </p:spPr>
      </p:sp>
      <p:sp>
        <p:nvSpPr>
          <p:cNvPr id="34" name="Shape 32"/>
          <p:cNvSpPr/>
          <p:nvPr/>
        </p:nvSpPr>
        <p:spPr>
          <a:xfrm>
            <a:off x="8247888" y="4965192"/>
            <a:ext cx="1234440" cy="274320"/>
          </a:xfrm>
          <a:prstGeom prst="rect">
            <a:avLst/>
          </a:prstGeom>
          <a:solidFill>
            <a:schemeClr val="accent2"/>
          </a:solidFill>
          <a:ln w="12700">
            <a:solidFill>
              <a:srgbClr val="D9E6E1"/>
            </a:solidFill>
            <a:prstDash val="solid"/>
          </a:ln>
        </p:spPr>
      </p:sp>
      <p:sp>
        <p:nvSpPr>
          <p:cNvPr id="35" name="Text 33"/>
          <p:cNvSpPr txBox="1"/>
          <p:nvPr/>
        </p:nvSpPr>
        <p:spPr>
          <a:xfrm>
            <a:off x="8247888" y="4965192"/>
            <a:ext cx="1234440" cy="274320"/>
          </a:xfrm>
          <a:prstGeom prst="rect">
            <a:avLst/>
          </a:prstGeom>
          <a:noFill/>
          <a:ln/>
        </p:spPr>
        <p:txBody>
          <a:bodyPr wrap="square" lIns="0" tIns="0" rIns="0" bIns="0" rtlCol="0" anchor="ctr"/>
          <a:lstStyle/>
          <a:p>
            <a:pPr algn="ctr" indent="0" marL="0">
              <a:buNone/>
            </a:pPr>
            <a:r>
              <a:rPr lang="en-US" sz="1050" b="1" dirty="0">
                <a:solidFill>
                  <a:schemeClr val="bg1"/>
                </a:solidFill>
              </a:rPr>
              <a:t>WAIT</a:t>
            </a:r>
            <a:endParaRPr lang="en-US" sz="1050" dirty="0"/>
          </a:p>
        </p:txBody>
      </p:sp>
      <p:sp>
        <p:nvSpPr>
          <p:cNvPr id="36" name="Text 34"/>
          <p:cNvSpPr txBox="1"/>
          <p:nvPr/>
        </p:nvSpPr>
        <p:spPr>
          <a:xfrm>
            <a:off x="9601200" y="4937760"/>
            <a:ext cx="1828800" cy="329184"/>
          </a:xfrm>
          <a:prstGeom prst="rect">
            <a:avLst/>
          </a:prstGeom>
          <a:noFill/>
          <a:ln/>
        </p:spPr>
        <p:txBody>
          <a:bodyPr wrap="square" lIns="0" tIns="0" rIns="0" bIns="0" rtlCol="0" anchor="ctr"/>
          <a:lstStyle/>
          <a:p>
            <a:pPr indent="0" marL="0">
              <a:buNone/>
            </a:pPr>
            <a:r>
              <a:rPr lang="en-US" sz="1400" b="1" dirty="0">
                <a:solidFill>
                  <a:schemeClr val="tx2"/>
                </a:solidFill>
              </a:rPr>
              <a:t>Wait, with an owner</a:t>
            </a:r>
            <a:endParaRPr lang="en-US" sz="1400" dirty="0"/>
          </a:p>
        </p:txBody>
      </p:sp>
      <p:sp>
        <p:nvSpPr>
          <p:cNvPr id="37" name="Text 35"/>
          <p:cNvSpPr txBox="1"/>
          <p:nvPr/>
        </p:nvSpPr>
        <p:spPr>
          <a:xfrm>
            <a:off x="8247888" y="5330952"/>
            <a:ext cx="3163824" cy="621792"/>
          </a:xfrm>
          <a:prstGeom prst="rect">
            <a:avLst/>
          </a:prstGeom>
          <a:noFill/>
          <a:ln/>
        </p:spPr>
        <p:txBody>
          <a:bodyPr wrap="square" lIns="0" tIns="0" rIns="0" bIns="0" rtlCol="0" anchor="t"/>
          <a:lstStyle/>
          <a:p>
            <a:pPr indent="0" marL="0">
              <a:buNone/>
            </a:pPr>
            <a:r>
              <a:rPr lang="en-US" sz="1200" dirty="0">
                <a:solidFill>
                  <a:schemeClr val="tx1"/>
                </a:solidFill>
              </a:rPr>
              <a:t>One question, a deadline, resumes on reply.</a:t>
            </a:r>
            <a:endParaRPr lang="en-US" sz="1200" dirty="0"/>
          </a:p>
        </p:txBody>
      </p:sp>
      <p:sp>
        <p:nvSpPr>
          <p:cNvPr id="38" name="Text 36"/>
          <p:cNvSpPr txBox="1"/>
          <p:nvPr/>
        </p:nvSpPr>
        <p:spPr>
          <a:xfrm>
            <a:off x="548640" y="6108192"/>
            <a:ext cx="11064240" cy="292608"/>
          </a:xfrm>
          <a:prstGeom prst="rect">
            <a:avLst/>
          </a:prstGeom>
          <a:noFill/>
          <a:ln/>
        </p:spPr>
        <p:txBody>
          <a:bodyPr wrap="square" lIns="0" tIns="0" rIns="0" bIns="0" rtlCol="0" anchor="t"/>
          <a:lstStyle/>
          <a:p>
            <a:pPr indent="0" marL="0">
              <a:buNone/>
            </a:pPr>
            <a:r>
              <a:rPr lang="en-US" sz="1150" dirty="0">
                <a:solidFill>
                  <a:schemeClr val="accent4"/>
                </a:solidFill>
              </a:rPr>
              <a:t>Quantity boundary: only an approved request or an explicit rule over reconciled requests. Abundant supply never becomes demand.</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Why this, not a form, a module, or the inbox</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The honest competitor is a strong form with the same rules. The pilot includes it as an arm.</a:t>
            </a:r>
            <a:endParaRPr lang="en-US" sz="13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64240" cy="914400"/>
        </p:xfrm>
        <a:graphic>
          <a:graphicData uri="http://schemas.openxmlformats.org/drawingml/2006/table">
            <a:tbl>
              <a:tblPr/>
              <a:tblGrid>
                <a:gridCol w="2377440"/>
                <a:gridCol w="2011680"/>
                <a:gridCol w="2103120"/>
                <a:gridCol w="2103120"/>
                <a:gridCol w="2468880"/>
              </a:tblGrid>
              <a:tr h="502920">
                <a:tc>
                  <a:txBody>
                    <a:bodyPr/>
                    <a:lstStyle/>
                    <a:p>
                      <a:pPr indent="0" marL="0">
                        <a:buNone/>
                      </a:pP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Inbox + sheet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Strong form + rules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Incumbent modules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Demand Pulse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Reads a free-form reply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human re-types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not read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partly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reads and cites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Missing evidence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forced to yes/no</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blank field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varies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stays unknown · WAIT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Authority separation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none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if designed</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inside their suite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enforced in code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Handoff to approval</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B3261E"/>
                          </a:solidFill>
                          <a:latin typeface="Calibri" pitchFamily="34" charset="0"/>
                          <a:ea typeface="Calibri" pitchFamily="34" charset="-122"/>
                          <a:cs typeface="Calibri" pitchFamily="34" charset="-120"/>
                        </a:rPr>
                        <a:t>typed note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C8781E"/>
                          </a:solidFill>
                          <a:latin typeface="Calibri" pitchFamily="34" charset="0"/>
                          <a:ea typeface="Calibri" pitchFamily="34" charset="-122"/>
                          <a:cs typeface="Calibri" pitchFamily="34" charset="-120"/>
                        </a:rPr>
                        <a:t>form output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native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16765F"/>
                          </a:solidFill>
                          <a:latin typeface="Calibri" pitchFamily="34" charset="0"/>
                          <a:ea typeface="Calibri" pitchFamily="34" charset="-122"/>
                          <a:cs typeface="Calibri" pitchFamily="34" charset="-120"/>
                        </a:rPr>
                        <a:t>version-linked request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0292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Cost to adopt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minutes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low</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licence + integration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14353A"/>
                          </a:solidFill>
                          <a:latin typeface="Calibri" pitchFamily="34" charset="0"/>
                          <a:ea typeface="Calibri" pitchFamily="34" charset="-122"/>
                          <a:cs typeface="Calibri" pitchFamily="34" charset="-120"/>
                        </a:rPr>
                        <a:t>&lt; USD 1 per case + integration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5" name="Shape 2"/>
          <p:cNvSpPr/>
          <p:nvPr/>
        </p:nvSpPr>
        <p:spPr>
          <a:xfrm>
            <a:off x="548640" y="5074920"/>
            <a:ext cx="11064240" cy="1097280"/>
          </a:xfrm>
          <a:prstGeom prst="roundRect">
            <a:avLst>
              <a:gd name="adj" fmla="val 6667"/>
            </a:avLst>
          </a:prstGeom>
          <a:solidFill>
            <a:schemeClr val="bg1"/>
          </a:solidFill>
          <a:ln w="9525">
            <a:solidFill>
              <a:srgbClr val="D9E6E1"/>
            </a:solidFill>
            <a:prstDash val="solid"/>
          </a:ln>
        </p:spPr>
      </p:sp>
      <p:sp>
        <p:nvSpPr>
          <p:cNvPr id="6" name="Text 3"/>
          <p:cNvSpPr txBox="1"/>
          <p:nvPr/>
        </p:nvSpPr>
        <p:spPr>
          <a:xfrm>
            <a:off x="777240" y="5193792"/>
            <a:ext cx="10607040" cy="914400"/>
          </a:xfrm>
          <a:prstGeom prst="rect">
            <a:avLst/>
          </a:prstGeom>
          <a:noFill/>
          <a:ln/>
        </p:spPr>
        <p:txBody>
          <a:bodyPr wrap="square" lIns="0" tIns="0" rIns="0" bIns="0" rtlCol="0" anchor="t"/>
          <a:lstStyle/>
          <a:p>
            <a:pPr marL="177800" indent="-177800">
              <a:spcAft>
                <a:spcPts val="300"/>
              </a:spcAft>
              <a:buSzPct val="100000"/>
              <a:buChar char="•"/>
            </a:pPr>
            <a:r>
              <a:rPr lang="en-US" sz="1250" dirty="0">
                <a:solidFill>
                  <a:schemeClr val="tx1"/>
                </a:solidFill>
              </a:rPr>
              <a:t>Priority: the loop and its guardrails before any forecasting, because the form is the real competitor</a:t>
            </a:r>
            <a:endParaRPr lang="en-US" sz="1250" dirty="0"/>
          </a:p>
          <a:p>
            <a:pPr marL="177800" indent="-177800">
              <a:spcAft>
                <a:spcPts val="300"/>
              </a:spcAft>
              <a:buSzPct val="100000"/>
              <a:buChar char="•"/>
            </a:pPr>
            <a:r>
              <a:rPr lang="en-US" sz="1250" dirty="0">
                <a:solidFill>
                  <a:schemeClr val="tx1"/>
                </a:solidFill>
              </a:rPr>
              <a:t>Adoption: the retailer pays; the supplier keeps replying by email, no new portal</a:t>
            </a:r>
            <a:endParaRPr lang="en-US" sz="1250" dirty="0"/>
          </a:p>
          <a:p>
            <a:pPr marL="177800" indent="-177800">
              <a:spcAft>
                <a:spcPts val="300"/>
              </a:spcAft>
              <a:buSzPct val="100000"/>
              <a:buChar char="•"/>
            </a:pPr>
            <a:r>
              <a:rPr lang="en-US" sz="1250" dirty="0">
                <a:solidFill>
                  <a:schemeClr val="tx1"/>
                </a:solidFill>
              </a:rPr>
              <a:t>Claim: less total work at equal correctness, not a lower price</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One loop, three kinds of authority</a:t>
            </a:r>
            <a:endParaRPr lang="en-US" sz="3200" dirty="0"/>
          </a:p>
        </p:txBody>
      </p:sp>
      <p:sp>
        <p:nvSpPr>
          <p:cNvPr id="3" name="Shape 1"/>
          <p:cNvSpPr/>
          <p:nvPr/>
        </p:nvSpPr>
        <p:spPr>
          <a:xfrm>
            <a:off x="548640" y="1463040"/>
            <a:ext cx="1258786" cy="960120"/>
          </a:xfrm>
          <a:prstGeom prst="roundRect">
            <a:avLst>
              <a:gd name="adj" fmla="val 7619"/>
            </a:avLst>
          </a:prstGeom>
          <a:solidFill>
            <a:schemeClr val="bg2"/>
          </a:solidFill>
          <a:ln/>
        </p:spPr>
      </p:sp>
      <p:sp>
        <p:nvSpPr>
          <p:cNvPr id="4" name="Text 2"/>
          <p:cNvSpPr txBox="1"/>
          <p:nvPr/>
        </p:nvSpPr>
        <p:spPr>
          <a:xfrm>
            <a:off x="603504"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Demand signal arrives</a:t>
            </a:r>
            <a:endParaRPr lang="en-US" sz="1150" dirty="0"/>
          </a:p>
        </p:txBody>
      </p:sp>
      <p:sp>
        <p:nvSpPr>
          <p:cNvPr id="5" name="Shape 3"/>
          <p:cNvSpPr/>
          <p:nvPr/>
        </p:nvSpPr>
        <p:spPr>
          <a:xfrm>
            <a:off x="1816570" y="1837944"/>
            <a:ext cx="128016" cy="210312"/>
          </a:xfrm>
          <a:prstGeom prst="rightArrow">
            <a:avLst/>
          </a:prstGeom>
          <a:solidFill>
            <a:schemeClr val="accent4"/>
          </a:solidFill>
          <a:ln w="12700">
            <a:solidFill>
              <a:srgbClr val="557078"/>
            </a:solidFill>
            <a:prstDash val="solid"/>
          </a:ln>
        </p:spPr>
      </p:sp>
      <p:sp>
        <p:nvSpPr>
          <p:cNvPr id="6" name="Shape 4"/>
          <p:cNvSpPr/>
          <p:nvPr/>
        </p:nvSpPr>
        <p:spPr>
          <a:xfrm>
            <a:off x="1953730" y="1463040"/>
            <a:ext cx="1258786" cy="960120"/>
          </a:xfrm>
          <a:prstGeom prst="roundRect">
            <a:avLst>
              <a:gd name="adj" fmla="val 7619"/>
            </a:avLst>
          </a:prstGeom>
          <a:solidFill>
            <a:schemeClr val="accent1"/>
          </a:solidFill>
          <a:ln w="19050">
            <a:solidFill>
              <a:srgbClr val="14353A"/>
            </a:solidFill>
            <a:prstDash val="dash"/>
          </a:ln>
        </p:spPr>
      </p:sp>
      <p:sp>
        <p:nvSpPr>
          <p:cNvPr id="7" name="Text 5"/>
          <p:cNvSpPr txBox="1"/>
          <p:nvPr/>
        </p:nvSpPr>
        <p:spPr>
          <a:xfrm>
            <a:off x="2008594" y="1463040"/>
            <a:ext cx="1149058" cy="960120"/>
          </a:xfrm>
          <a:prstGeom prst="rect">
            <a:avLst/>
          </a:prstGeom>
          <a:noFill/>
          <a:ln/>
        </p:spPr>
        <p:txBody>
          <a:bodyPr wrap="square" lIns="0" tIns="0" rIns="0" bIns="0" rtlCol="0" anchor="ctr"/>
          <a:lstStyle/>
          <a:p>
            <a:pPr algn="ctr" indent="0" marL="0">
              <a:buNone/>
            </a:pPr>
            <a:r>
              <a:rPr lang="en-US" sz="1050" b="1" dirty="0">
                <a:solidFill>
                  <a:schemeClr val="bg1"/>
                </a:solidFill>
              </a:rPr>
              <a:t>Demand gate: continue · clarify · pause</a:t>
            </a:r>
            <a:endParaRPr lang="en-US" sz="1050" dirty="0"/>
          </a:p>
        </p:txBody>
      </p:sp>
      <p:sp>
        <p:nvSpPr>
          <p:cNvPr id="8" name="Shape 6"/>
          <p:cNvSpPr/>
          <p:nvPr/>
        </p:nvSpPr>
        <p:spPr>
          <a:xfrm>
            <a:off x="3221660" y="1837944"/>
            <a:ext cx="128016" cy="210312"/>
          </a:xfrm>
          <a:prstGeom prst="rightArrow">
            <a:avLst/>
          </a:prstGeom>
          <a:solidFill>
            <a:schemeClr val="accent4"/>
          </a:solidFill>
          <a:ln w="12700">
            <a:solidFill>
              <a:srgbClr val="557078"/>
            </a:solidFill>
            <a:prstDash val="solid"/>
          </a:ln>
        </p:spPr>
      </p:sp>
      <p:sp>
        <p:nvSpPr>
          <p:cNvPr id="9" name="Shape 7"/>
          <p:cNvSpPr/>
          <p:nvPr/>
        </p:nvSpPr>
        <p:spPr>
          <a:xfrm>
            <a:off x="3358820" y="1463040"/>
            <a:ext cx="1258786" cy="960120"/>
          </a:xfrm>
          <a:prstGeom prst="roundRect">
            <a:avLst>
              <a:gd name="adj" fmla="val 7619"/>
            </a:avLst>
          </a:prstGeom>
          <a:solidFill>
            <a:schemeClr val="bg2"/>
          </a:solidFill>
          <a:ln/>
        </p:spPr>
      </p:sp>
      <p:sp>
        <p:nvSpPr>
          <p:cNvPr id="10" name="Text 8"/>
          <p:cNvSpPr txBox="1"/>
          <p:nvPr/>
        </p:nvSpPr>
        <p:spPr>
          <a:xfrm>
            <a:off x="3413684"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Supplier reply arrives by email</a:t>
            </a:r>
            <a:endParaRPr lang="en-US" sz="1150" dirty="0"/>
          </a:p>
        </p:txBody>
      </p:sp>
      <p:sp>
        <p:nvSpPr>
          <p:cNvPr id="11" name="Shape 9"/>
          <p:cNvSpPr/>
          <p:nvPr/>
        </p:nvSpPr>
        <p:spPr>
          <a:xfrm>
            <a:off x="4626750" y="1837944"/>
            <a:ext cx="128016" cy="210312"/>
          </a:xfrm>
          <a:prstGeom prst="rightArrow">
            <a:avLst/>
          </a:prstGeom>
          <a:solidFill>
            <a:schemeClr val="accent4"/>
          </a:solidFill>
          <a:ln w="12700">
            <a:solidFill>
              <a:srgbClr val="557078"/>
            </a:solidFill>
            <a:prstDash val="solid"/>
          </a:ln>
        </p:spPr>
      </p:sp>
      <p:sp>
        <p:nvSpPr>
          <p:cNvPr id="12" name="Shape 10"/>
          <p:cNvSpPr/>
          <p:nvPr/>
        </p:nvSpPr>
        <p:spPr>
          <a:xfrm>
            <a:off x="4763910" y="1463040"/>
            <a:ext cx="1258786" cy="960120"/>
          </a:xfrm>
          <a:prstGeom prst="roundRect">
            <a:avLst>
              <a:gd name="adj" fmla="val 7619"/>
            </a:avLst>
          </a:prstGeom>
          <a:solidFill>
            <a:schemeClr val="tx1"/>
          </a:solidFill>
          <a:ln/>
        </p:spPr>
      </p:sp>
      <p:sp>
        <p:nvSpPr>
          <p:cNvPr id="13" name="Text 11"/>
          <p:cNvSpPr txBox="1"/>
          <p:nvPr/>
        </p:nvSpPr>
        <p:spPr>
          <a:xfrm>
            <a:off x="481877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Model reads and cites</a:t>
            </a:r>
            <a:endParaRPr lang="en-US" sz="1150" dirty="0"/>
          </a:p>
        </p:txBody>
      </p:sp>
      <p:sp>
        <p:nvSpPr>
          <p:cNvPr id="14" name="Shape 12"/>
          <p:cNvSpPr/>
          <p:nvPr/>
        </p:nvSpPr>
        <p:spPr>
          <a:xfrm>
            <a:off x="6031840" y="1837944"/>
            <a:ext cx="128016" cy="210312"/>
          </a:xfrm>
          <a:prstGeom prst="rightArrow">
            <a:avLst/>
          </a:prstGeom>
          <a:solidFill>
            <a:schemeClr val="accent4"/>
          </a:solidFill>
          <a:ln w="12700">
            <a:solidFill>
              <a:srgbClr val="557078"/>
            </a:solidFill>
            <a:prstDash val="solid"/>
          </a:ln>
        </p:spPr>
      </p:sp>
      <p:sp>
        <p:nvSpPr>
          <p:cNvPr id="15" name="Shape 13"/>
          <p:cNvSpPr/>
          <p:nvPr/>
        </p:nvSpPr>
        <p:spPr>
          <a:xfrm>
            <a:off x="6169000" y="1463040"/>
            <a:ext cx="1258786" cy="960120"/>
          </a:xfrm>
          <a:prstGeom prst="roundRect">
            <a:avLst>
              <a:gd name="adj" fmla="val 7619"/>
            </a:avLst>
          </a:prstGeom>
          <a:solidFill>
            <a:schemeClr val="accent1"/>
          </a:solidFill>
          <a:ln/>
        </p:spPr>
      </p:sp>
      <p:sp>
        <p:nvSpPr>
          <p:cNvPr id="16" name="Text 14"/>
          <p:cNvSpPr txBox="1"/>
          <p:nvPr/>
        </p:nvSpPr>
        <p:spPr>
          <a:xfrm>
            <a:off x="622386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Rules validate, model audits</a:t>
            </a:r>
            <a:endParaRPr lang="en-US" sz="1150" dirty="0"/>
          </a:p>
        </p:txBody>
      </p:sp>
      <p:sp>
        <p:nvSpPr>
          <p:cNvPr id="17" name="Shape 15"/>
          <p:cNvSpPr/>
          <p:nvPr/>
        </p:nvSpPr>
        <p:spPr>
          <a:xfrm>
            <a:off x="7436930" y="1837944"/>
            <a:ext cx="128016" cy="210312"/>
          </a:xfrm>
          <a:prstGeom prst="rightArrow">
            <a:avLst/>
          </a:prstGeom>
          <a:solidFill>
            <a:schemeClr val="accent4"/>
          </a:solidFill>
          <a:ln w="12700">
            <a:solidFill>
              <a:srgbClr val="557078"/>
            </a:solidFill>
            <a:prstDash val="solid"/>
          </a:ln>
        </p:spPr>
      </p:sp>
      <p:sp>
        <p:nvSpPr>
          <p:cNvPr id="18" name="Shape 16"/>
          <p:cNvSpPr/>
          <p:nvPr/>
        </p:nvSpPr>
        <p:spPr>
          <a:xfrm>
            <a:off x="7574090" y="1463040"/>
            <a:ext cx="1258786" cy="960120"/>
          </a:xfrm>
          <a:prstGeom prst="roundRect">
            <a:avLst>
              <a:gd name="adj" fmla="val 7619"/>
            </a:avLst>
          </a:prstGeom>
          <a:solidFill>
            <a:schemeClr val="accent2"/>
          </a:solidFill>
          <a:ln/>
        </p:spPr>
      </p:sp>
      <p:sp>
        <p:nvSpPr>
          <p:cNvPr id="19" name="Text 17"/>
          <p:cNvSpPr txBox="1"/>
          <p:nvPr/>
        </p:nvSpPr>
        <p:spPr>
          <a:xfrm>
            <a:off x="7628954"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Supplier authorises disclosure</a:t>
            </a:r>
            <a:endParaRPr lang="en-US" sz="1150" dirty="0"/>
          </a:p>
        </p:txBody>
      </p:sp>
      <p:sp>
        <p:nvSpPr>
          <p:cNvPr id="20" name="Shape 18"/>
          <p:cNvSpPr/>
          <p:nvPr/>
        </p:nvSpPr>
        <p:spPr>
          <a:xfrm>
            <a:off x="8842019" y="1837944"/>
            <a:ext cx="128016" cy="210312"/>
          </a:xfrm>
          <a:prstGeom prst="rightArrow">
            <a:avLst/>
          </a:prstGeom>
          <a:solidFill>
            <a:schemeClr val="accent4"/>
          </a:solidFill>
          <a:ln w="12700">
            <a:solidFill>
              <a:srgbClr val="557078"/>
            </a:solidFill>
            <a:prstDash val="solid"/>
          </a:ln>
        </p:spPr>
      </p:sp>
      <p:sp>
        <p:nvSpPr>
          <p:cNvPr id="21" name="Shape 19"/>
          <p:cNvSpPr/>
          <p:nvPr/>
        </p:nvSpPr>
        <p:spPr>
          <a:xfrm>
            <a:off x="8979179" y="1463040"/>
            <a:ext cx="1258786" cy="960120"/>
          </a:xfrm>
          <a:prstGeom prst="roundRect">
            <a:avLst>
              <a:gd name="adj" fmla="val 7619"/>
            </a:avLst>
          </a:prstGeom>
          <a:solidFill>
            <a:schemeClr val="accent2"/>
          </a:solidFill>
          <a:ln/>
        </p:spPr>
      </p:sp>
      <p:sp>
        <p:nvSpPr>
          <p:cNvPr id="22" name="Text 20"/>
          <p:cNvSpPr txBox="1"/>
          <p:nvPr/>
        </p:nvSpPr>
        <p:spPr>
          <a:xfrm>
            <a:off x="9034043" y="1463040"/>
            <a:ext cx="1149058" cy="960120"/>
          </a:xfrm>
          <a:prstGeom prst="rect">
            <a:avLst/>
          </a:prstGeom>
          <a:noFill/>
          <a:ln/>
        </p:spPr>
        <p:txBody>
          <a:bodyPr wrap="square" lIns="0" tIns="0" rIns="0" bIns="0" rtlCol="0" anchor="ctr"/>
          <a:lstStyle/>
          <a:p>
            <a:pPr algn="ctr" indent="0" marL="0">
              <a:buNone/>
            </a:pPr>
            <a:r>
              <a:rPr lang="en-US" sz="1150" b="1" dirty="0">
                <a:solidFill>
                  <a:schemeClr val="bg1"/>
                </a:solidFill>
              </a:rPr>
              <a:t>Planner decides</a:t>
            </a:r>
            <a:endParaRPr lang="en-US" sz="1150" dirty="0"/>
          </a:p>
        </p:txBody>
      </p:sp>
      <p:sp>
        <p:nvSpPr>
          <p:cNvPr id="23" name="Shape 21"/>
          <p:cNvSpPr/>
          <p:nvPr/>
        </p:nvSpPr>
        <p:spPr>
          <a:xfrm>
            <a:off x="10247109" y="1837944"/>
            <a:ext cx="128016" cy="210312"/>
          </a:xfrm>
          <a:prstGeom prst="rightArrow">
            <a:avLst/>
          </a:prstGeom>
          <a:solidFill>
            <a:schemeClr val="accent4"/>
          </a:solidFill>
          <a:ln w="12700">
            <a:solidFill>
              <a:srgbClr val="557078"/>
            </a:solidFill>
            <a:prstDash val="solid"/>
          </a:ln>
        </p:spPr>
      </p:sp>
      <p:sp>
        <p:nvSpPr>
          <p:cNvPr id="24" name="Shape 22"/>
          <p:cNvSpPr/>
          <p:nvPr/>
        </p:nvSpPr>
        <p:spPr>
          <a:xfrm>
            <a:off x="10384269" y="1463040"/>
            <a:ext cx="1258786" cy="960120"/>
          </a:xfrm>
          <a:prstGeom prst="roundRect">
            <a:avLst>
              <a:gd name="adj" fmla="val 7619"/>
            </a:avLst>
          </a:prstGeom>
          <a:solidFill>
            <a:schemeClr val="bg2"/>
          </a:solidFill>
          <a:ln/>
        </p:spPr>
      </p:sp>
      <p:sp>
        <p:nvSpPr>
          <p:cNvPr id="25" name="Text 23"/>
          <p:cNvSpPr txBox="1"/>
          <p:nvPr/>
        </p:nvSpPr>
        <p:spPr>
          <a:xfrm>
            <a:off x="10439133" y="1463040"/>
            <a:ext cx="1149058" cy="960120"/>
          </a:xfrm>
          <a:prstGeom prst="rect">
            <a:avLst/>
          </a:prstGeom>
          <a:noFill/>
          <a:ln/>
        </p:spPr>
        <p:txBody>
          <a:bodyPr wrap="square" lIns="0" tIns="0" rIns="0" bIns="0" rtlCol="0" anchor="ctr"/>
          <a:lstStyle/>
          <a:p>
            <a:pPr algn="ctr" indent="0" marL="0">
              <a:buNone/>
            </a:pPr>
            <a:r>
              <a:rPr lang="en-US" sz="1150" b="1" dirty="0">
                <a:solidFill>
                  <a:schemeClr val="tx1"/>
                </a:solidFill>
              </a:rPr>
              <a:t>Procurement receipt persisted</a:t>
            </a:r>
            <a:endParaRPr lang="en-US" sz="1150" dirty="0"/>
          </a:p>
        </p:txBody>
      </p:sp>
      <p:sp>
        <p:nvSpPr>
          <p:cNvPr id="26" name="Shape 24"/>
          <p:cNvSpPr/>
          <p:nvPr/>
        </p:nvSpPr>
        <p:spPr>
          <a:xfrm>
            <a:off x="548640" y="2971800"/>
            <a:ext cx="3566160" cy="2606040"/>
          </a:xfrm>
          <a:prstGeom prst="roundRect">
            <a:avLst>
              <a:gd name="adj" fmla="val 2807"/>
            </a:avLst>
          </a:prstGeom>
          <a:solidFill>
            <a:schemeClr val="bg2"/>
          </a:solidFill>
          <a:ln w="9525">
            <a:solidFill>
              <a:srgbClr val="D9E6E1"/>
            </a:solidFill>
            <a:prstDash val="solid"/>
          </a:ln>
        </p:spPr>
      </p:sp>
      <p:sp>
        <p:nvSpPr>
          <p:cNvPr id="27" name="Shape 25"/>
          <p:cNvSpPr/>
          <p:nvPr/>
        </p:nvSpPr>
        <p:spPr>
          <a:xfrm>
            <a:off x="749808" y="3154680"/>
            <a:ext cx="1463040" cy="310896"/>
          </a:xfrm>
          <a:prstGeom prst="rect">
            <a:avLst/>
          </a:prstGeom>
          <a:solidFill>
            <a:schemeClr val="tx1"/>
          </a:solidFill>
          <a:ln w="12700">
            <a:solidFill>
              <a:srgbClr val="D9E6E1"/>
            </a:solidFill>
            <a:prstDash val="solid"/>
          </a:ln>
        </p:spPr>
      </p:sp>
      <p:sp>
        <p:nvSpPr>
          <p:cNvPr id="28" name="Text 26"/>
          <p:cNvSpPr txBox="1"/>
          <p:nvPr/>
        </p:nvSpPr>
        <p:spPr>
          <a:xfrm>
            <a:off x="74980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Model may</a:t>
            </a:r>
            <a:endParaRPr lang="en-US" sz="1200" dirty="0"/>
          </a:p>
        </p:txBody>
      </p:sp>
      <p:sp>
        <p:nvSpPr>
          <p:cNvPr id="29" name="Text 27"/>
          <p:cNvSpPr txBox="1"/>
          <p:nvPr/>
        </p:nvSpPr>
        <p:spPr>
          <a:xfrm>
            <a:off x="74980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Read authorised sources</a:t>
            </a:r>
            <a:endParaRPr lang="en-US" sz="1250" dirty="0"/>
          </a:p>
          <a:p>
            <a:pPr marL="177800" indent="-177800">
              <a:spcAft>
                <a:spcPts val="500"/>
              </a:spcAft>
              <a:buSzPct val="100000"/>
              <a:buChar char="•"/>
            </a:pPr>
            <a:r>
              <a:rPr lang="en-US" sz="1250" dirty="0">
                <a:solidFill>
                  <a:schemeClr val="tx1"/>
                </a:solidFill>
              </a:rPr>
              <a:t>Judge the demand evidence: continue, clarify, pause</a:t>
            </a:r>
            <a:endParaRPr lang="en-US" sz="1250" dirty="0"/>
          </a:p>
          <a:p>
            <a:pPr marL="177800" indent="-177800">
              <a:spcAft>
                <a:spcPts val="500"/>
              </a:spcAft>
              <a:buSzPct val="100000"/>
              <a:buChar char="•"/>
            </a:pPr>
            <a:r>
              <a:rPr lang="en-US" sz="1250" dirty="0">
                <a:solidFill>
                  <a:schemeClr val="tx1"/>
                </a:solidFill>
              </a:rPr>
              <a:t>Cite, reconcile replies, name open conditions</a:t>
            </a:r>
            <a:endParaRPr lang="en-US" sz="1250" dirty="0"/>
          </a:p>
          <a:p>
            <a:pPr marL="177800" indent="-177800">
              <a:spcAft>
                <a:spcPts val="500"/>
              </a:spcAft>
              <a:buSzPct val="100000"/>
              <a:buChar char="•"/>
            </a:pPr>
            <a:r>
              <a:rPr lang="en-US" sz="1250" dirty="0">
                <a:solidFill>
                  <a:schemeClr val="tx1"/>
                </a:solidFill>
              </a:rPr>
              <a:t>Draft one next action or a change draft</a:t>
            </a:r>
            <a:endParaRPr lang="en-US" sz="1250" dirty="0"/>
          </a:p>
        </p:txBody>
      </p:sp>
      <p:sp>
        <p:nvSpPr>
          <p:cNvPr id="30" name="Shape 28"/>
          <p:cNvSpPr/>
          <p:nvPr/>
        </p:nvSpPr>
        <p:spPr>
          <a:xfrm>
            <a:off x="4297680" y="2971800"/>
            <a:ext cx="3566160" cy="2606040"/>
          </a:xfrm>
          <a:prstGeom prst="roundRect">
            <a:avLst>
              <a:gd name="adj" fmla="val 2807"/>
            </a:avLst>
          </a:prstGeom>
          <a:solidFill>
            <a:schemeClr val="bg2"/>
          </a:solidFill>
          <a:ln w="9525">
            <a:solidFill>
              <a:srgbClr val="D9E6E1"/>
            </a:solidFill>
            <a:prstDash val="solid"/>
          </a:ln>
        </p:spPr>
      </p:sp>
      <p:sp>
        <p:nvSpPr>
          <p:cNvPr id="31" name="Shape 29"/>
          <p:cNvSpPr/>
          <p:nvPr/>
        </p:nvSpPr>
        <p:spPr>
          <a:xfrm>
            <a:off x="4498848" y="3154680"/>
            <a:ext cx="1463040" cy="310896"/>
          </a:xfrm>
          <a:prstGeom prst="rect">
            <a:avLst/>
          </a:prstGeom>
          <a:solidFill>
            <a:schemeClr val="accent1"/>
          </a:solidFill>
          <a:ln w="12700">
            <a:solidFill>
              <a:srgbClr val="D9E6E1"/>
            </a:solidFill>
            <a:prstDash val="solid"/>
          </a:ln>
        </p:spPr>
      </p:sp>
      <p:sp>
        <p:nvSpPr>
          <p:cNvPr id="32" name="Text 30"/>
          <p:cNvSpPr txBox="1"/>
          <p:nvPr/>
        </p:nvSpPr>
        <p:spPr>
          <a:xfrm>
            <a:off x="449884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Rules enforce</a:t>
            </a:r>
            <a:endParaRPr lang="en-US" sz="1200" dirty="0"/>
          </a:p>
        </p:txBody>
      </p:sp>
      <p:sp>
        <p:nvSpPr>
          <p:cNvPr id="33" name="Text 31"/>
          <p:cNvSpPr txBox="1"/>
          <p:nvPr/>
        </p:nvSpPr>
        <p:spPr>
          <a:xfrm>
            <a:off x="449884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Exact quotes from sources actually read</a:t>
            </a:r>
            <a:endParaRPr lang="en-US" sz="1250" dirty="0"/>
          </a:p>
          <a:p>
            <a:pPr marL="177800" indent="-177800">
              <a:spcAft>
                <a:spcPts val="500"/>
              </a:spcAft>
              <a:buSzPct val="100000"/>
              <a:buChar char="•"/>
            </a:pPr>
            <a:r>
              <a:rPr lang="en-US" sz="1250" dirty="0">
                <a:solidFill>
                  <a:schemeClr val="tx1"/>
                </a:solidFill>
              </a:rPr>
              <a:t>Only a current continue opens investigation</a:t>
            </a:r>
            <a:endParaRPr lang="en-US" sz="1250" dirty="0"/>
          </a:p>
          <a:p>
            <a:pPr marL="177800" indent="-177800">
              <a:spcAft>
                <a:spcPts val="500"/>
              </a:spcAft>
              <a:buSzPct val="100000"/>
              <a:buChar char="•"/>
            </a:pPr>
            <a:r>
              <a:rPr lang="en-US" sz="1250" dirty="0">
                <a:solidFill>
                  <a:schemeClr val="tx1"/>
                </a:solidFill>
              </a:rPr>
              <a:t>Unknown stays unknown; baseline retained</a:t>
            </a:r>
            <a:endParaRPr lang="en-US" sz="1250" dirty="0"/>
          </a:p>
          <a:p>
            <a:pPr marL="177800" indent="-177800">
              <a:spcAft>
                <a:spcPts val="500"/>
              </a:spcAft>
              <a:buSzPct val="100000"/>
              <a:buChar char="•"/>
            </a:pPr>
            <a:r>
              <a:rPr lang="en-US" sz="1250" dirty="0">
                <a:solidFill>
                  <a:schemeClr val="tx1"/>
                </a:solidFill>
              </a:rPr>
              <a:t>Disclosure boundary, call cap, budget stop</a:t>
            </a:r>
            <a:endParaRPr lang="en-US" sz="1250" dirty="0"/>
          </a:p>
        </p:txBody>
      </p:sp>
      <p:sp>
        <p:nvSpPr>
          <p:cNvPr id="34" name="Shape 32"/>
          <p:cNvSpPr/>
          <p:nvPr/>
        </p:nvSpPr>
        <p:spPr>
          <a:xfrm>
            <a:off x="8046720" y="2971800"/>
            <a:ext cx="3566160" cy="2606040"/>
          </a:xfrm>
          <a:prstGeom prst="roundRect">
            <a:avLst>
              <a:gd name="adj" fmla="val 2807"/>
            </a:avLst>
          </a:prstGeom>
          <a:solidFill>
            <a:schemeClr val="bg2"/>
          </a:solidFill>
          <a:ln w="9525">
            <a:solidFill>
              <a:srgbClr val="D9E6E1"/>
            </a:solidFill>
            <a:prstDash val="solid"/>
          </a:ln>
        </p:spPr>
      </p:sp>
      <p:sp>
        <p:nvSpPr>
          <p:cNvPr id="35" name="Shape 33"/>
          <p:cNvSpPr/>
          <p:nvPr/>
        </p:nvSpPr>
        <p:spPr>
          <a:xfrm>
            <a:off x="8247888" y="3154680"/>
            <a:ext cx="1463040" cy="310896"/>
          </a:xfrm>
          <a:prstGeom prst="rect">
            <a:avLst/>
          </a:prstGeom>
          <a:solidFill>
            <a:schemeClr val="accent2"/>
          </a:solidFill>
          <a:ln w="12700">
            <a:solidFill>
              <a:srgbClr val="D9E6E1"/>
            </a:solidFill>
            <a:prstDash val="solid"/>
          </a:ln>
        </p:spPr>
      </p:sp>
      <p:sp>
        <p:nvSpPr>
          <p:cNvPr id="36" name="Text 34"/>
          <p:cNvSpPr txBox="1"/>
          <p:nvPr/>
        </p:nvSpPr>
        <p:spPr>
          <a:xfrm>
            <a:off x="8247888" y="3154680"/>
            <a:ext cx="1463040" cy="310896"/>
          </a:xfrm>
          <a:prstGeom prst="rect">
            <a:avLst/>
          </a:prstGeom>
          <a:noFill/>
          <a:ln/>
        </p:spPr>
        <p:txBody>
          <a:bodyPr wrap="square" lIns="0" tIns="0" rIns="0" bIns="0" rtlCol="0" anchor="ctr"/>
          <a:lstStyle/>
          <a:p>
            <a:pPr algn="ctr" indent="0" marL="0">
              <a:buNone/>
            </a:pPr>
            <a:r>
              <a:rPr lang="en-US" sz="1200" b="1" dirty="0">
                <a:solidFill>
                  <a:schemeClr val="bg1"/>
                </a:solidFill>
              </a:rPr>
              <a:t>Humans hold</a:t>
            </a:r>
            <a:endParaRPr lang="en-US" sz="1200" dirty="0"/>
          </a:p>
        </p:txBody>
      </p:sp>
      <p:sp>
        <p:nvSpPr>
          <p:cNvPr id="37" name="Text 35"/>
          <p:cNvSpPr txBox="1"/>
          <p:nvPr/>
        </p:nvSpPr>
        <p:spPr>
          <a:xfrm>
            <a:off x="8247888" y="3630168"/>
            <a:ext cx="3163824" cy="1828800"/>
          </a:xfrm>
          <a:prstGeom prst="rect">
            <a:avLst/>
          </a:prstGeom>
          <a:noFill/>
          <a:ln/>
        </p:spPr>
        <p:txBody>
          <a:bodyPr wrap="square" lIns="0" tIns="0" rIns="0" bIns="0" rtlCol="0" anchor="t"/>
          <a:lstStyle/>
          <a:p>
            <a:pPr marL="177800" indent="-177800">
              <a:spcAft>
                <a:spcPts val="500"/>
              </a:spcAft>
              <a:buSzPct val="100000"/>
              <a:buChar char="•"/>
            </a:pPr>
            <a:r>
              <a:rPr lang="en-US" sz="1250" dirty="0">
                <a:solidFill>
                  <a:schemeClr val="tx1"/>
                </a:solidFill>
              </a:rPr>
              <a:t>Supplier: what is disclosed, and when</a:t>
            </a:r>
            <a:endParaRPr lang="en-US" sz="1250" dirty="0"/>
          </a:p>
          <a:p>
            <a:pPr marL="177800" indent="-177800">
              <a:spcAft>
                <a:spcPts val="500"/>
              </a:spcAft>
              <a:buSzPct val="100000"/>
              <a:buChar char="•"/>
            </a:pPr>
            <a:r>
              <a:rPr lang="en-US" sz="1250" dirty="0">
                <a:solidFill>
                  <a:schemeClr val="tx1"/>
                </a:solidFill>
              </a:rPr>
              <a:t>Planner: investigate, stop, or submit a change</a:t>
            </a:r>
            <a:endParaRPr lang="en-US" sz="1250" dirty="0"/>
          </a:p>
          <a:p>
            <a:pPr marL="177800" indent="-177800">
              <a:spcAft>
                <a:spcPts val="500"/>
              </a:spcAft>
              <a:buSzPct val="100000"/>
              <a:buChar char="•"/>
            </a:pPr>
            <a:r>
              <a:rPr lang="en-US" sz="1250" dirty="0">
                <a:solidFill>
                  <a:schemeClr val="tx1"/>
                </a:solidFill>
              </a:rPr>
              <a:t>Procurement approver: release or return</a:t>
            </a:r>
            <a:endParaRPr lang="en-US" sz="1250" dirty="0"/>
          </a:p>
          <a:p>
            <a:pPr marL="177800" indent="-177800">
              <a:spcAft>
                <a:spcPts val="500"/>
              </a:spcAft>
              <a:buSzPct val="100000"/>
              <a:buChar char="•"/>
            </a:pPr>
            <a:r>
              <a:rPr lang="en-US" sz="1250" dirty="0">
                <a:solidFill>
                  <a:schemeClr val="tx1"/>
                </a:solidFill>
              </a:rPr>
              <a:t>Nothing is bought, booked or sent otherwise</a:t>
            </a:r>
            <a:endParaRPr lang="en-US" sz="1250" dirty="0"/>
          </a:p>
        </p:txBody>
      </p:sp>
      <p:sp>
        <p:nvSpPr>
          <p:cNvPr id="38" name="Text 36"/>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Dark reads, teal decides, amber authorises. Dashed: a model judgment that rules enforce. Email arrives through a simulated test intake, not a live mailbox; the receipt is a procurement sandbox record, not SAP. Gate and reply path were demonstrated in two retained tests, not one connected run.</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2031848" cy="6858000"/>
          </a:xfrm>
          <a:prstGeom prst="rect">
            <a:avLst/>
          </a:prstGeom>
          <a:solidFill>
            <a:schemeClr val="tx1"/>
          </a:solidFill>
          <a:ln w="12700">
            <a:solidFill>
              <a:srgbClr val="D9E6E1"/>
            </a:solidFill>
            <a:prstDash val="solid"/>
          </a:ln>
        </p:spPr>
      </p:sp>
      <p:sp>
        <p:nvSpPr>
          <p:cNvPr id="3" name="Shape 1"/>
          <p:cNvSpPr/>
          <p:nvPr/>
        </p:nvSpPr>
        <p:spPr>
          <a:xfrm>
            <a:off x="10159848" y="0"/>
            <a:ext cx="2031848" cy="6858000"/>
          </a:xfrm>
          <a:prstGeom prst="rect">
            <a:avLst/>
          </a:prstGeom>
          <a:solidFill>
            <a:schemeClr val="tx1"/>
          </a:solidFill>
          <a:ln w="12700">
            <a:solidFill>
              <a:srgbClr val="D9E6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031848" y="0"/>
            <a:ext cx="8128000" cy="6858000"/>
          </a:xfrm>
          <a:prstGeom prst="rect">
            <a:avLst/>
          </a:prstGeom>
        </p:spPr>
      </p:pic>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What is proven, and what is not</a:t>
            </a:r>
            <a:endParaRPr lang="en-US" sz="3200" dirty="0"/>
          </a:p>
        </p:txBody>
      </p:sp>
      <p:sp>
        <p:nvSpPr>
          <p:cNvPr id="3" name="Text 1"/>
          <p:cNvSpPr txBox="1"/>
          <p:nvPr/>
        </p:nvSpPr>
        <p:spPr>
          <a:xfrm>
            <a:off x="548640" y="1115568"/>
            <a:ext cx="10972800" cy="274320"/>
          </a:xfrm>
          <a:prstGeom prst="rect">
            <a:avLst/>
          </a:prstGeom>
          <a:noFill/>
          <a:ln/>
        </p:spPr>
        <p:txBody>
          <a:bodyPr wrap="square" lIns="0" tIns="0" rIns="0" bIns="0" rtlCol="0" anchor="t"/>
          <a:lstStyle/>
          <a:p>
            <a:pPr indent="0" marL="0">
              <a:buNone/>
            </a:pPr>
            <a:r>
              <a:rPr lang="en-US" sz="1250" i="1" dirty="0">
                <a:solidFill>
                  <a:schemeClr val="accent4"/>
                </a:solidFill>
              </a:rPr>
              <a:t>Every claim in this deck rests on one of four kinds of evidence. This is the one slide that says which.</a:t>
            </a:r>
            <a:endParaRPr lang="en-US" sz="1250" dirty="0"/>
          </a:p>
        </p:txBody>
      </p:sp>
      <p:sp>
        <p:nvSpPr>
          <p:cNvPr id="4" name="Shape 2"/>
          <p:cNvSpPr/>
          <p:nvPr/>
        </p:nvSpPr>
        <p:spPr>
          <a:xfrm>
            <a:off x="548640" y="1417320"/>
            <a:ext cx="2651760" cy="1143000"/>
          </a:xfrm>
          <a:prstGeom prst="roundRect">
            <a:avLst>
              <a:gd name="adj" fmla="val 6400"/>
            </a:avLst>
          </a:prstGeom>
          <a:solidFill>
            <a:schemeClr val="bg2"/>
          </a:solidFill>
          <a:ln w="9525">
            <a:solidFill>
              <a:srgbClr val="D9E6E1"/>
            </a:solidFill>
            <a:prstDash val="solid"/>
          </a:ln>
        </p:spPr>
      </p:sp>
      <p:sp>
        <p:nvSpPr>
          <p:cNvPr id="5" name="Shape 3"/>
          <p:cNvSpPr/>
          <p:nvPr/>
        </p:nvSpPr>
        <p:spPr>
          <a:xfrm>
            <a:off x="731520" y="1572768"/>
            <a:ext cx="1143000" cy="274320"/>
          </a:xfrm>
          <a:prstGeom prst="roundRect">
            <a:avLst>
              <a:gd name="adj" fmla="val 50000"/>
            </a:avLst>
          </a:prstGeom>
          <a:solidFill>
            <a:schemeClr val="accent1"/>
          </a:solidFill>
          <a:ln w="12700">
            <a:solidFill>
              <a:schemeClr val="accent1"/>
            </a:solidFill>
            <a:prstDash val="solid"/>
          </a:ln>
        </p:spPr>
      </p:sp>
      <p:sp>
        <p:nvSpPr>
          <p:cNvPr id="6" name="Text 4"/>
          <p:cNvSpPr txBox="1"/>
          <p:nvPr/>
        </p:nvSpPr>
        <p:spPr>
          <a:xfrm>
            <a:off x="731520"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Built</a:t>
            </a:r>
            <a:endParaRPr lang="en-US" sz="1000" dirty="0"/>
          </a:p>
        </p:txBody>
      </p:sp>
      <p:sp>
        <p:nvSpPr>
          <p:cNvPr id="7" name="Text 5"/>
          <p:cNvSpPr txBox="1"/>
          <p:nvPr/>
        </p:nvSpPr>
        <p:spPr>
          <a:xfrm>
            <a:off x="1965960"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tested, walked through</a:t>
            </a:r>
            <a:endParaRPr lang="en-US" sz="1100" dirty="0"/>
          </a:p>
        </p:txBody>
      </p:sp>
      <p:sp>
        <p:nvSpPr>
          <p:cNvPr id="8" name="Text 6"/>
          <p:cNvSpPr txBox="1"/>
          <p:nvPr/>
        </p:nvSpPr>
        <p:spPr>
          <a:xfrm>
            <a:off x="731520"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business value</a:t>
            </a:r>
            <a:endParaRPr lang="en-US" sz="1150" dirty="0"/>
          </a:p>
        </p:txBody>
      </p:sp>
      <p:sp>
        <p:nvSpPr>
          <p:cNvPr id="9" name="Shape 7"/>
          <p:cNvSpPr/>
          <p:nvPr/>
        </p:nvSpPr>
        <p:spPr>
          <a:xfrm>
            <a:off x="3364992" y="1417320"/>
            <a:ext cx="2651760" cy="1143000"/>
          </a:xfrm>
          <a:prstGeom prst="roundRect">
            <a:avLst>
              <a:gd name="adj" fmla="val 6400"/>
            </a:avLst>
          </a:prstGeom>
          <a:solidFill>
            <a:schemeClr val="bg2"/>
          </a:solidFill>
          <a:ln w="9525">
            <a:solidFill>
              <a:srgbClr val="D9E6E1"/>
            </a:solidFill>
            <a:prstDash val="solid"/>
          </a:ln>
        </p:spPr>
      </p:sp>
      <p:sp>
        <p:nvSpPr>
          <p:cNvPr id="10" name="Shape 8"/>
          <p:cNvSpPr/>
          <p:nvPr/>
        </p:nvSpPr>
        <p:spPr>
          <a:xfrm>
            <a:off x="3547872" y="1572768"/>
            <a:ext cx="1143000" cy="274320"/>
          </a:xfrm>
          <a:prstGeom prst="roundRect">
            <a:avLst>
              <a:gd name="adj" fmla="val 50000"/>
            </a:avLst>
          </a:prstGeom>
          <a:solidFill>
            <a:schemeClr val="tx1"/>
          </a:solidFill>
          <a:ln w="12700">
            <a:solidFill>
              <a:schemeClr val="tx1"/>
            </a:solidFill>
            <a:prstDash val="solid"/>
          </a:ln>
        </p:spPr>
      </p:sp>
      <p:sp>
        <p:nvSpPr>
          <p:cNvPr id="11" name="Text 9"/>
          <p:cNvSpPr txBox="1"/>
          <p:nvPr/>
        </p:nvSpPr>
        <p:spPr>
          <a:xfrm>
            <a:off x="3547872"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Real-model</a:t>
            </a:r>
            <a:endParaRPr lang="en-US" sz="1000" dirty="0"/>
          </a:p>
        </p:txBody>
      </p:sp>
      <p:sp>
        <p:nvSpPr>
          <p:cNvPr id="12" name="Text 10"/>
          <p:cNvSpPr txBox="1"/>
          <p:nvPr/>
        </p:nvSpPr>
        <p:spPr>
          <a:xfrm>
            <a:off x="4782312"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real calls, failures kept</a:t>
            </a:r>
            <a:endParaRPr lang="en-US" sz="1100" dirty="0"/>
          </a:p>
        </p:txBody>
      </p:sp>
      <p:sp>
        <p:nvSpPr>
          <p:cNvPr id="13" name="Text 11"/>
          <p:cNvSpPr txBox="1"/>
          <p:nvPr/>
        </p:nvSpPr>
        <p:spPr>
          <a:xfrm>
            <a:off x="3547872"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a success rate</a:t>
            </a:r>
            <a:endParaRPr lang="en-US" sz="1150" dirty="0"/>
          </a:p>
        </p:txBody>
      </p:sp>
      <p:sp>
        <p:nvSpPr>
          <p:cNvPr id="14" name="Shape 12"/>
          <p:cNvSpPr/>
          <p:nvPr/>
        </p:nvSpPr>
        <p:spPr>
          <a:xfrm>
            <a:off x="6181344" y="1417320"/>
            <a:ext cx="2651760" cy="1143000"/>
          </a:xfrm>
          <a:prstGeom prst="roundRect">
            <a:avLst>
              <a:gd name="adj" fmla="val 6400"/>
            </a:avLst>
          </a:prstGeom>
          <a:solidFill>
            <a:schemeClr val="bg2"/>
          </a:solidFill>
          <a:ln w="9525">
            <a:solidFill>
              <a:srgbClr val="D9E6E1"/>
            </a:solidFill>
            <a:prstDash val="solid"/>
          </a:ln>
        </p:spPr>
      </p:sp>
      <p:sp>
        <p:nvSpPr>
          <p:cNvPr id="15" name="Shape 13"/>
          <p:cNvSpPr/>
          <p:nvPr/>
        </p:nvSpPr>
        <p:spPr>
          <a:xfrm>
            <a:off x="6364224" y="1572768"/>
            <a:ext cx="1143000" cy="274320"/>
          </a:xfrm>
          <a:prstGeom prst="roundRect">
            <a:avLst>
              <a:gd name="adj" fmla="val 50000"/>
            </a:avLst>
          </a:prstGeom>
          <a:solidFill>
            <a:schemeClr val="accent6"/>
          </a:solidFill>
          <a:ln w="12700">
            <a:solidFill>
              <a:schemeClr val="accent6"/>
            </a:solidFill>
            <a:prstDash val="solid"/>
          </a:ln>
        </p:spPr>
      </p:sp>
      <p:sp>
        <p:nvSpPr>
          <p:cNvPr id="16" name="Text 14"/>
          <p:cNvSpPr txBox="1"/>
          <p:nvPr/>
        </p:nvSpPr>
        <p:spPr>
          <a:xfrm>
            <a:off x="6364224" y="1572768"/>
            <a:ext cx="1143000" cy="274320"/>
          </a:xfrm>
          <a:prstGeom prst="rect">
            <a:avLst/>
          </a:prstGeom>
          <a:noFill/>
          <a:ln/>
        </p:spPr>
        <p:txBody>
          <a:bodyPr wrap="square" lIns="0" tIns="0" rIns="0" bIns="0" rtlCol="0" anchor="ctr"/>
          <a:lstStyle/>
          <a:p>
            <a:pPr algn="ctr" indent="0" marL="0">
              <a:buNone/>
            </a:pPr>
            <a:r>
              <a:rPr lang="en-US" sz="1000" b="1" dirty="0">
                <a:solidFill>
                  <a:schemeClr val="tx1"/>
                </a:solidFill>
              </a:rPr>
              <a:t>Desk</a:t>
            </a:r>
            <a:endParaRPr lang="en-US" sz="1000" dirty="0"/>
          </a:p>
        </p:txBody>
      </p:sp>
      <p:sp>
        <p:nvSpPr>
          <p:cNvPr id="17" name="Text 15"/>
          <p:cNvSpPr txBox="1"/>
          <p:nvPr/>
        </p:nvSpPr>
        <p:spPr>
          <a:xfrm>
            <a:off x="7598664"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public sources</a:t>
            </a:r>
            <a:endParaRPr lang="en-US" sz="1100" dirty="0"/>
          </a:p>
        </p:txBody>
      </p:sp>
      <p:sp>
        <p:nvSpPr>
          <p:cNvPr id="18" name="Text 16"/>
          <p:cNvSpPr txBox="1"/>
          <p:nvPr/>
        </p:nvSpPr>
        <p:spPr>
          <a:xfrm>
            <a:off x="6364224"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our effect size</a:t>
            </a:r>
            <a:endParaRPr lang="en-US" sz="1150" dirty="0"/>
          </a:p>
        </p:txBody>
      </p:sp>
      <p:sp>
        <p:nvSpPr>
          <p:cNvPr id="19" name="Shape 17"/>
          <p:cNvSpPr/>
          <p:nvPr/>
        </p:nvSpPr>
        <p:spPr>
          <a:xfrm>
            <a:off x="8997696" y="1417320"/>
            <a:ext cx="2651760" cy="1143000"/>
          </a:xfrm>
          <a:prstGeom prst="roundRect">
            <a:avLst>
              <a:gd name="adj" fmla="val 6400"/>
            </a:avLst>
          </a:prstGeom>
          <a:solidFill>
            <a:schemeClr val="bg2"/>
          </a:solidFill>
          <a:ln w="9525">
            <a:solidFill>
              <a:srgbClr val="D9E6E1"/>
            </a:solidFill>
            <a:prstDash val="solid"/>
          </a:ln>
        </p:spPr>
      </p:sp>
      <p:sp>
        <p:nvSpPr>
          <p:cNvPr id="20" name="Shape 18"/>
          <p:cNvSpPr/>
          <p:nvPr/>
        </p:nvSpPr>
        <p:spPr>
          <a:xfrm>
            <a:off x="9180576" y="1572768"/>
            <a:ext cx="1143000" cy="274320"/>
          </a:xfrm>
          <a:prstGeom prst="roundRect">
            <a:avLst>
              <a:gd name="adj" fmla="val 50000"/>
            </a:avLst>
          </a:prstGeom>
          <a:solidFill>
            <a:schemeClr val="accent2"/>
          </a:solidFill>
          <a:ln w="12700">
            <a:solidFill>
              <a:schemeClr val="accent2"/>
            </a:solidFill>
            <a:prstDash val="solid"/>
          </a:ln>
        </p:spPr>
      </p:sp>
      <p:sp>
        <p:nvSpPr>
          <p:cNvPr id="21" name="Text 19"/>
          <p:cNvSpPr txBox="1"/>
          <p:nvPr/>
        </p:nvSpPr>
        <p:spPr>
          <a:xfrm>
            <a:off x="9180576" y="1572768"/>
            <a:ext cx="1143000" cy="274320"/>
          </a:xfrm>
          <a:prstGeom prst="rect">
            <a:avLst/>
          </a:prstGeom>
          <a:noFill/>
          <a:ln/>
        </p:spPr>
        <p:txBody>
          <a:bodyPr wrap="square" lIns="0" tIns="0" rIns="0" bIns="0" rtlCol="0" anchor="ctr"/>
          <a:lstStyle/>
          <a:p>
            <a:pPr algn="ctr" indent="0" marL="0">
              <a:buNone/>
            </a:pPr>
            <a:r>
              <a:rPr lang="en-US" sz="1000" b="1" dirty="0">
                <a:solidFill>
                  <a:schemeClr val="bg1"/>
                </a:solidFill>
              </a:rPr>
              <a:t>Hypothesis</a:t>
            </a:r>
            <a:endParaRPr lang="en-US" sz="1000" dirty="0"/>
          </a:p>
        </p:txBody>
      </p:sp>
      <p:sp>
        <p:nvSpPr>
          <p:cNvPr id="22" name="Text 20"/>
          <p:cNvSpPr txBox="1"/>
          <p:nvPr/>
        </p:nvSpPr>
        <p:spPr>
          <a:xfrm>
            <a:off x="10415016" y="1554480"/>
            <a:ext cx="1188720" cy="329184"/>
          </a:xfrm>
          <a:prstGeom prst="rect">
            <a:avLst/>
          </a:prstGeom>
          <a:noFill/>
          <a:ln/>
        </p:spPr>
        <p:txBody>
          <a:bodyPr wrap="square" lIns="0" tIns="0" rIns="0" bIns="0" rtlCol="0" anchor="ctr"/>
          <a:lstStyle/>
          <a:p>
            <a:pPr indent="0" marL="0">
              <a:buNone/>
            </a:pPr>
            <a:r>
              <a:rPr lang="en-US" sz="1100" dirty="0">
                <a:solidFill>
                  <a:schemeClr val="accent4"/>
                </a:solidFill>
              </a:rPr>
              <a:t>targets, no measurement</a:t>
            </a:r>
            <a:endParaRPr lang="en-US" sz="1100" dirty="0"/>
          </a:p>
        </p:txBody>
      </p:sp>
      <p:sp>
        <p:nvSpPr>
          <p:cNvPr id="23" name="Text 21"/>
          <p:cNvSpPr txBox="1"/>
          <p:nvPr/>
        </p:nvSpPr>
        <p:spPr>
          <a:xfrm>
            <a:off x="9180576" y="2011680"/>
            <a:ext cx="2286000" cy="457200"/>
          </a:xfrm>
          <a:prstGeom prst="rect">
            <a:avLst/>
          </a:prstGeom>
          <a:noFill/>
          <a:ln/>
        </p:spPr>
        <p:txBody>
          <a:bodyPr wrap="square" lIns="0" tIns="0" rIns="0" bIns="0" rtlCol="0" anchor="t"/>
          <a:lstStyle/>
          <a:p>
            <a:pPr indent="0" marL="0">
              <a:buNone/>
            </a:pPr>
            <a:r>
              <a:rPr lang="en-US" sz="1150" b="1" dirty="0">
                <a:solidFill>
                  <a:schemeClr val="accent3"/>
                </a:solidFill>
              </a:rPr>
              <a:t>cannot show </a:t>
            </a:r>
            <a:pPr indent="0" marL="0">
              <a:buNone/>
            </a:pPr>
            <a:r>
              <a:rPr lang="en-US" sz="1150" dirty="0">
                <a:solidFill>
                  <a:schemeClr val="tx1"/>
                </a:solidFill>
              </a:rPr>
              <a:t>anything, until the pilot</a:t>
            </a:r>
            <a:endParaRPr lang="en-US" sz="115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2788920"/>
          <a:ext cx="11064240" cy="914400"/>
        </p:xfrm>
        <a:graphic>
          <a:graphicData uri="http://schemas.openxmlformats.org/drawingml/2006/table">
            <a:tbl>
              <a:tblPr/>
              <a:tblGrid>
                <a:gridCol w="5669280"/>
                <a:gridCol w="1371600"/>
                <a:gridCol w="4023360"/>
              </a:tblGrid>
              <a:tr h="512064">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What exists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Status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Does not prove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Deployed workspace for planner and supplier; retained real-model records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Any order, SAP write, labour saving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Demand gate: pause → continue on new evidence (test A, 18 real calls, failures kept); reply → receipt (test B, one run)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One connected run; a success rate; a live mailbox</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Real-model tests on three synthetic items, with a correction loop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Real-model</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4353A"/>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success rate; behaviour on real documents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S/4HANA-shaped procurement sandbox, 41 tests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SAP write semantics; it is not SAP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12064">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Ten frozen acceptance tasks, inbound contract, simulator, scorer</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algn="ctr" indent="0" marL="0">
                        <a:buNone/>
                      </a:pPr>
                      <a:r>
                        <a:rPr lang="en-US" sz="1100" b="1" dirty="0">
                          <a:solidFill>
                            <a:srgbClr val="FFFFFF"/>
                          </a:solidFill>
                          <a:latin typeface="Calibri" pitchFamily="34" charset="0"/>
                          <a:ea typeface="Calibri" pitchFamily="34" charset="-122"/>
                          <a:cs typeface="Calibri" pitchFamily="34" charset="-120"/>
                        </a:rPr>
                        <a:t>Built</a:t>
                      </a:r>
                      <a:endParaRPr lang="en-US" sz="110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16765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Independence: authored on the development side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Three times the model was wrong, and what caught it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Kept on purpose. The rule layer exists for exactly these.</a:t>
            </a:r>
            <a:endParaRPr lang="en-US" sz="1300" dirty="0"/>
          </a:p>
        </p:txBody>
      </p:sp>
      <p:sp>
        <p:nvSpPr>
          <p:cNvPr id="4" name="Shape 2"/>
          <p:cNvSpPr/>
          <p:nvPr/>
        </p:nvSpPr>
        <p:spPr>
          <a:xfrm>
            <a:off x="548640" y="1828800"/>
            <a:ext cx="3566160" cy="3429000"/>
          </a:xfrm>
          <a:prstGeom prst="roundRect">
            <a:avLst>
              <a:gd name="adj" fmla="val 2133"/>
            </a:avLst>
          </a:prstGeom>
          <a:solidFill>
            <a:schemeClr val="bg2"/>
          </a:solidFill>
          <a:ln w="9525">
            <a:solidFill>
              <a:srgbClr val="D9E6E1"/>
            </a:solidFill>
            <a:prstDash val="solid"/>
          </a:ln>
        </p:spPr>
      </p:sp>
      <p:sp>
        <p:nvSpPr>
          <p:cNvPr id="5" name="Text 3"/>
          <p:cNvSpPr txBox="1"/>
          <p:nvPr/>
        </p:nvSpPr>
        <p:spPr>
          <a:xfrm>
            <a:off x="74980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overstated the blocker</a:t>
            </a:r>
            <a:endParaRPr lang="en-US" sz="1500" dirty="0"/>
          </a:p>
        </p:txBody>
      </p:sp>
      <p:sp>
        <p:nvSpPr>
          <p:cNvPr id="6" name="Text 4"/>
          <p:cNvSpPr txBox="1"/>
          <p:nvPr/>
        </p:nvSpPr>
        <p:spPr>
          <a:xfrm>
            <a:off x="74980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7" name="Text 5"/>
          <p:cNvSpPr txBox="1"/>
          <p:nvPr/>
        </p:nvSpPr>
        <p:spPr>
          <a:xfrm>
            <a:off x="74980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"The carrier failure is the sole blocker" while receiving and capacity were unknown. The model auditor agreed.</a:t>
            </a:r>
            <a:endParaRPr lang="en-US" sz="1150" dirty="0"/>
          </a:p>
        </p:txBody>
      </p:sp>
      <p:sp>
        <p:nvSpPr>
          <p:cNvPr id="8" name="Text 6"/>
          <p:cNvSpPr txBox="1"/>
          <p:nvPr/>
        </p:nvSpPr>
        <p:spPr>
          <a:xfrm>
            <a:off x="74980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9" name="Text 7"/>
          <p:cNvSpPr txBox="1"/>
          <p:nvPr/>
        </p:nvSpPr>
        <p:spPr>
          <a:xfrm>
            <a:off x="74980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A human reading the prose against the typed states</a:t>
            </a:r>
            <a:endParaRPr lang="en-US" sz="1150" dirty="0"/>
          </a:p>
        </p:txBody>
      </p:sp>
      <p:sp>
        <p:nvSpPr>
          <p:cNvPr id="10" name="Text 8"/>
          <p:cNvSpPr txBox="1"/>
          <p:nvPr/>
        </p:nvSpPr>
        <p:spPr>
          <a:xfrm>
            <a:off x="74980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11" name="Text 9"/>
          <p:cNvSpPr txBox="1"/>
          <p:nvPr/>
        </p:nvSpPr>
        <p:spPr>
          <a:xfrm>
            <a:off x="74980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Summary-versus-state contradiction tests; component not released</a:t>
            </a:r>
            <a:endParaRPr lang="en-US" sz="1150" dirty="0"/>
          </a:p>
        </p:txBody>
      </p:sp>
      <p:sp>
        <p:nvSpPr>
          <p:cNvPr id="12" name="Shape 10"/>
          <p:cNvSpPr/>
          <p:nvPr/>
        </p:nvSpPr>
        <p:spPr>
          <a:xfrm>
            <a:off x="4297680" y="1828800"/>
            <a:ext cx="3566160" cy="3429000"/>
          </a:xfrm>
          <a:prstGeom prst="roundRect">
            <a:avLst>
              <a:gd name="adj" fmla="val 2133"/>
            </a:avLst>
          </a:prstGeom>
          <a:solidFill>
            <a:schemeClr val="bg2"/>
          </a:solidFill>
          <a:ln w="9525">
            <a:solidFill>
              <a:srgbClr val="D9E6E1"/>
            </a:solidFill>
            <a:prstDash val="solid"/>
          </a:ln>
        </p:spPr>
      </p:sp>
      <p:sp>
        <p:nvSpPr>
          <p:cNvPr id="13" name="Text 11"/>
          <p:cNvSpPr txBox="1"/>
          <p:nvPr/>
        </p:nvSpPr>
        <p:spPr>
          <a:xfrm>
            <a:off x="449884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hid a quantity in the prose</a:t>
            </a:r>
            <a:endParaRPr lang="en-US" sz="1500" dirty="0"/>
          </a:p>
        </p:txBody>
      </p:sp>
      <p:sp>
        <p:nvSpPr>
          <p:cNvPr id="14" name="Text 12"/>
          <p:cNvSpPr txBox="1"/>
          <p:nvPr/>
        </p:nvSpPr>
        <p:spPr>
          <a:xfrm>
            <a:off x="449884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15" name="Text 13"/>
          <p:cNvSpPr txBox="1"/>
          <p:nvPr/>
        </p:nvSpPr>
        <p:spPr>
          <a:xfrm>
            <a:off x="449884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Withheld the structured quantity, kept "80 cases / CAD 770" in the text, on unconfirmed demand.</a:t>
            </a:r>
            <a:endParaRPr lang="en-US" sz="1150" dirty="0"/>
          </a:p>
        </p:txBody>
      </p:sp>
      <p:sp>
        <p:nvSpPr>
          <p:cNvPr id="16" name="Text 14"/>
          <p:cNvSpPr txBox="1"/>
          <p:nvPr/>
        </p:nvSpPr>
        <p:spPr>
          <a:xfrm>
            <a:off x="449884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17" name="Text 15"/>
          <p:cNvSpPr txBox="1"/>
          <p:nvPr/>
        </p:nvSpPr>
        <p:spPr>
          <a:xfrm>
            <a:off x="449884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Semantic inspection; then a rule audit blocked it</a:t>
            </a:r>
            <a:endParaRPr lang="en-US" sz="1150" dirty="0"/>
          </a:p>
        </p:txBody>
      </p:sp>
      <p:sp>
        <p:nvSpPr>
          <p:cNvPr id="18" name="Text 16"/>
          <p:cNvSpPr txBox="1"/>
          <p:nvPr/>
        </p:nvSpPr>
        <p:spPr>
          <a:xfrm>
            <a:off x="449884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19" name="Text 17"/>
          <p:cNvSpPr txBox="1"/>
          <p:nvPr/>
        </p:nvSpPr>
        <p:spPr>
          <a:xfrm>
            <a:off x="449884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Quantity consistency across summary, evidence, recommendation; corrected in two linked calls</a:t>
            </a:r>
            <a:endParaRPr lang="en-US" sz="1150" dirty="0"/>
          </a:p>
        </p:txBody>
      </p:sp>
      <p:sp>
        <p:nvSpPr>
          <p:cNvPr id="20" name="Shape 18"/>
          <p:cNvSpPr/>
          <p:nvPr/>
        </p:nvSpPr>
        <p:spPr>
          <a:xfrm>
            <a:off x="8046720" y="1828800"/>
            <a:ext cx="3566160" cy="3429000"/>
          </a:xfrm>
          <a:prstGeom prst="roundRect">
            <a:avLst>
              <a:gd name="adj" fmla="val 2133"/>
            </a:avLst>
          </a:prstGeom>
          <a:solidFill>
            <a:schemeClr val="bg2"/>
          </a:solidFill>
          <a:ln w="9525">
            <a:solidFill>
              <a:srgbClr val="D9E6E1"/>
            </a:solidFill>
            <a:prstDash val="solid"/>
          </a:ln>
        </p:spPr>
      </p:sp>
      <p:sp>
        <p:nvSpPr>
          <p:cNvPr id="21" name="Text 19"/>
          <p:cNvSpPr txBox="1"/>
          <p:nvPr/>
        </p:nvSpPr>
        <p:spPr>
          <a:xfrm>
            <a:off x="8247888" y="1993392"/>
            <a:ext cx="3163824" cy="365760"/>
          </a:xfrm>
          <a:prstGeom prst="rect">
            <a:avLst/>
          </a:prstGeom>
          <a:noFill/>
          <a:ln/>
        </p:spPr>
        <p:txBody>
          <a:bodyPr wrap="square" lIns="0" tIns="0" rIns="0" bIns="0" rtlCol="0" anchor="t"/>
          <a:lstStyle/>
          <a:p>
            <a:pPr indent="0" marL="0">
              <a:buNone/>
            </a:pPr>
            <a:r>
              <a:rPr lang="en-US" sz="1500" b="1" dirty="0">
                <a:solidFill>
                  <a:schemeClr val="tx2"/>
                </a:solidFill>
              </a:rPr>
              <a:t>It mixed up two timestamps</a:t>
            </a:r>
            <a:endParaRPr lang="en-US" sz="1500" dirty="0"/>
          </a:p>
        </p:txBody>
      </p:sp>
      <p:sp>
        <p:nvSpPr>
          <p:cNvPr id="22" name="Text 20"/>
          <p:cNvSpPr txBox="1"/>
          <p:nvPr/>
        </p:nvSpPr>
        <p:spPr>
          <a:xfrm>
            <a:off x="8247888" y="2468880"/>
            <a:ext cx="1097280" cy="228600"/>
          </a:xfrm>
          <a:prstGeom prst="rect">
            <a:avLst/>
          </a:prstGeom>
          <a:noFill/>
          <a:ln/>
        </p:spPr>
        <p:txBody>
          <a:bodyPr wrap="square" lIns="0" tIns="0" rIns="0" bIns="0" rtlCol="0" anchor="t"/>
          <a:lstStyle/>
          <a:p>
            <a:pPr indent="0" marL="0">
              <a:buNone/>
            </a:pPr>
            <a:r>
              <a:rPr lang="en-US" sz="950" b="1" dirty="0">
                <a:solidFill>
                  <a:schemeClr val="accent3"/>
                </a:solidFill>
              </a:rPr>
              <a:t>SAID</a:t>
            </a:r>
            <a:endParaRPr lang="en-US" sz="950" dirty="0"/>
          </a:p>
        </p:txBody>
      </p:sp>
      <p:sp>
        <p:nvSpPr>
          <p:cNvPr id="23" name="Text 21"/>
          <p:cNvSpPr txBox="1"/>
          <p:nvPr/>
        </p:nvSpPr>
        <p:spPr>
          <a:xfrm>
            <a:off x="8247888" y="2697480"/>
            <a:ext cx="3163824" cy="658368"/>
          </a:xfrm>
          <a:prstGeom prst="rect">
            <a:avLst/>
          </a:prstGeom>
          <a:noFill/>
          <a:ln/>
        </p:spPr>
        <p:txBody>
          <a:bodyPr wrap="square" lIns="0" tIns="0" rIns="0" bIns="0" rtlCol="0" anchor="t"/>
          <a:lstStyle/>
          <a:p>
            <a:pPr indent="0" marL="0">
              <a:buNone/>
            </a:pPr>
            <a:r>
              <a:rPr lang="en-US" sz="1150" dirty="0">
                <a:solidFill>
                  <a:schemeClr val="tx1"/>
                </a:solidFill>
              </a:rPr>
              <a:t>DC arrival 08:00Z read as store usable 12:00Z; 250 excluded cases where the figure was 200.</a:t>
            </a:r>
            <a:endParaRPr lang="en-US" sz="1150" dirty="0"/>
          </a:p>
        </p:txBody>
      </p:sp>
      <p:sp>
        <p:nvSpPr>
          <p:cNvPr id="24" name="Text 22"/>
          <p:cNvSpPr txBox="1"/>
          <p:nvPr/>
        </p:nvSpPr>
        <p:spPr>
          <a:xfrm>
            <a:off x="8247888" y="3383280"/>
            <a:ext cx="1097280" cy="228600"/>
          </a:xfrm>
          <a:prstGeom prst="rect">
            <a:avLst/>
          </a:prstGeom>
          <a:noFill/>
          <a:ln/>
        </p:spPr>
        <p:txBody>
          <a:bodyPr wrap="square" lIns="0" tIns="0" rIns="0" bIns="0" rtlCol="0" anchor="t"/>
          <a:lstStyle/>
          <a:p>
            <a:pPr indent="0" marL="0">
              <a:buNone/>
            </a:pPr>
            <a:r>
              <a:rPr lang="en-US" sz="950" b="1" dirty="0">
                <a:solidFill>
                  <a:schemeClr val="tx2"/>
                </a:solidFill>
              </a:rPr>
              <a:t>CAUGHT BY</a:t>
            </a:r>
            <a:endParaRPr lang="en-US" sz="950" dirty="0"/>
          </a:p>
        </p:txBody>
      </p:sp>
      <p:sp>
        <p:nvSpPr>
          <p:cNvPr id="25" name="Text 23"/>
          <p:cNvSpPr txBox="1"/>
          <p:nvPr/>
        </p:nvSpPr>
        <p:spPr>
          <a:xfrm>
            <a:off x="8247888" y="3611880"/>
            <a:ext cx="3163824" cy="658368"/>
          </a:xfrm>
          <a:prstGeom prst="rect">
            <a:avLst/>
          </a:prstGeom>
          <a:noFill/>
          <a:ln/>
        </p:spPr>
        <p:txBody>
          <a:bodyPr wrap="square" lIns="0" tIns="0" rIns="0" bIns="0" rtlCol="0" anchor="t"/>
          <a:lstStyle/>
          <a:p>
            <a:pPr indent="0" marL="0">
              <a:buNone/>
            </a:pPr>
            <a:r>
              <a:rPr lang="en-US" sz="1150" dirty="0">
                <a:solidFill>
                  <a:schemeClr val="tx1"/>
                </a:solidFill>
              </a:rPr>
              <a:t>Review of the retained output</a:t>
            </a:r>
            <a:endParaRPr lang="en-US" sz="1150" dirty="0"/>
          </a:p>
        </p:txBody>
      </p:sp>
      <p:sp>
        <p:nvSpPr>
          <p:cNvPr id="26" name="Text 24"/>
          <p:cNvSpPr txBox="1"/>
          <p:nvPr/>
        </p:nvSpPr>
        <p:spPr>
          <a:xfrm>
            <a:off x="8247888" y="4297680"/>
            <a:ext cx="1097280" cy="228600"/>
          </a:xfrm>
          <a:prstGeom prst="rect">
            <a:avLst/>
          </a:prstGeom>
          <a:noFill/>
          <a:ln/>
        </p:spPr>
        <p:txBody>
          <a:bodyPr wrap="square" lIns="0" tIns="0" rIns="0" bIns="0" rtlCol="0" anchor="t"/>
          <a:lstStyle/>
          <a:p>
            <a:pPr indent="0" marL="0">
              <a:buNone/>
            </a:pPr>
            <a:r>
              <a:rPr lang="en-US" sz="950" b="1" dirty="0">
                <a:solidFill>
                  <a:schemeClr val="accent1"/>
                </a:solidFill>
              </a:rPr>
              <a:t>CHANGED</a:t>
            </a:r>
            <a:endParaRPr lang="en-US" sz="950" dirty="0"/>
          </a:p>
        </p:txBody>
      </p:sp>
      <p:sp>
        <p:nvSpPr>
          <p:cNvPr id="27" name="Text 25"/>
          <p:cNvSpPr txBox="1"/>
          <p:nvPr/>
        </p:nvSpPr>
        <p:spPr>
          <a:xfrm>
            <a:off x="8247888" y="4526280"/>
            <a:ext cx="3163824" cy="658368"/>
          </a:xfrm>
          <a:prstGeom prst="rect">
            <a:avLst/>
          </a:prstGeom>
          <a:noFill/>
          <a:ln/>
        </p:spPr>
        <p:txBody>
          <a:bodyPr wrap="square" lIns="0" tIns="0" rIns="0" bIns="0" rtlCol="0" anchor="t"/>
          <a:lstStyle/>
          <a:p>
            <a:pPr indent="0" marL="0">
              <a:buNone/>
            </a:pPr>
            <a:r>
              <a:rPr lang="en-US" sz="1150" dirty="0">
                <a:solidFill>
                  <a:schemeClr val="tx1"/>
                </a:solidFill>
              </a:rPr>
              <a:t>Typed timing claims tied to source fields; corrected in three calls, original kept</a:t>
            </a:r>
            <a:endParaRPr lang="en-US" sz="1150" dirty="0"/>
          </a:p>
        </p:txBody>
      </p:sp>
      <p:sp>
        <p:nvSpPr>
          <p:cNvPr id="28" name="Shape 26"/>
          <p:cNvSpPr/>
          <p:nvPr/>
        </p:nvSpPr>
        <p:spPr>
          <a:xfrm>
            <a:off x="548640" y="5440680"/>
            <a:ext cx="11064240" cy="777240"/>
          </a:xfrm>
          <a:prstGeom prst="roundRect">
            <a:avLst>
              <a:gd name="adj" fmla="val 9412"/>
            </a:avLst>
          </a:prstGeom>
          <a:solidFill>
            <a:schemeClr val="bg1"/>
          </a:solidFill>
          <a:ln w="15875">
            <a:solidFill>
              <a:srgbClr val="B3261E"/>
            </a:solidFill>
            <a:prstDash val="solid"/>
          </a:ln>
        </p:spPr>
      </p:sp>
      <p:sp>
        <p:nvSpPr>
          <p:cNvPr id="29" name="Text 27"/>
          <p:cNvSpPr txBox="1"/>
          <p:nvPr/>
        </p:nvSpPr>
        <p:spPr>
          <a:xfrm>
            <a:off x="822960" y="5532120"/>
            <a:ext cx="10515600" cy="594360"/>
          </a:xfrm>
          <a:prstGeom prst="rect">
            <a:avLst/>
          </a:prstGeom>
          <a:noFill/>
          <a:ln/>
        </p:spPr>
        <p:txBody>
          <a:bodyPr wrap="square" lIns="0" tIns="0" rIns="0" bIns="0" rtlCol="0" anchor="ctr"/>
          <a:lstStyle/>
          <a:p>
            <a:pPr indent="0" marL="0">
              <a:buNone/>
            </a:pPr>
            <a:r>
              <a:rPr lang="en-US" sz="1250" b="1" dirty="0">
                <a:solidFill>
                  <a:schemeClr val="accent3"/>
                </a:solidFill>
              </a:rPr>
              <a:t>Pattern:  </a:t>
            </a:r>
            <a:pPr indent="0" marL="0">
              <a:buNone/>
            </a:pPr>
            <a:r>
              <a:rPr lang="en-US" sz="1250" dirty="0">
                <a:solidFill>
                  <a:schemeClr val="tx1"/>
                </a:solidFill>
              </a:rPr>
              <a:t>structure passes, prose fails. The answer is a rule for the failure class, the failure kept on the timeline, a linked correction that never overwrites. The audit is a review, not proof.</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Model cost is measured; the business case is not yet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Three measured numbers, one hypothesis, never blended.</a:t>
            </a:r>
            <a:endParaRPr lang="en-US" sz="1300" dirty="0"/>
          </a:p>
        </p:txBody>
      </p:sp>
      <p:graphicFrame>
        <p:nvGraphicFramePr>
          <p:cNvPr id="4" name="Chart 0" descr=""/>
          <p:cNvGraphicFramePr/>
          <p:nvPr/>
        </p:nvGraphicFramePr>
        <p:xfrm>
          <a:off x="548640" y="1828800"/>
          <a:ext cx="5486400" cy="31089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355080" y="1828800"/>
            <a:ext cx="5257800" cy="1463040"/>
          </a:xfrm>
          <a:prstGeom prst="roundRect">
            <a:avLst>
              <a:gd name="adj" fmla="val 5000"/>
            </a:avLst>
          </a:prstGeom>
          <a:solidFill>
            <a:schemeClr val="bg2"/>
          </a:solidFill>
          <a:ln w="9525">
            <a:solidFill>
              <a:srgbClr val="D9E6E1"/>
            </a:solidFill>
            <a:prstDash val="solid"/>
          </a:ln>
        </p:spPr>
      </p:sp>
      <p:sp>
        <p:nvSpPr>
          <p:cNvPr id="6" name="Text 3"/>
          <p:cNvSpPr txBox="1"/>
          <p:nvPr/>
        </p:nvSpPr>
        <p:spPr>
          <a:xfrm>
            <a:off x="6583680" y="1965960"/>
            <a:ext cx="480060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&lt; USD 1</a:t>
            </a:r>
            <a:endParaRPr lang="en-US" sz="3400" dirty="0"/>
          </a:p>
        </p:txBody>
      </p:sp>
      <p:sp>
        <p:nvSpPr>
          <p:cNvPr id="7" name="Text 4"/>
          <p:cNvSpPr txBox="1"/>
          <p:nvPr/>
        </p:nvSpPr>
        <p:spPr>
          <a:xfrm>
            <a:off x="6583680" y="2670048"/>
            <a:ext cx="4800600" cy="548640"/>
          </a:xfrm>
          <a:prstGeom prst="rect">
            <a:avLst/>
          </a:prstGeom>
          <a:noFill/>
          <a:ln/>
        </p:spPr>
        <p:txBody>
          <a:bodyPr wrap="square" lIns="0" tIns="0" rIns="0" bIns="0" rtlCol="0" anchor="t"/>
          <a:lstStyle/>
          <a:p>
            <a:pPr indent="0" marL="0">
              <a:buNone/>
            </a:pPr>
            <a:r>
              <a:rPr lang="en-US" sz="1200" dirty="0">
                <a:solidFill>
                  <a:schemeClr val="tx1"/>
                </a:solidFill>
              </a:rPr>
              <a:t>per exception including one correction round</a:t>
            </a:r>
            <a:endParaRPr lang="en-US" sz="1200" dirty="0"/>
          </a:p>
        </p:txBody>
      </p:sp>
      <p:sp>
        <p:nvSpPr>
          <p:cNvPr id="8" name="Shape 5"/>
          <p:cNvSpPr/>
          <p:nvPr/>
        </p:nvSpPr>
        <p:spPr>
          <a:xfrm>
            <a:off x="6355080" y="3474720"/>
            <a:ext cx="2560320" cy="1463040"/>
          </a:xfrm>
          <a:prstGeom prst="roundRect">
            <a:avLst>
              <a:gd name="adj" fmla="val 5000"/>
            </a:avLst>
          </a:prstGeom>
          <a:solidFill>
            <a:schemeClr val="bg2"/>
          </a:solidFill>
          <a:ln w="9525">
            <a:solidFill>
              <a:srgbClr val="D9E6E1"/>
            </a:solidFill>
            <a:prstDash val="solid"/>
          </a:ln>
        </p:spPr>
      </p:sp>
      <p:sp>
        <p:nvSpPr>
          <p:cNvPr id="9" name="Text 6"/>
          <p:cNvSpPr txBox="1"/>
          <p:nvPr/>
        </p:nvSpPr>
        <p:spPr>
          <a:xfrm>
            <a:off x="6583680" y="3611880"/>
            <a:ext cx="2103120" cy="685800"/>
          </a:xfrm>
          <a:prstGeom prst="rect">
            <a:avLst/>
          </a:prstGeom>
          <a:noFill/>
          <a:ln/>
        </p:spPr>
        <p:txBody>
          <a:bodyPr wrap="square" lIns="0" tIns="0" rIns="0" bIns="0" rtlCol="0" anchor="ctr"/>
          <a:lstStyle/>
          <a:p>
            <a:pPr indent="0" marL="0">
              <a:buNone/>
            </a:pPr>
            <a:r>
              <a:rPr lang="en-US" sz="3400" b="1" dirty="0">
                <a:solidFill>
                  <a:schemeClr val="tx2"/>
                </a:solidFill>
                <a:latin typeface="Cambria" pitchFamily="34" charset="0"/>
                <a:ea typeface="Cambria" pitchFamily="34" charset="-122"/>
                <a:cs typeface="Cambria" pitchFamily="34" charset="-120"/>
              </a:rPr>
              <a:t>3.03 / 4</a:t>
            </a:r>
            <a:endParaRPr lang="en-US" sz="3400" dirty="0"/>
          </a:p>
        </p:txBody>
      </p:sp>
      <p:sp>
        <p:nvSpPr>
          <p:cNvPr id="10" name="Text 7"/>
          <p:cNvSpPr txBox="1"/>
          <p:nvPr/>
        </p:nvSpPr>
        <p:spPr>
          <a:xfrm>
            <a:off x="6583680" y="4315968"/>
            <a:ext cx="2103120" cy="548640"/>
          </a:xfrm>
          <a:prstGeom prst="rect">
            <a:avLst/>
          </a:prstGeom>
          <a:noFill/>
          <a:ln/>
        </p:spPr>
        <p:txBody>
          <a:bodyPr wrap="square" lIns="0" tIns="0" rIns="0" bIns="0" rtlCol="0" anchor="t"/>
          <a:lstStyle/>
          <a:p>
            <a:pPr indent="0" marL="0">
              <a:buNone/>
            </a:pPr>
            <a:r>
              <a:rPr lang="en-US" sz="1200" dirty="0">
                <a:solidFill>
                  <a:schemeClr val="tx1"/>
                </a:solidFill>
              </a:rPr>
              <a:t>USD cloud ledger; project cap 20</a:t>
            </a:r>
            <a:endParaRPr lang="en-US" sz="1200" dirty="0"/>
          </a:p>
        </p:txBody>
      </p:sp>
      <p:sp>
        <p:nvSpPr>
          <p:cNvPr id="11" name="Shape 8"/>
          <p:cNvSpPr/>
          <p:nvPr/>
        </p:nvSpPr>
        <p:spPr>
          <a:xfrm>
            <a:off x="9052560" y="3474720"/>
            <a:ext cx="2560320" cy="1463040"/>
          </a:xfrm>
          <a:prstGeom prst="roundRect">
            <a:avLst>
              <a:gd name="adj" fmla="val 5000"/>
            </a:avLst>
          </a:prstGeom>
          <a:solidFill>
            <a:schemeClr val="bg2"/>
          </a:solidFill>
          <a:ln w="9525">
            <a:solidFill>
              <a:srgbClr val="D9E6E1"/>
            </a:solidFill>
            <a:prstDash val="solid"/>
          </a:ln>
        </p:spPr>
      </p:sp>
      <p:sp>
        <p:nvSpPr>
          <p:cNvPr id="12" name="Text 9"/>
          <p:cNvSpPr txBox="1"/>
          <p:nvPr/>
        </p:nvSpPr>
        <p:spPr>
          <a:xfrm>
            <a:off x="9281160" y="3611880"/>
            <a:ext cx="2103120" cy="685800"/>
          </a:xfrm>
          <a:prstGeom prst="rect">
            <a:avLst/>
          </a:prstGeom>
          <a:noFill/>
          <a:ln/>
        </p:spPr>
        <p:txBody>
          <a:bodyPr wrap="square" lIns="0" tIns="0" rIns="0" bIns="0" rtlCol="0" anchor="ctr"/>
          <a:lstStyle/>
          <a:p>
            <a:pPr indent="0" marL="0">
              <a:buNone/>
            </a:pPr>
            <a:r>
              <a:rPr lang="en-US" sz="3400" b="1" dirty="0">
                <a:solidFill>
                  <a:schemeClr val="accent3"/>
                </a:solidFill>
                <a:latin typeface="Cambria" pitchFamily="34" charset="0"/>
                <a:ea typeface="Cambria" pitchFamily="34" charset="-122"/>
                <a:cs typeface="Cambria" pitchFamily="34" charset="-120"/>
              </a:rPr>
              <a:t>1 of 3</a:t>
            </a:r>
            <a:endParaRPr lang="en-US" sz="3400" dirty="0"/>
          </a:p>
        </p:txBody>
      </p:sp>
      <p:sp>
        <p:nvSpPr>
          <p:cNvPr id="13" name="Text 10"/>
          <p:cNvSpPr txBox="1"/>
          <p:nvPr/>
        </p:nvSpPr>
        <p:spPr>
          <a:xfrm>
            <a:off x="9281160" y="4315968"/>
            <a:ext cx="2103120" cy="548640"/>
          </a:xfrm>
          <a:prstGeom prst="rect">
            <a:avLst/>
          </a:prstGeom>
          <a:noFill/>
          <a:ln/>
        </p:spPr>
        <p:txBody>
          <a:bodyPr wrap="square" lIns="0" tIns="0" rIns="0" bIns="0" rtlCol="0" anchor="t"/>
          <a:lstStyle/>
          <a:p>
            <a:pPr indent="0" marL="0">
              <a:buNone/>
            </a:pPr>
            <a:r>
              <a:rPr lang="en-US" sz="1200" dirty="0">
                <a:solidFill>
                  <a:schemeClr val="tx1"/>
                </a:solidFill>
              </a:rPr>
              <a:t>items failed, caught, repaired</a:t>
            </a:r>
            <a:endParaRPr lang="en-US" sz="1200" dirty="0"/>
          </a:p>
        </p:txBody>
      </p:sp>
      <p:sp>
        <p:nvSpPr>
          <p:cNvPr id="14" name="Shape 11"/>
          <p:cNvSpPr/>
          <p:nvPr/>
        </p:nvSpPr>
        <p:spPr>
          <a:xfrm>
            <a:off x="548640" y="5166360"/>
            <a:ext cx="11064240" cy="1051560"/>
          </a:xfrm>
          <a:prstGeom prst="roundRect">
            <a:avLst>
              <a:gd name="adj" fmla="val 6957"/>
            </a:avLst>
          </a:prstGeom>
          <a:solidFill>
            <a:schemeClr val="bg1"/>
          </a:solidFill>
          <a:ln w="15875">
            <a:solidFill>
              <a:srgbClr val="C8781E"/>
            </a:solidFill>
            <a:prstDash val="solid"/>
          </a:ln>
        </p:spPr>
      </p:sp>
      <p:sp>
        <p:nvSpPr>
          <p:cNvPr id="15" name="Text 12"/>
          <p:cNvSpPr txBox="1"/>
          <p:nvPr/>
        </p:nvSpPr>
        <p:spPr>
          <a:xfrm>
            <a:off x="822960" y="5257800"/>
            <a:ext cx="10515600" cy="868680"/>
          </a:xfrm>
          <a:prstGeom prst="rect">
            <a:avLst/>
          </a:prstGeom>
          <a:noFill/>
          <a:ln/>
        </p:spPr>
        <p:txBody>
          <a:bodyPr wrap="square" lIns="0" tIns="0" rIns="0" bIns="0" rtlCol="0" anchor="ctr"/>
          <a:lstStyle/>
          <a:p>
            <a:pPr indent="0" marL="0">
              <a:buNone/>
            </a:pPr>
            <a:r>
              <a:rPr lang="en-US" sz="1250" b="1" dirty="0">
                <a:solidFill>
                  <a:schemeClr val="accent2"/>
                </a:solidFill>
              </a:rPr>
              <a:t>Unmeasured, and what the pilot measures:  </a:t>
            </a:r>
            <a:pPr indent="0" marL="0">
              <a:buNone/>
            </a:pPr>
            <a:r>
              <a:rPr lang="en-US" sz="1250" dirty="0">
                <a:solidFill>
                  <a:schemeClr val="tx1"/>
                </a:solidFill>
              </a:rPr>
              <a:t>active minutes saved on both sides, critical errors avoided versus introduced, one-time integration cost. At CAD 45 per hour, one planner minute covers the model cost; integration is the number that matters. Simulated demand-recovery gains were withdrawn.</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Four stakeholders, four trade-offs, one roadmap of gates</a:t>
            </a:r>
            <a:endParaRPr lang="en-US" sz="32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011680"/>
                <a:gridCol w="2651760"/>
                <a:gridCol w="3566160"/>
                <a:gridCol w="2834640"/>
              </a:tblGrid>
              <a:tr h="384048">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Stakeholder</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Needs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We chose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c>
                  <a:txBody>
                    <a:bodyPr/>
                    <a:lstStyle/>
                    <a:p>
                      <a:pPr indent="0" marL="0">
                        <a:buNone/>
                      </a:pPr>
                      <a:r>
                        <a:rPr lang="en-US" sz="1250" b="1" dirty="0">
                          <a:solidFill>
                            <a:srgbClr val="FFFFFF"/>
                          </a:solidFill>
                          <a:latin typeface="Calibri" pitchFamily="34" charset="0"/>
                          <a:ea typeface="Calibri" pitchFamily="34" charset="-122"/>
                          <a:cs typeface="Calibri" pitchFamily="34" charset="-120"/>
                        </a:rPr>
                        <a:t>We gave up</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0F5C4D"/>
                    </a:solidFill>
                  </a:tcPr>
                </a:tc>
              </a:tr>
              <a:tr h="658368">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Software development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Reliability; no model with write rights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Rules in the write path; failures retained; sandbox contract</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Feature speed; the loop has run end to end once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Marketing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differentiated story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One claim, one buyer; four claims withdrawn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The "network" narrative as scope; any price advantage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Finance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return</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Measured cost; pre-set targets; kill rules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Any savings number today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r h="594360">
                <a:tc>
                  <a:txBody>
                    <a:bodyPr/>
                    <a:lstStyle/>
                    <a:p>
                      <a:pPr indent="0" marL="0">
                        <a:buNone/>
                      </a:pPr>
                      <a:r>
                        <a:rPr lang="en-US" sz="1250" b="1" dirty="0">
                          <a:solidFill>
                            <a:srgbClr val="14353A"/>
                          </a:solidFill>
                          <a:latin typeface="Calibri" pitchFamily="34" charset="0"/>
                          <a:ea typeface="Calibri" pitchFamily="34" charset="-122"/>
                          <a:cs typeface="Calibri" pitchFamily="34" charset="-120"/>
                        </a:rPr>
                        <a:t>Product strategy</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A scalable wedge</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The demand-to-decision loop, four gates</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c>
                  <a:txBody>
                    <a:bodyPr/>
                    <a:lstStyle/>
                    <a:p>
                      <a:pPr indent="0" marL="0">
                        <a:buNone/>
                      </a:pPr>
                      <a:r>
                        <a:rPr lang="en-US" sz="1250" dirty="0">
                          <a:solidFill>
                            <a:srgbClr val="14353A"/>
                          </a:solidFill>
                          <a:latin typeface="Calibri" pitchFamily="34" charset="0"/>
                          <a:ea typeface="Calibri" pitchFamily="34" charset="-122"/>
                          <a:cs typeface="Calibri" pitchFamily="34" charset="-120"/>
                        </a:rPr>
                        <a:t>Forecasting, transfers, autonomous buying</a:t>
                      </a:r>
                      <a:endParaRPr lang="en-US" sz="1250" dirty="0">
                        <a:latin typeface="Calibri" charset="0"/>
                        <a:ea typeface="Calibri" charset="0"/>
                        <a:cs typeface="Calibri" charset="0"/>
                      </a:endParaRPr>
                    </a:p>
                  </a:txBody>
                  <a:tcPr marL="73152" marR="73152" marT="73152" marB="73152" anchor="ctr">
                    <a:lnL w="6350" cap="flat" cmpd="sng" algn="ctr">
                      <a:solidFill>
                        <a:srgbClr val="D9E6E1"/>
                      </a:solidFill>
                      <a:prstDash val="solid"/>
                      <a:round/>
                      <a:headEnd type="none" w="med" len="med"/>
                      <a:tailEnd type="none" w="med" len="med"/>
                    </a:lnL>
                    <a:lnR w="6350" cap="flat" cmpd="sng" algn="ctr">
                      <a:solidFill>
                        <a:srgbClr val="D9E6E1"/>
                      </a:solidFill>
                      <a:prstDash val="solid"/>
                      <a:round/>
                      <a:headEnd type="none" w="med" len="med"/>
                      <a:tailEnd type="none" w="med" len="med"/>
                    </a:lnR>
                    <a:lnT w="6350" cap="flat" cmpd="sng" algn="ctr">
                      <a:solidFill>
                        <a:srgbClr val="D9E6E1"/>
                      </a:solidFill>
                      <a:prstDash val="solid"/>
                      <a:round/>
                      <a:headEnd type="none" w="med" len="med"/>
                      <a:tailEnd type="none" w="med" len="med"/>
                    </a:lnT>
                    <a:lnB w="6350" cap="flat" cmpd="sng" algn="ctr">
                      <a:solidFill>
                        <a:srgbClr val="D9E6E1"/>
                      </a:solidFill>
                      <a:prstDash val="solid"/>
                      <a:round/>
                      <a:headEnd type="none" w="med" len="med"/>
                      <a:tailEnd type="none" w="med" len="med"/>
                    </a:lnB>
                    <a:solidFill>
                      <a:srgbClr val="FFFFFF"/>
                    </a:solidFill>
                  </a:tcPr>
                </a:tc>
              </a:tr>
            </a:tbl>
          </a:graphicData>
        </a:graphic>
      </p:graphicFrame>
      <p:sp>
        <p:nvSpPr>
          <p:cNvPr id="4" name="Shape 1"/>
          <p:cNvSpPr/>
          <p:nvPr/>
        </p:nvSpPr>
        <p:spPr>
          <a:xfrm>
            <a:off x="548640" y="4572000"/>
            <a:ext cx="2651760" cy="960120"/>
          </a:xfrm>
          <a:prstGeom prst="roundRect">
            <a:avLst>
              <a:gd name="adj" fmla="val 7619"/>
            </a:avLst>
          </a:prstGeom>
          <a:solidFill>
            <a:schemeClr val="bg2"/>
          </a:solidFill>
          <a:ln w="9525">
            <a:solidFill>
              <a:srgbClr val="D9E6E1"/>
            </a:solidFill>
            <a:prstDash val="solid"/>
          </a:ln>
        </p:spPr>
      </p:sp>
      <p:sp>
        <p:nvSpPr>
          <p:cNvPr id="5" name="Text 2"/>
          <p:cNvSpPr txBox="1"/>
          <p:nvPr/>
        </p:nvSpPr>
        <p:spPr>
          <a:xfrm>
            <a:off x="731520"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0 · now</a:t>
            </a:r>
            <a:endParaRPr lang="en-US" sz="1300" dirty="0"/>
          </a:p>
        </p:txBody>
      </p:sp>
      <p:sp>
        <p:nvSpPr>
          <p:cNvPr id="6" name="Text 3"/>
          <p:cNvSpPr txBox="1"/>
          <p:nvPr/>
        </p:nvSpPr>
        <p:spPr>
          <a:xfrm>
            <a:off x="731520"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workspace deployed; sandbox and acceptance kit built</a:t>
            </a:r>
            <a:endParaRPr lang="en-US" sz="1150" dirty="0"/>
          </a:p>
        </p:txBody>
      </p:sp>
      <p:sp>
        <p:nvSpPr>
          <p:cNvPr id="7" name="Shape 4"/>
          <p:cNvSpPr/>
          <p:nvPr/>
        </p:nvSpPr>
        <p:spPr>
          <a:xfrm>
            <a:off x="3218688" y="4937760"/>
            <a:ext cx="128016" cy="219456"/>
          </a:xfrm>
          <a:prstGeom prst="rightArrow">
            <a:avLst/>
          </a:prstGeom>
          <a:solidFill>
            <a:schemeClr val="accent4"/>
          </a:solidFill>
          <a:ln w="12700">
            <a:solidFill>
              <a:srgbClr val="557078"/>
            </a:solidFill>
            <a:prstDash val="solid"/>
          </a:ln>
        </p:spPr>
      </p:sp>
      <p:sp>
        <p:nvSpPr>
          <p:cNvPr id="8" name="Shape 5"/>
          <p:cNvSpPr/>
          <p:nvPr/>
        </p:nvSpPr>
        <p:spPr>
          <a:xfrm>
            <a:off x="3364992" y="4572000"/>
            <a:ext cx="2651760" cy="960120"/>
          </a:xfrm>
          <a:prstGeom prst="roundRect">
            <a:avLst>
              <a:gd name="adj" fmla="val 7619"/>
            </a:avLst>
          </a:prstGeom>
          <a:solidFill>
            <a:schemeClr val="bg2"/>
          </a:solidFill>
          <a:ln w="9525">
            <a:solidFill>
              <a:srgbClr val="D9E6E1"/>
            </a:solidFill>
            <a:prstDash val="solid"/>
          </a:ln>
        </p:spPr>
      </p:sp>
      <p:sp>
        <p:nvSpPr>
          <p:cNvPr id="9" name="Text 6"/>
          <p:cNvSpPr txBox="1"/>
          <p:nvPr/>
        </p:nvSpPr>
        <p:spPr>
          <a:xfrm>
            <a:off x="3547872"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1 · pilot</a:t>
            </a:r>
            <a:endParaRPr lang="en-US" sz="1300" dirty="0"/>
          </a:p>
        </p:txBody>
      </p:sp>
      <p:sp>
        <p:nvSpPr>
          <p:cNvPr id="10" name="Text 7"/>
          <p:cNvSpPr txBox="1"/>
          <p:nvPr/>
        </p:nvSpPr>
        <p:spPr>
          <a:xfrm>
            <a:off x="3547872"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10 frozen tasks; then 3 arms on 10–20 real exceptions</a:t>
            </a:r>
            <a:endParaRPr lang="en-US" sz="1150" dirty="0"/>
          </a:p>
        </p:txBody>
      </p:sp>
      <p:sp>
        <p:nvSpPr>
          <p:cNvPr id="11" name="Shape 8"/>
          <p:cNvSpPr/>
          <p:nvPr/>
        </p:nvSpPr>
        <p:spPr>
          <a:xfrm>
            <a:off x="6035040" y="4937760"/>
            <a:ext cx="128016" cy="219456"/>
          </a:xfrm>
          <a:prstGeom prst="rightArrow">
            <a:avLst/>
          </a:prstGeom>
          <a:solidFill>
            <a:schemeClr val="accent4"/>
          </a:solidFill>
          <a:ln w="12700">
            <a:solidFill>
              <a:srgbClr val="557078"/>
            </a:solidFill>
            <a:prstDash val="solid"/>
          </a:ln>
        </p:spPr>
      </p:sp>
      <p:sp>
        <p:nvSpPr>
          <p:cNvPr id="12" name="Shape 9"/>
          <p:cNvSpPr/>
          <p:nvPr/>
        </p:nvSpPr>
        <p:spPr>
          <a:xfrm>
            <a:off x="6181344" y="4572000"/>
            <a:ext cx="2651760" cy="960120"/>
          </a:xfrm>
          <a:prstGeom prst="roundRect">
            <a:avLst>
              <a:gd name="adj" fmla="val 7619"/>
            </a:avLst>
          </a:prstGeom>
          <a:solidFill>
            <a:schemeClr val="bg2"/>
          </a:solidFill>
          <a:ln w="9525">
            <a:solidFill>
              <a:srgbClr val="D9E6E1"/>
            </a:solidFill>
            <a:prstDash val="solid"/>
          </a:ln>
        </p:spPr>
      </p:sp>
      <p:sp>
        <p:nvSpPr>
          <p:cNvPr id="13" name="Text 10"/>
          <p:cNvSpPr txBox="1"/>
          <p:nvPr/>
        </p:nvSpPr>
        <p:spPr>
          <a:xfrm>
            <a:off x="6364224"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2 · SAP read</a:t>
            </a:r>
            <a:endParaRPr lang="en-US" sz="1300" dirty="0"/>
          </a:p>
        </p:txBody>
      </p:sp>
      <p:sp>
        <p:nvSpPr>
          <p:cNvPr id="14" name="Text 11"/>
          <p:cNvSpPr txBox="1"/>
          <p:nvPr/>
        </p:nvSpPr>
        <p:spPr>
          <a:xfrm>
            <a:off x="6364224"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a real tenant; planner and supplier identities</a:t>
            </a:r>
            <a:endParaRPr lang="en-US" sz="1150" dirty="0"/>
          </a:p>
        </p:txBody>
      </p:sp>
      <p:sp>
        <p:nvSpPr>
          <p:cNvPr id="15" name="Shape 12"/>
          <p:cNvSpPr/>
          <p:nvPr/>
        </p:nvSpPr>
        <p:spPr>
          <a:xfrm>
            <a:off x="8851392" y="4937760"/>
            <a:ext cx="128016" cy="219456"/>
          </a:xfrm>
          <a:prstGeom prst="rightArrow">
            <a:avLst/>
          </a:prstGeom>
          <a:solidFill>
            <a:schemeClr val="accent4"/>
          </a:solidFill>
          <a:ln w="12700">
            <a:solidFill>
              <a:srgbClr val="557078"/>
            </a:solidFill>
            <a:prstDash val="solid"/>
          </a:ln>
        </p:spPr>
      </p:sp>
      <p:sp>
        <p:nvSpPr>
          <p:cNvPr id="16" name="Shape 13"/>
          <p:cNvSpPr/>
          <p:nvPr/>
        </p:nvSpPr>
        <p:spPr>
          <a:xfrm>
            <a:off x="8997696" y="4572000"/>
            <a:ext cx="2651760" cy="960120"/>
          </a:xfrm>
          <a:prstGeom prst="roundRect">
            <a:avLst>
              <a:gd name="adj" fmla="val 7619"/>
            </a:avLst>
          </a:prstGeom>
          <a:solidFill>
            <a:schemeClr val="bg2"/>
          </a:solidFill>
          <a:ln w="9525">
            <a:solidFill>
              <a:srgbClr val="D9E6E1"/>
            </a:solidFill>
            <a:prstDash val="solid"/>
          </a:ln>
        </p:spPr>
      </p:sp>
      <p:sp>
        <p:nvSpPr>
          <p:cNvPr id="17" name="Text 14"/>
          <p:cNvSpPr txBox="1"/>
          <p:nvPr/>
        </p:nvSpPr>
        <p:spPr>
          <a:xfrm>
            <a:off x="9180576" y="4663440"/>
            <a:ext cx="2286000" cy="292608"/>
          </a:xfrm>
          <a:prstGeom prst="rect">
            <a:avLst/>
          </a:prstGeom>
          <a:noFill/>
          <a:ln/>
        </p:spPr>
        <p:txBody>
          <a:bodyPr wrap="square" lIns="0" tIns="0" rIns="0" bIns="0" rtlCol="0" anchor="t"/>
          <a:lstStyle/>
          <a:p>
            <a:pPr indent="0" marL="0">
              <a:buNone/>
            </a:pPr>
            <a:r>
              <a:rPr lang="en-US" sz="1300" b="1" dirty="0">
                <a:solidFill>
                  <a:schemeClr val="tx2"/>
                </a:solidFill>
              </a:rPr>
              <a:t>3 · SAP write</a:t>
            </a:r>
            <a:endParaRPr lang="en-US" sz="1300" dirty="0"/>
          </a:p>
        </p:txBody>
      </p:sp>
      <p:sp>
        <p:nvSpPr>
          <p:cNvPr id="18" name="Text 15"/>
          <p:cNvSpPr txBox="1"/>
          <p:nvPr/>
        </p:nvSpPr>
        <p:spPr>
          <a:xfrm>
            <a:off x="9180576" y="4956048"/>
            <a:ext cx="2377440" cy="548640"/>
          </a:xfrm>
          <a:prstGeom prst="rect">
            <a:avLst/>
          </a:prstGeom>
          <a:noFill/>
          <a:ln/>
        </p:spPr>
        <p:txBody>
          <a:bodyPr wrap="square" lIns="0" tIns="0" rIns="0" bIns="0" rtlCol="0" anchor="t"/>
          <a:lstStyle/>
          <a:p>
            <a:pPr indent="0" marL="0">
              <a:buNone/>
            </a:pPr>
            <a:r>
              <a:rPr lang="en-US" sz="1150" dirty="0">
                <a:solidFill>
                  <a:schemeClr val="accent4"/>
                </a:solidFill>
              </a:rPr>
              <a:t>change request into existing approval</a:t>
            </a:r>
            <a:endParaRPr lang="en-US" sz="1150" dirty="0"/>
          </a:p>
        </p:txBody>
      </p:sp>
      <p:sp>
        <p:nvSpPr>
          <p:cNvPr id="19" name="Text 16"/>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200" dirty="0">
                <a:solidFill>
                  <a:schemeClr val="tx1"/>
                </a:solidFill>
              </a:rPr>
              <a:t>Where they still conflict: marketing wants a bigger claim than finance will fund and engineering will stand behind. Each gate is one function's condition; no gate is skipped. If a strong form matches the Agent, we ship the form.</a:t>
            </a:r>
            <a:endParaRPr lang="en-US" sz="12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Twelve days to an engineering result, then a pilot</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Resources, dependencies, milestones, success criteria and stop rules, stated before run one.</a:t>
            </a:r>
            <a:endParaRPr lang="en-US" sz="1300" dirty="0"/>
          </a:p>
        </p:txBody>
      </p:sp>
      <p:sp>
        <p:nvSpPr>
          <p:cNvPr id="4" name="Shape 2"/>
          <p:cNvSpPr/>
          <p:nvPr/>
        </p:nvSpPr>
        <p:spPr>
          <a:xfrm>
            <a:off x="548640" y="1828800"/>
            <a:ext cx="3566160" cy="3200400"/>
          </a:xfrm>
          <a:prstGeom prst="roundRect">
            <a:avLst>
              <a:gd name="adj" fmla="val 2286"/>
            </a:avLst>
          </a:prstGeom>
          <a:solidFill>
            <a:schemeClr val="bg2"/>
          </a:solidFill>
          <a:ln w="9525">
            <a:solidFill>
              <a:srgbClr val="D9E6E1"/>
            </a:solidFill>
            <a:prstDash val="solid"/>
          </a:ln>
        </p:spPr>
      </p:sp>
      <p:sp>
        <p:nvSpPr>
          <p:cNvPr id="5" name="Text 3"/>
          <p:cNvSpPr txBox="1"/>
          <p:nvPr/>
        </p:nvSpPr>
        <p:spPr>
          <a:xfrm>
            <a:off x="74980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Milestones</a:t>
            </a:r>
            <a:endParaRPr lang="en-US" sz="1600" dirty="0"/>
          </a:p>
        </p:txBody>
      </p:sp>
      <p:sp>
        <p:nvSpPr>
          <p:cNvPr id="6" name="Text 4"/>
          <p:cNvSpPr txBox="1"/>
          <p:nvPr/>
        </p:nvSpPr>
        <p:spPr>
          <a:xfrm>
            <a:off x="74980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Days 1–3: a real mailbox behind the same intake validator; call budget for ten runs</a:t>
            </a:r>
            <a:endParaRPr lang="en-US" sz="1200" dirty="0"/>
          </a:p>
          <a:p>
            <a:pPr marL="177800" indent="-177800">
              <a:spcAft>
                <a:spcPts val="500"/>
              </a:spcAft>
              <a:buSzPct val="100000"/>
              <a:buChar char="•"/>
            </a:pPr>
            <a:r>
              <a:rPr lang="en-US" sz="1200" dirty="0">
                <a:solidFill>
                  <a:schemeClr val="tx1"/>
                </a:solidFill>
              </a:rPr>
              <a:t>Days 4–7: one connected run of gate → reply → receipt on the same task; then ten frozen tasks scored against sandbox records; freeze</a:t>
            </a:r>
            <a:endParaRPr lang="en-US" sz="1200" dirty="0"/>
          </a:p>
          <a:p>
            <a:pPr marL="177800" indent="-177800">
              <a:spcAft>
                <a:spcPts val="500"/>
              </a:spcAft>
              <a:buSzPct val="100000"/>
              <a:buChar char="•"/>
            </a:pPr>
            <a:r>
              <a:rPr lang="en-US" sz="1200" dirty="0">
                <a:solidFill>
                  <a:schemeClr val="tx1"/>
                </a:solidFill>
              </a:rPr>
              <a:t>Days 8–12: repair, re-run, engineering report</a:t>
            </a:r>
            <a:endParaRPr lang="en-US" sz="1200" dirty="0"/>
          </a:p>
          <a:p>
            <a:pPr marL="177800" indent="-177800">
              <a:spcAft>
                <a:spcPts val="500"/>
              </a:spcAft>
              <a:buSzPct val="100000"/>
              <a:buChar char="•"/>
            </a:pPr>
            <a:r>
              <a:rPr lang="en-US" sz="1200" dirty="0">
                <a:solidFill>
                  <a:schemeClr val="tx1"/>
                </a:solidFill>
              </a:rPr>
              <a:t>Then: 3-arm pilot on 10–20 real exceptions</a:t>
            </a:r>
            <a:endParaRPr lang="en-US" sz="1200" dirty="0"/>
          </a:p>
        </p:txBody>
      </p:sp>
      <p:sp>
        <p:nvSpPr>
          <p:cNvPr id="7" name="Shape 5"/>
          <p:cNvSpPr/>
          <p:nvPr/>
        </p:nvSpPr>
        <p:spPr>
          <a:xfrm>
            <a:off x="4297680" y="1828800"/>
            <a:ext cx="3566160" cy="3200400"/>
          </a:xfrm>
          <a:prstGeom prst="roundRect">
            <a:avLst>
              <a:gd name="adj" fmla="val 2286"/>
            </a:avLst>
          </a:prstGeom>
          <a:solidFill>
            <a:schemeClr val="bg2"/>
          </a:solidFill>
          <a:ln w="9525">
            <a:solidFill>
              <a:srgbClr val="D9E6E1"/>
            </a:solidFill>
            <a:prstDash val="solid"/>
          </a:ln>
        </p:spPr>
      </p:sp>
      <p:sp>
        <p:nvSpPr>
          <p:cNvPr id="8" name="Text 6"/>
          <p:cNvSpPr txBox="1"/>
          <p:nvPr/>
        </p:nvSpPr>
        <p:spPr>
          <a:xfrm>
            <a:off x="449884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Resources and dependencies</a:t>
            </a:r>
            <a:endParaRPr lang="en-US" sz="1600" dirty="0"/>
          </a:p>
        </p:txBody>
      </p:sp>
      <p:sp>
        <p:nvSpPr>
          <p:cNvPr id="9" name="Text 7"/>
          <p:cNvSpPr txBox="1"/>
          <p:nvPr/>
        </p:nvSpPr>
        <p:spPr>
          <a:xfrm>
            <a:off x="449884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Two builders, two model lanes, no hires</a:t>
            </a:r>
            <a:endParaRPr lang="en-US" sz="1200" dirty="0"/>
          </a:p>
          <a:p>
            <a:pPr marL="177800" indent="-177800">
              <a:spcAft>
                <a:spcPts val="500"/>
              </a:spcAft>
              <a:buSzPct val="100000"/>
              <a:buChar char="•"/>
            </a:pPr>
            <a:r>
              <a:rPr lang="en-US" sz="1200" dirty="0">
                <a:solidFill>
                  <a:schemeClr val="tx1"/>
                </a:solidFill>
              </a:rPr>
              <a:t>A case mailbox, or the simulator until then</a:t>
            </a:r>
            <a:endParaRPr lang="en-US" sz="1200" dirty="0"/>
          </a:p>
          <a:p>
            <a:pPr marL="177800" indent="-177800">
              <a:spcAft>
                <a:spcPts val="500"/>
              </a:spcAft>
              <a:buSzPct val="100000"/>
              <a:buChar char="•"/>
            </a:pPr>
            <a:r>
              <a:rPr lang="en-US" sz="1200" dirty="0">
                <a:solidFill>
                  <a:schemeClr val="tx1"/>
                </a:solidFill>
              </a:rPr>
              <a:t>A reachable sandbox host</a:t>
            </a:r>
            <a:endParaRPr lang="en-US" sz="1200" dirty="0"/>
          </a:p>
          <a:p>
            <a:pPr marL="177800" indent="-177800">
              <a:spcAft>
                <a:spcPts val="500"/>
              </a:spcAft>
              <a:buSzPct val="100000"/>
              <a:buChar char="•"/>
            </a:pPr>
            <a:r>
              <a:rPr lang="en-US" sz="1200" dirty="0">
                <a:solidFill>
                  <a:schemeClr val="tx1"/>
                </a:solidFill>
              </a:rPr>
              <a:t>One partner with real exceptions</a:t>
            </a:r>
            <a:endParaRPr lang="en-US" sz="1200" dirty="0"/>
          </a:p>
          <a:p>
            <a:pPr marL="177800" indent="-177800">
              <a:spcAft>
                <a:spcPts val="500"/>
              </a:spcAft>
              <a:buSzPct val="100000"/>
              <a:buChar char="•"/>
            </a:pPr>
            <a:r>
              <a:rPr lang="en-US" sz="1200" dirty="0">
                <a:solidFill>
                  <a:schemeClr val="tx1"/>
                </a:solidFill>
              </a:rPr>
              <a:t>An SAP tenant owner for phase 2</a:t>
            </a:r>
            <a:endParaRPr lang="en-US" sz="1200" dirty="0"/>
          </a:p>
          <a:p>
            <a:pPr marL="177800" indent="-177800">
              <a:spcAft>
                <a:spcPts val="500"/>
              </a:spcAft>
              <a:buSzPct val="100000"/>
              <a:buChar char="•"/>
            </a:pPr>
            <a:r>
              <a:rPr lang="en-US" sz="1200" dirty="0">
                <a:solidFill>
                  <a:schemeClr val="tx1"/>
                </a:solidFill>
              </a:rPr>
              <a:t>Cap USD 20; pilot model spend &lt; USD 50</a:t>
            </a:r>
            <a:endParaRPr lang="en-US" sz="1200" dirty="0"/>
          </a:p>
        </p:txBody>
      </p:sp>
      <p:sp>
        <p:nvSpPr>
          <p:cNvPr id="10" name="Shape 8"/>
          <p:cNvSpPr/>
          <p:nvPr/>
        </p:nvSpPr>
        <p:spPr>
          <a:xfrm>
            <a:off x="8046720" y="1828800"/>
            <a:ext cx="3566160" cy="3200400"/>
          </a:xfrm>
          <a:prstGeom prst="roundRect">
            <a:avLst>
              <a:gd name="adj" fmla="val 2286"/>
            </a:avLst>
          </a:prstGeom>
          <a:solidFill>
            <a:schemeClr val="bg2"/>
          </a:solidFill>
          <a:ln w="9525">
            <a:solidFill>
              <a:srgbClr val="D9E6E1"/>
            </a:solidFill>
            <a:prstDash val="solid"/>
          </a:ln>
        </p:spPr>
      </p:sp>
      <p:sp>
        <p:nvSpPr>
          <p:cNvPr id="11" name="Text 9"/>
          <p:cNvSpPr txBox="1"/>
          <p:nvPr/>
        </p:nvSpPr>
        <p:spPr>
          <a:xfrm>
            <a:off x="8247888" y="1993392"/>
            <a:ext cx="3163824" cy="347472"/>
          </a:xfrm>
          <a:prstGeom prst="rect">
            <a:avLst/>
          </a:prstGeom>
          <a:noFill/>
          <a:ln/>
        </p:spPr>
        <p:txBody>
          <a:bodyPr wrap="square" lIns="0" tIns="0" rIns="0" bIns="0" rtlCol="0" anchor="t"/>
          <a:lstStyle/>
          <a:p>
            <a:pPr indent="0" marL="0">
              <a:buNone/>
            </a:pPr>
            <a:r>
              <a:rPr lang="en-US" sz="1600" b="1" dirty="0">
                <a:solidFill>
                  <a:schemeClr val="tx2"/>
                </a:solidFill>
              </a:rPr>
              <a:t>Success criteria and stop rules</a:t>
            </a:r>
            <a:endParaRPr lang="en-US" sz="1600" dirty="0"/>
          </a:p>
        </p:txBody>
      </p:sp>
      <p:sp>
        <p:nvSpPr>
          <p:cNvPr id="12" name="Text 10"/>
          <p:cNvSpPr txBox="1"/>
          <p:nvPr/>
        </p:nvSpPr>
        <p:spPr>
          <a:xfrm>
            <a:off x="8247888" y="2395728"/>
            <a:ext cx="3163824" cy="2514600"/>
          </a:xfrm>
          <a:prstGeom prst="rect">
            <a:avLst/>
          </a:prstGeom>
          <a:noFill/>
          <a:ln/>
        </p:spPr>
        <p:txBody>
          <a:bodyPr wrap="square" lIns="0" tIns="0" rIns="0" bIns="0" rtlCol="0" anchor="t"/>
          <a:lstStyle/>
          <a:p>
            <a:pPr marL="177800" indent="-177800">
              <a:spcAft>
                <a:spcPts val="500"/>
              </a:spcAft>
              <a:buSzPct val="100000"/>
              <a:buChar char="•"/>
            </a:pPr>
            <a:r>
              <a:rPr lang="en-US" sz="1200" dirty="0">
                <a:solidFill>
                  <a:schemeClr val="tx1"/>
                </a:solidFill>
              </a:rPr>
              <a:t>Engineering: 10 of 10 tasks end to end, zero critical errors</a:t>
            </a:r>
            <a:endParaRPr lang="en-US" sz="1200" dirty="0"/>
          </a:p>
          <a:p>
            <a:pPr marL="177800" indent="-177800">
              <a:spcAft>
                <a:spcPts val="500"/>
              </a:spcAft>
              <a:buSzPct val="100000"/>
              <a:buChar char="•"/>
            </a:pPr>
            <a:r>
              <a:rPr lang="en-US" sz="1200" dirty="0">
                <a:solidFill>
                  <a:schemeClr val="tx1"/>
                </a:solidFill>
              </a:rPr>
              <a:t>Business: −30% active time vs manual; −15% vs strong form; no burden shifted to the supplier</a:t>
            </a:r>
            <a:endParaRPr lang="en-US" sz="1200" dirty="0"/>
          </a:p>
          <a:p>
            <a:pPr marL="177800" indent="-177800">
              <a:spcAft>
                <a:spcPts val="500"/>
              </a:spcAft>
              <a:buSzPct val="100000"/>
              <a:buChar char="•"/>
            </a:pPr>
            <a:r>
              <a:rPr lang="en-US" sz="1200" dirty="0">
                <a:solidFill>
                  <a:schemeClr val="tx1"/>
                </a:solidFill>
              </a:rPr>
              <a:t>Stop: forms match → ship the form; critical error → suspend auto-submit; transport dominates → no arrival promise</a:t>
            </a:r>
            <a:endParaRPr lang="en-US" sz="1200" dirty="0"/>
          </a:p>
        </p:txBody>
      </p:sp>
      <p:sp>
        <p:nvSpPr>
          <p:cNvPr id="13" name="Shape 11"/>
          <p:cNvSpPr/>
          <p:nvPr/>
        </p:nvSpPr>
        <p:spPr>
          <a:xfrm>
            <a:off x="548640" y="5257800"/>
            <a:ext cx="11064240" cy="685800"/>
          </a:xfrm>
          <a:prstGeom prst="roundRect">
            <a:avLst>
              <a:gd name="adj" fmla="val 10667"/>
            </a:avLst>
          </a:prstGeom>
          <a:solidFill>
            <a:schemeClr val="bg1"/>
          </a:solidFill>
          <a:ln w="15875">
            <a:solidFill>
              <a:srgbClr val="B3261E"/>
            </a:solidFill>
            <a:prstDash val="solid"/>
          </a:ln>
        </p:spPr>
      </p:sp>
      <p:sp>
        <p:nvSpPr>
          <p:cNvPr id="14" name="Text 12"/>
          <p:cNvSpPr txBox="1"/>
          <p:nvPr/>
        </p:nvSpPr>
        <p:spPr>
          <a:xfrm>
            <a:off x="822960" y="5257800"/>
            <a:ext cx="10515600" cy="685800"/>
          </a:xfrm>
          <a:prstGeom prst="rect">
            <a:avLst/>
          </a:prstGeom>
          <a:noFill/>
          <a:ln/>
        </p:spPr>
        <p:txBody>
          <a:bodyPr wrap="square" lIns="0" tIns="0" rIns="0" bIns="0" rtlCol="0" anchor="ctr"/>
          <a:lstStyle/>
          <a:p>
            <a:pPr indent="0" marL="0">
              <a:buNone/>
            </a:pPr>
            <a:r>
              <a:rPr lang="en-US" sz="1250" b="1" dirty="0">
                <a:solidFill>
                  <a:schemeClr val="accent3"/>
                </a:solidFill>
              </a:rPr>
              <a:t>Top risks:  </a:t>
            </a:r>
            <a:pPr indent="0" marL="0">
              <a:buNone/>
            </a:pPr>
            <a:r>
              <a:rPr lang="en-US" sz="1250" dirty="0">
                <a:solidFill>
                  <a:schemeClr val="tx1"/>
                </a:solidFill>
              </a:rPr>
              <a:t>no partner appears; the sandbox is mistaken for SAP; the ten tasks are read as a blinded test when they are not.</a:t>
            </a:r>
            <a:endParaRPr lang="en-US" sz="12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11480"/>
            <a:ext cx="11094415" cy="822960"/>
          </a:xfrm>
          <a:prstGeom prst="rect">
            <a:avLst/>
          </a:prstGeom>
          <a:noFill/>
          <a:ln/>
        </p:spPr>
        <p:txBody>
          <a:bodyPr wrap="square" lIns="0" tIns="0" rIns="0" bIns="0" rtlCol="0" anchor="ctr"/>
          <a:lstStyle/>
          <a:p>
            <a:pPr algn="l" indent="0" marL="0">
              <a:buNone/>
            </a:pPr>
            <a:r>
              <a:rPr lang="en-US" sz="3200" b="1" dirty="0">
                <a:solidFill>
                  <a:schemeClr val="tx1"/>
                </a:solidFill>
              </a:rPr>
              <a:t>From one exception to the response layer on SAP</a:t>
            </a:r>
            <a:endParaRPr lang="en-US" sz="3200" dirty="0"/>
          </a:p>
        </p:txBody>
      </p:sp>
      <p:sp>
        <p:nvSpPr>
          <p:cNvPr id="3" name="Text 1"/>
          <p:cNvSpPr txBox="1"/>
          <p:nvPr/>
        </p:nvSpPr>
        <p:spPr>
          <a:xfrm>
            <a:off x="548640" y="1298448"/>
            <a:ext cx="10515600" cy="329184"/>
          </a:xfrm>
          <a:prstGeom prst="rect">
            <a:avLst/>
          </a:prstGeom>
          <a:noFill/>
          <a:ln/>
        </p:spPr>
        <p:txBody>
          <a:bodyPr wrap="square" lIns="0" tIns="0" rIns="0" bIns="0" rtlCol="0" anchor="ctr"/>
          <a:lstStyle/>
          <a:p>
            <a:pPr indent="0" marL="0">
              <a:buNone/>
            </a:pPr>
            <a:r>
              <a:rPr lang="en-US" sz="1300" i="1" dirty="0">
                <a:solidFill>
                  <a:schemeClr val="accent4"/>
                </a:solidFill>
              </a:rPr>
              <a:t>Vision is context, not scope. Each horizon opens only when the one before it passes its gate.</a:t>
            </a:r>
            <a:endParaRPr lang="en-US" sz="1300" dirty="0"/>
          </a:p>
        </p:txBody>
      </p:sp>
      <p:sp>
        <p:nvSpPr>
          <p:cNvPr id="4" name="Shape 2"/>
          <p:cNvSpPr/>
          <p:nvPr/>
        </p:nvSpPr>
        <p:spPr>
          <a:xfrm>
            <a:off x="548640" y="1828800"/>
            <a:ext cx="3566160" cy="3657600"/>
          </a:xfrm>
          <a:prstGeom prst="roundRect">
            <a:avLst>
              <a:gd name="adj" fmla="val 2051"/>
            </a:avLst>
          </a:prstGeom>
          <a:solidFill>
            <a:schemeClr val="bg2"/>
          </a:solidFill>
          <a:ln w="9525">
            <a:solidFill>
              <a:srgbClr val="D9E6E1"/>
            </a:solidFill>
            <a:prstDash val="solid"/>
          </a:ln>
        </p:spPr>
      </p:sp>
      <p:sp>
        <p:nvSpPr>
          <p:cNvPr id="5" name="Shape 3"/>
          <p:cNvSpPr/>
          <p:nvPr/>
        </p:nvSpPr>
        <p:spPr>
          <a:xfrm>
            <a:off x="749808" y="2029968"/>
            <a:ext cx="365760" cy="365760"/>
          </a:xfrm>
          <a:prstGeom prst="ellipse">
            <a:avLst/>
          </a:prstGeom>
          <a:solidFill>
            <a:schemeClr val="accent1"/>
          </a:solidFill>
          <a:ln w="12700">
            <a:solidFill>
              <a:schemeClr val="accent1"/>
            </a:solidFill>
            <a:prstDash val="solid"/>
          </a:ln>
        </p:spPr>
      </p:sp>
      <p:sp>
        <p:nvSpPr>
          <p:cNvPr id="6" name="Text 4"/>
          <p:cNvSpPr txBox="1"/>
          <p:nvPr/>
        </p:nvSpPr>
        <p:spPr>
          <a:xfrm>
            <a:off x="74980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234440" y="1993392"/>
            <a:ext cx="2697480" cy="438912"/>
          </a:xfrm>
          <a:prstGeom prst="rect">
            <a:avLst/>
          </a:prstGeom>
          <a:noFill/>
          <a:ln/>
        </p:spPr>
        <p:txBody>
          <a:bodyPr wrap="square" lIns="0" tIns="0" rIns="0" bIns="0" rtlCol="0" anchor="ctr"/>
          <a:lstStyle/>
          <a:p>
            <a:pPr indent="0" marL="0">
              <a:buNone/>
            </a:pPr>
            <a:r>
              <a:rPr lang="en-US" sz="1600" b="1" dirty="0">
                <a:solidFill>
                  <a:schemeClr val="tx2"/>
                </a:solidFill>
              </a:rPr>
              <a:t>Now · the pilot</a:t>
            </a:r>
            <a:endParaRPr lang="en-US" sz="1600" dirty="0"/>
          </a:p>
        </p:txBody>
      </p:sp>
      <p:sp>
        <p:nvSpPr>
          <p:cNvPr id="8" name="Text 6"/>
          <p:cNvSpPr txBox="1"/>
          <p:nvPr/>
        </p:nvSpPr>
        <p:spPr>
          <a:xfrm>
            <a:off x="749808" y="2542032"/>
            <a:ext cx="3163824" cy="457200"/>
          </a:xfrm>
          <a:prstGeom prst="rect">
            <a:avLst/>
          </a:prstGeom>
          <a:noFill/>
          <a:ln/>
        </p:spPr>
        <p:txBody>
          <a:bodyPr wrap="square" lIns="0" tIns="0" rIns="0" bIns="0" rtlCol="0" anchor="t"/>
          <a:lstStyle/>
          <a:p>
            <a:pPr indent="0" marL="0">
              <a:buNone/>
            </a:pPr>
            <a:r>
              <a:rPr lang="en-US" sz="1200" i="1" dirty="0">
                <a:solidFill>
                  <a:schemeClr val="accent4"/>
                </a:solidFill>
              </a:rPr>
              <a:t>One exception type, one retailer and supplier, one case</a:t>
            </a:r>
            <a:endParaRPr lang="en-US" sz="1200" dirty="0"/>
          </a:p>
        </p:txBody>
      </p:sp>
      <p:sp>
        <p:nvSpPr>
          <p:cNvPr id="9" name="Text 7"/>
          <p:cNvSpPr txBox="1"/>
          <p:nvPr/>
        </p:nvSpPr>
        <p:spPr>
          <a:xfrm>
            <a:off x="74980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Demand gate, supplier reply check, procurement handoff</a:t>
            </a:r>
            <a:endParaRPr lang="en-US" sz="1200" dirty="0"/>
          </a:p>
          <a:p>
            <a:pPr marL="177800" indent="-177800">
              <a:spcAft>
                <a:spcPts val="400"/>
              </a:spcAft>
              <a:buSzPct val="100000"/>
              <a:buChar char="•"/>
            </a:pPr>
            <a:r>
              <a:rPr lang="en-US" sz="1200" dirty="0">
                <a:solidFill>
                  <a:schemeClr val="tx2"/>
                </a:solidFill>
              </a:rPr>
              <a:t>Email in, sandbox out</a:t>
            </a:r>
            <a:endParaRPr lang="en-US" sz="1200" dirty="0"/>
          </a:p>
          <a:p>
            <a:pPr marL="177800" indent="-177800">
              <a:spcAft>
                <a:spcPts val="400"/>
              </a:spcAft>
              <a:buSzPct val="100000"/>
              <a:buChar char="•"/>
            </a:pPr>
            <a:r>
              <a:rPr lang="en-US" sz="1200" dirty="0">
                <a:solidFill>
                  <a:schemeClr val="tx2"/>
                </a:solidFill>
              </a:rPr>
              <a:t>Ten frozen tasks, then 10–20 real exceptions</a:t>
            </a:r>
            <a:endParaRPr lang="en-US" sz="1200" dirty="0"/>
          </a:p>
        </p:txBody>
      </p:sp>
      <p:sp>
        <p:nvSpPr>
          <p:cNvPr id="10" name="Shape 8"/>
          <p:cNvSpPr/>
          <p:nvPr/>
        </p:nvSpPr>
        <p:spPr>
          <a:xfrm>
            <a:off x="4133088" y="3520440"/>
            <a:ext cx="146304" cy="274320"/>
          </a:xfrm>
          <a:prstGeom prst="rightArrow">
            <a:avLst/>
          </a:prstGeom>
          <a:solidFill>
            <a:schemeClr val="accent4"/>
          </a:solidFill>
          <a:ln w="12700">
            <a:solidFill>
              <a:srgbClr val="557078"/>
            </a:solidFill>
            <a:prstDash val="solid"/>
          </a:ln>
        </p:spPr>
      </p:sp>
      <p:sp>
        <p:nvSpPr>
          <p:cNvPr id="11" name="Shape 9"/>
          <p:cNvSpPr/>
          <p:nvPr/>
        </p:nvSpPr>
        <p:spPr>
          <a:xfrm>
            <a:off x="4297680" y="1828800"/>
            <a:ext cx="3566160" cy="3657600"/>
          </a:xfrm>
          <a:prstGeom prst="roundRect">
            <a:avLst>
              <a:gd name="adj" fmla="val 2051"/>
            </a:avLst>
          </a:prstGeom>
          <a:solidFill>
            <a:schemeClr val="bg2"/>
          </a:solidFill>
          <a:ln w="9525">
            <a:solidFill>
              <a:srgbClr val="D9E6E1"/>
            </a:solidFill>
            <a:prstDash val="solid"/>
          </a:ln>
        </p:spPr>
      </p:sp>
      <p:sp>
        <p:nvSpPr>
          <p:cNvPr id="12" name="Shape 10"/>
          <p:cNvSpPr/>
          <p:nvPr/>
        </p:nvSpPr>
        <p:spPr>
          <a:xfrm>
            <a:off x="4498848" y="2029968"/>
            <a:ext cx="365760" cy="365760"/>
          </a:xfrm>
          <a:prstGeom prst="ellipse">
            <a:avLst/>
          </a:prstGeom>
          <a:solidFill>
            <a:schemeClr val="accent1"/>
          </a:solidFill>
          <a:ln w="12700">
            <a:solidFill>
              <a:schemeClr val="accent1"/>
            </a:solidFill>
            <a:prstDash val="solid"/>
          </a:ln>
        </p:spPr>
      </p:sp>
      <p:sp>
        <p:nvSpPr>
          <p:cNvPr id="13" name="Text 11"/>
          <p:cNvSpPr txBox="1"/>
          <p:nvPr/>
        </p:nvSpPr>
        <p:spPr>
          <a:xfrm>
            <a:off x="449884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4" name="Text 12"/>
          <p:cNvSpPr txBox="1"/>
          <p:nvPr/>
        </p:nvSpPr>
        <p:spPr>
          <a:xfrm>
            <a:off x="4983480" y="1993392"/>
            <a:ext cx="2697480" cy="438912"/>
          </a:xfrm>
          <a:prstGeom prst="rect">
            <a:avLst/>
          </a:prstGeom>
          <a:noFill/>
          <a:ln/>
        </p:spPr>
        <p:txBody>
          <a:bodyPr wrap="square" lIns="0" tIns="0" rIns="0" bIns="0" rtlCol="0" anchor="ctr"/>
          <a:lstStyle/>
          <a:p>
            <a:pPr indent="0" marL="0">
              <a:buNone/>
            </a:pPr>
            <a:r>
              <a:rPr lang="en-US" sz="1600" b="1" dirty="0">
                <a:solidFill>
                  <a:schemeClr val="tx2"/>
                </a:solidFill>
              </a:rPr>
              <a:t>Next · every plan change</a:t>
            </a:r>
            <a:endParaRPr lang="en-US" sz="1600" dirty="0"/>
          </a:p>
        </p:txBody>
      </p:sp>
      <p:sp>
        <p:nvSpPr>
          <p:cNvPr id="15" name="Text 13"/>
          <p:cNvSpPr txBox="1"/>
          <p:nvPr/>
        </p:nvSpPr>
        <p:spPr>
          <a:xfrm>
            <a:off x="4498848" y="2542032"/>
            <a:ext cx="3163824" cy="457200"/>
          </a:xfrm>
          <a:prstGeom prst="rect">
            <a:avLst/>
          </a:prstGeom>
          <a:noFill/>
          <a:ln/>
        </p:spPr>
        <p:txBody>
          <a:bodyPr wrap="square" lIns="0" tIns="0" rIns="0" bIns="0" rtlCol="0" anchor="t"/>
          <a:lstStyle/>
          <a:p>
            <a:pPr indent="0" marL="0">
              <a:buNone/>
            </a:pPr>
            <a:r>
              <a:rPr lang="en-US" sz="1200" i="1" dirty="0">
                <a:solidFill>
                  <a:schemeClr val="accent4"/>
                </a:solidFill>
              </a:rPr>
              <a:t>All replenishment exceptions on a live SAP landscape</a:t>
            </a:r>
            <a:endParaRPr lang="en-US" sz="1200" dirty="0"/>
          </a:p>
        </p:txBody>
      </p:sp>
      <p:sp>
        <p:nvSpPr>
          <p:cNvPr id="16" name="Text 14"/>
          <p:cNvSpPr txBox="1"/>
          <p:nvPr/>
        </p:nvSpPr>
        <p:spPr>
          <a:xfrm>
            <a:off x="449884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tx2"/>
                </a:solidFill>
              </a:rPr>
              <a:t>Promotion, stockout, short ship, recall, date move: one loop</a:t>
            </a:r>
            <a:endParaRPr lang="en-US" sz="1200" dirty="0"/>
          </a:p>
          <a:p>
            <a:pPr marL="177800" indent="-177800">
              <a:spcAft>
                <a:spcPts val="400"/>
              </a:spcAft>
              <a:buSzPct val="100000"/>
              <a:buChar char="•"/>
            </a:pPr>
            <a:r>
              <a:rPr lang="en-US" sz="1200" dirty="0">
                <a:solidFill>
                  <a:schemeClr val="tx2"/>
                </a:solidFill>
              </a:rPr>
              <a:t>S/4HANA read, then write into existing approval</a:t>
            </a:r>
            <a:endParaRPr lang="en-US" sz="1200" dirty="0"/>
          </a:p>
          <a:p>
            <a:pPr marL="177800" indent="-177800">
              <a:spcAft>
                <a:spcPts val="400"/>
              </a:spcAft>
              <a:buSzPct val="100000"/>
              <a:buChar char="•"/>
            </a:pPr>
            <a:r>
              <a:rPr lang="en-US" sz="1200" dirty="0">
                <a:solidFill>
                  <a:schemeClr val="tx2"/>
                </a:solidFill>
              </a:rPr>
              <a:t>Supplier replies through SAP Business Network</a:t>
            </a:r>
            <a:endParaRPr lang="en-US" sz="1200" dirty="0"/>
          </a:p>
          <a:p>
            <a:pPr marL="177800" indent="-177800">
              <a:spcAft>
                <a:spcPts val="400"/>
              </a:spcAft>
              <a:buSzPct val="100000"/>
              <a:buChar char="•"/>
            </a:pPr>
            <a:r>
              <a:rPr lang="en-US" sz="1200" dirty="0">
                <a:solidFill>
                  <a:schemeClr val="tx2"/>
                </a:solidFill>
              </a:rPr>
              <a:t>A decision log on every exception; time-to-decision becomes a KPI</a:t>
            </a:r>
            <a:endParaRPr lang="en-US" sz="1200" dirty="0"/>
          </a:p>
        </p:txBody>
      </p:sp>
      <p:sp>
        <p:nvSpPr>
          <p:cNvPr id="17" name="Shape 15"/>
          <p:cNvSpPr/>
          <p:nvPr/>
        </p:nvSpPr>
        <p:spPr>
          <a:xfrm>
            <a:off x="7882128" y="3520440"/>
            <a:ext cx="146304" cy="274320"/>
          </a:xfrm>
          <a:prstGeom prst="rightArrow">
            <a:avLst/>
          </a:prstGeom>
          <a:solidFill>
            <a:schemeClr val="accent4"/>
          </a:solidFill>
          <a:ln w="12700">
            <a:solidFill>
              <a:srgbClr val="557078"/>
            </a:solidFill>
            <a:prstDash val="solid"/>
          </a:ln>
        </p:spPr>
      </p:sp>
      <p:sp>
        <p:nvSpPr>
          <p:cNvPr id="18" name="Shape 16"/>
          <p:cNvSpPr/>
          <p:nvPr/>
        </p:nvSpPr>
        <p:spPr>
          <a:xfrm>
            <a:off x="8046720" y="1828800"/>
            <a:ext cx="3566160" cy="3657600"/>
          </a:xfrm>
          <a:prstGeom prst="roundRect">
            <a:avLst>
              <a:gd name="adj" fmla="val 2051"/>
            </a:avLst>
          </a:prstGeom>
          <a:solidFill>
            <a:schemeClr val="tx2"/>
          </a:solidFill>
          <a:ln w="9525">
            <a:solidFill>
              <a:srgbClr val="0F5C4D"/>
            </a:solidFill>
            <a:prstDash val="solid"/>
          </a:ln>
        </p:spPr>
      </p:sp>
      <p:sp>
        <p:nvSpPr>
          <p:cNvPr id="19" name="Shape 17"/>
          <p:cNvSpPr/>
          <p:nvPr/>
        </p:nvSpPr>
        <p:spPr>
          <a:xfrm>
            <a:off x="8247888" y="2029968"/>
            <a:ext cx="365760" cy="365760"/>
          </a:xfrm>
          <a:prstGeom prst="ellipse">
            <a:avLst/>
          </a:prstGeom>
          <a:solidFill>
            <a:schemeClr val="accent6"/>
          </a:solidFill>
          <a:ln w="12700">
            <a:solidFill>
              <a:schemeClr val="accent6"/>
            </a:solidFill>
            <a:prstDash val="solid"/>
          </a:ln>
        </p:spPr>
      </p:sp>
      <p:sp>
        <p:nvSpPr>
          <p:cNvPr id="20" name="Text 18"/>
          <p:cNvSpPr txBox="1"/>
          <p:nvPr/>
        </p:nvSpPr>
        <p:spPr>
          <a:xfrm>
            <a:off x="8247888" y="2029968"/>
            <a:ext cx="365760" cy="365760"/>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21" name="Text 19"/>
          <p:cNvSpPr txBox="1"/>
          <p:nvPr/>
        </p:nvSpPr>
        <p:spPr>
          <a:xfrm>
            <a:off x="8732520" y="1993392"/>
            <a:ext cx="2697480" cy="438912"/>
          </a:xfrm>
          <a:prstGeom prst="rect">
            <a:avLst/>
          </a:prstGeom>
          <a:noFill/>
          <a:ln/>
        </p:spPr>
        <p:txBody>
          <a:bodyPr wrap="square" lIns="0" tIns="0" rIns="0" bIns="0" rtlCol="0" anchor="ctr"/>
          <a:lstStyle/>
          <a:p>
            <a:pPr indent="0" marL="0">
              <a:buNone/>
            </a:pPr>
            <a:r>
              <a:rPr lang="en-US" sz="1600" b="1" dirty="0">
                <a:solidFill>
                  <a:schemeClr val="accent6"/>
                </a:solidFill>
              </a:rPr>
              <a:t>Later · the Retail Response Network</a:t>
            </a:r>
            <a:endParaRPr lang="en-US" sz="1600" dirty="0"/>
          </a:p>
        </p:txBody>
      </p:sp>
      <p:sp>
        <p:nvSpPr>
          <p:cNvPr id="22" name="Text 20"/>
          <p:cNvSpPr txBox="1"/>
          <p:nvPr/>
        </p:nvSpPr>
        <p:spPr>
          <a:xfrm>
            <a:off x="8247888" y="2542032"/>
            <a:ext cx="3163824" cy="457200"/>
          </a:xfrm>
          <a:prstGeom prst="rect">
            <a:avLst/>
          </a:prstGeom>
          <a:noFill/>
          <a:ln/>
        </p:spPr>
        <p:txBody>
          <a:bodyPr wrap="square" lIns="0" tIns="0" rIns="0" bIns="0" rtlCol="0" anchor="t"/>
          <a:lstStyle/>
          <a:p>
            <a:pPr indent="0" marL="0">
              <a:buNone/>
            </a:pPr>
            <a:r>
              <a:rPr lang="en-US" sz="1200" i="1" dirty="0">
                <a:solidFill>
                  <a:schemeClr val="bg1"/>
                </a:solidFill>
              </a:rPr>
              <a:t>Suppliers answer once; evidence flows with consent</a:t>
            </a:r>
            <a:endParaRPr lang="en-US" sz="1200" dirty="0"/>
          </a:p>
        </p:txBody>
      </p:sp>
      <p:sp>
        <p:nvSpPr>
          <p:cNvPr id="23" name="Text 21"/>
          <p:cNvSpPr txBox="1"/>
          <p:nvPr/>
        </p:nvSpPr>
        <p:spPr>
          <a:xfrm>
            <a:off x="8247888" y="3063240"/>
            <a:ext cx="3163824" cy="228600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chemeClr val="bg1"/>
                </a:solidFill>
              </a:rPr>
              <a:t>A supplier's checked reply reaches every retailer it serves</a:t>
            </a:r>
            <a:endParaRPr lang="en-US" sz="1200" dirty="0"/>
          </a:p>
          <a:p>
            <a:pPr marL="177800" indent="-177800">
              <a:spcAft>
                <a:spcPts val="400"/>
              </a:spcAft>
              <a:buSzPct val="100000"/>
              <a:buChar char="•"/>
            </a:pPr>
            <a:r>
              <a:rPr lang="en-US" sz="1200" dirty="0">
                <a:solidFill>
                  <a:schemeClr val="bg1"/>
                </a:solidFill>
              </a:rPr>
              <a:t>The demand gate becomes a shared signal between retailer and supplier</a:t>
            </a:r>
            <a:endParaRPr lang="en-US" sz="1200" dirty="0"/>
          </a:p>
          <a:p>
            <a:pPr marL="177800" indent="-177800">
              <a:spcAft>
                <a:spcPts val="400"/>
              </a:spcAft>
              <a:buSzPct val="100000"/>
              <a:buChar char="•"/>
            </a:pPr>
            <a:r>
              <a:rPr lang="en-US" sz="1200" dirty="0">
                <a:solidFill>
                  <a:schemeClr val="bg1"/>
                </a:solidFill>
              </a:rPr>
              <a:t>Joule as the surface; the rule layer as the contract</a:t>
            </a:r>
            <a:endParaRPr lang="en-US" sz="1200" dirty="0"/>
          </a:p>
          <a:p>
            <a:pPr marL="177800" indent="-177800">
              <a:spcAft>
                <a:spcPts val="400"/>
              </a:spcAft>
              <a:buSzPct val="100000"/>
              <a:buChar char="•"/>
            </a:pPr>
            <a:r>
              <a:rPr lang="en-US" sz="1200" dirty="0">
                <a:solidFill>
                  <a:schemeClr val="bg1"/>
                </a:solidFill>
              </a:rPr>
              <a:t>Procurement, logistics and QA see the same evidence</a:t>
            </a:r>
            <a:endParaRPr lang="en-US" sz="1200" dirty="0"/>
          </a:p>
        </p:txBody>
      </p:sp>
      <p:sp>
        <p:nvSpPr>
          <p:cNvPr id="24" name="Text 22"/>
          <p:cNvSpPr txBox="1"/>
          <p:nvPr/>
        </p:nvSpPr>
        <p:spPr>
          <a:xfrm>
            <a:off x="548640" y="5669280"/>
            <a:ext cx="11064240" cy="457200"/>
          </a:xfrm>
          <a:prstGeom prst="rect">
            <a:avLst/>
          </a:prstGeom>
          <a:noFill/>
          <a:ln/>
        </p:spPr>
        <p:txBody>
          <a:bodyPr wrap="square" lIns="0" tIns="0" rIns="0" bIns="0" rtlCol="0" anchor="t"/>
          <a:lstStyle/>
          <a:p>
            <a:pPr indent="0" marL="0">
              <a:buNone/>
            </a:pPr>
            <a:r>
              <a:rPr lang="en-US" sz="1150" dirty="0">
                <a:solidFill>
                  <a:schemeClr val="accent4"/>
                </a:solidFill>
              </a:rPr>
              <a:t>SAP integrations are proposed for discussion with SAP architects, not agreed. Gates: pilot result → tenant owner validates the read boundary → approval owner accepts the write.</a:t>
            </a:r>
            <a:endParaRPr lang="en-US" sz="115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548640"/>
            <a:ext cx="5486400" cy="274320"/>
          </a:xfrm>
          <a:prstGeom prst="rect">
            <a:avLst/>
          </a:prstGeom>
          <a:noFill/>
          <a:ln/>
        </p:spPr>
        <p:txBody>
          <a:bodyPr wrap="square" lIns="0" tIns="0" rIns="0" bIns="0" rtlCol="0" anchor="t"/>
          <a:lstStyle/>
          <a:p>
            <a:pPr indent="0" marL="0">
              <a:buNone/>
            </a:pPr>
            <a:r>
              <a:rPr lang="en-US" sz="1200" b="1" spc="300" kern="0" dirty="0">
                <a:solidFill>
                  <a:schemeClr val="accent6"/>
                </a:solidFill>
              </a:rPr>
              <a:t>RECOMMENDATION</a:t>
            </a:r>
            <a:endParaRPr lang="en-US" sz="1200" dirty="0"/>
          </a:p>
        </p:txBody>
      </p:sp>
      <p:sp>
        <p:nvSpPr>
          <p:cNvPr id="3" name="Text 1"/>
          <p:cNvSpPr txBox="1"/>
          <p:nvPr/>
        </p:nvSpPr>
        <p:spPr>
          <a:xfrm>
            <a:off x="548640" y="868680"/>
            <a:ext cx="10972800" cy="914400"/>
          </a:xfrm>
          <a:prstGeom prst="rect">
            <a:avLst/>
          </a:prstGeom>
          <a:noFill/>
          <a:ln/>
        </p:spPr>
        <p:txBody>
          <a:bodyPr wrap="square" lIns="0" tIns="0" rIns="0" bIns="0" rtlCol="0" anchor="ctr"/>
          <a:lstStyle/>
          <a:p>
            <a:pPr indent="0" marL="0">
              <a:buNone/>
            </a:pPr>
            <a:r>
              <a:rPr lang="en-US" sz="3600" b="1" dirty="0">
                <a:solidFill>
                  <a:schemeClr val="bg1"/>
                </a:solidFill>
                <a:latin typeface="Cambria" pitchFamily="34" charset="0"/>
                <a:ea typeface="Cambria" pitchFamily="34" charset="-122"/>
                <a:cs typeface="Cambria" pitchFamily="34" charset="-120"/>
              </a:rPr>
              <a:t>Run a focused pilot before any commercialisation</a:t>
            </a:r>
            <a:endParaRPr lang="en-US" sz="3600" dirty="0"/>
          </a:p>
        </p:txBody>
      </p:sp>
      <p:sp>
        <p:nvSpPr>
          <p:cNvPr id="4" name="Shape 2"/>
          <p:cNvSpPr/>
          <p:nvPr/>
        </p:nvSpPr>
        <p:spPr>
          <a:xfrm>
            <a:off x="548640" y="2148840"/>
            <a:ext cx="3566160" cy="2286000"/>
          </a:xfrm>
          <a:prstGeom prst="roundRect">
            <a:avLst>
              <a:gd name="adj" fmla="val 3200"/>
            </a:avLst>
          </a:prstGeom>
          <a:solidFill>
            <a:schemeClr val="tx2"/>
          </a:solidFill>
          <a:ln w="12700">
            <a:solidFill>
              <a:srgbClr val="0F5C4D"/>
            </a:solidFill>
            <a:prstDash val="solid"/>
          </a:ln>
        </p:spPr>
      </p:sp>
      <p:sp>
        <p:nvSpPr>
          <p:cNvPr id="5" name="Shape 3"/>
          <p:cNvSpPr/>
          <p:nvPr/>
        </p:nvSpPr>
        <p:spPr>
          <a:xfrm>
            <a:off x="777240" y="2377440"/>
            <a:ext cx="384048" cy="384048"/>
          </a:xfrm>
          <a:prstGeom prst="ellipse">
            <a:avLst/>
          </a:prstGeom>
          <a:solidFill>
            <a:schemeClr val="accent6"/>
          </a:solidFill>
          <a:ln w="12700">
            <a:solidFill>
              <a:schemeClr val="accent6"/>
            </a:solidFill>
            <a:prstDash val="solid"/>
          </a:ln>
        </p:spPr>
      </p:sp>
      <p:sp>
        <p:nvSpPr>
          <p:cNvPr id="6" name="Text 4"/>
          <p:cNvSpPr txBox="1"/>
          <p:nvPr/>
        </p:nvSpPr>
        <p:spPr>
          <a:xfrm>
            <a:off x="77724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1</a:t>
            </a:r>
            <a:endParaRPr lang="en-US" sz="1300" dirty="0"/>
          </a:p>
        </p:txBody>
      </p:sp>
      <p:sp>
        <p:nvSpPr>
          <p:cNvPr id="7" name="Text 5"/>
          <p:cNvSpPr txBox="1"/>
          <p:nvPr/>
        </p:nvSpPr>
        <p:spPr>
          <a:xfrm>
            <a:off x="128016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Finish the loop</a:t>
            </a:r>
            <a:endParaRPr lang="en-US" sz="1700" dirty="0"/>
          </a:p>
        </p:txBody>
      </p:sp>
      <p:sp>
        <p:nvSpPr>
          <p:cNvPr id="8" name="Text 6"/>
          <p:cNvSpPr txBox="1"/>
          <p:nvPr/>
        </p:nvSpPr>
        <p:spPr>
          <a:xfrm>
            <a:off x="77724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Twelve days: email intake, procurement write, ten frozen tasks scored against sandbox records. An engineering report, not a business number.</a:t>
            </a:r>
            <a:endParaRPr lang="en-US" sz="1300" dirty="0"/>
          </a:p>
        </p:txBody>
      </p:sp>
      <p:sp>
        <p:nvSpPr>
          <p:cNvPr id="9" name="Shape 7"/>
          <p:cNvSpPr/>
          <p:nvPr/>
        </p:nvSpPr>
        <p:spPr>
          <a:xfrm>
            <a:off x="4297680" y="2148840"/>
            <a:ext cx="3566160" cy="2286000"/>
          </a:xfrm>
          <a:prstGeom prst="roundRect">
            <a:avLst>
              <a:gd name="adj" fmla="val 3200"/>
            </a:avLst>
          </a:prstGeom>
          <a:solidFill>
            <a:schemeClr val="tx2"/>
          </a:solidFill>
          <a:ln w="12700">
            <a:solidFill>
              <a:srgbClr val="0F5C4D"/>
            </a:solidFill>
            <a:prstDash val="solid"/>
          </a:ln>
        </p:spPr>
      </p:sp>
      <p:sp>
        <p:nvSpPr>
          <p:cNvPr id="10" name="Shape 8"/>
          <p:cNvSpPr/>
          <p:nvPr/>
        </p:nvSpPr>
        <p:spPr>
          <a:xfrm>
            <a:off x="4526280" y="2377440"/>
            <a:ext cx="384048" cy="384048"/>
          </a:xfrm>
          <a:prstGeom prst="ellipse">
            <a:avLst/>
          </a:prstGeom>
          <a:solidFill>
            <a:schemeClr val="accent6"/>
          </a:solidFill>
          <a:ln w="12700">
            <a:solidFill>
              <a:schemeClr val="accent6"/>
            </a:solidFill>
            <a:prstDash val="solid"/>
          </a:ln>
        </p:spPr>
      </p:sp>
      <p:sp>
        <p:nvSpPr>
          <p:cNvPr id="11" name="Text 9"/>
          <p:cNvSpPr txBox="1"/>
          <p:nvPr/>
        </p:nvSpPr>
        <p:spPr>
          <a:xfrm>
            <a:off x="452628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2</a:t>
            </a:r>
            <a:endParaRPr lang="en-US" sz="1300" dirty="0"/>
          </a:p>
        </p:txBody>
      </p:sp>
      <p:sp>
        <p:nvSpPr>
          <p:cNvPr id="12" name="Text 10"/>
          <p:cNvSpPr txBox="1"/>
          <p:nvPr/>
        </p:nvSpPr>
        <p:spPr>
          <a:xfrm>
            <a:off x="502920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Measure it on real work</a:t>
            </a:r>
            <a:endParaRPr lang="en-US" sz="1700" dirty="0"/>
          </a:p>
        </p:txBody>
      </p:sp>
      <p:sp>
        <p:nvSpPr>
          <p:cNvPr id="13" name="Text 11"/>
          <p:cNvSpPr txBox="1"/>
          <p:nvPr/>
        </p:nvSpPr>
        <p:spPr>
          <a:xfrm>
            <a:off x="452628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One partner, 10–20 consecutive exceptions, three arms: today's process, a strong form with our rules, the Agent. Minutes, errors, handoff rate.</a:t>
            </a:r>
            <a:endParaRPr lang="en-US" sz="1300" dirty="0"/>
          </a:p>
        </p:txBody>
      </p:sp>
      <p:sp>
        <p:nvSpPr>
          <p:cNvPr id="14" name="Shape 12"/>
          <p:cNvSpPr/>
          <p:nvPr/>
        </p:nvSpPr>
        <p:spPr>
          <a:xfrm>
            <a:off x="8046720" y="2148840"/>
            <a:ext cx="3566160" cy="2286000"/>
          </a:xfrm>
          <a:prstGeom prst="roundRect">
            <a:avLst>
              <a:gd name="adj" fmla="val 3200"/>
            </a:avLst>
          </a:prstGeom>
          <a:solidFill>
            <a:schemeClr val="tx2"/>
          </a:solidFill>
          <a:ln w="12700">
            <a:solidFill>
              <a:srgbClr val="0F5C4D"/>
            </a:solidFill>
            <a:prstDash val="solid"/>
          </a:ln>
        </p:spPr>
      </p:sp>
      <p:sp>
        <p:nvSpPr>
          <p:cNvPr id="15" name="Shape 13"/>
          <p:cNvSpPr/>
          <p:nvPr/>
        </p:nvSpPr>
        <p:spPr>
          <a:xfrm>
            <a:off x="8275320" y="2377440"/>
            <a:ext cx="384048" cy="384048"/>
          </a:xfrm>
          <a:prstGeom prst="ellipse">
            <a:avLst/>
          </a:prstGeom>
          <a:solidFill>
            <a:schemeClr val="accent6"/>
          </a:solidFill>
          <a:ln w="12700">
            <a:solidFill>
              <a:schemeClr val="accent6"/>
            </a:solidFill>
            <a:prstDash val="solid"/>
          </a:ln>
        </p:spPr>
      </p:sp>
      <p:sp>
        <p:nvSpPr>
          <p:cNvPr id="16" name="Text 14"/>
          <p:cNvSpPr txBox="1"/>
          <p:nvPr/>
        </p:nvSpPr>
        <p:spPr>
          <a:xfrm>
            <a:off x="8275320" y="2377440"/>
            <a:ext cx="384048" cy="384048"/>
          </a:xfrm>
          <a:prstGeom prst="rect">
            <a:avLst/>
          </a:prstGeom>
          <a:noFill/>
          <a:ln/>
        </p:spPr>
        <p:txBody>
          <a:bodyPr wrap="square" lIns="0" tIns="0" rIns="0" bIns="0" rtlCol="0" anchor="ctr"/>
          <a:lstStyle/>
          <a:p>
            <a:pPr algn="ctr" indent="0" marL="0">
              <a:buNone/>
            </a:pPr>
            <a:r>
              <a:rPr lang="en-US" sz="1300" b="1" dirty="0">
                <a:solidFill>
                  <a:schemeClr val="bg1"/>
                </a:solidFill>
              </a:rPr>
              <a:t>3</a:t>
            </a:r>
            <a:endParaRPr lang="en-US" sz="1300" dirty="0"/>
          </a:p>
        </p:txBody>
      </p:sp>
      <p:sp>
        <p:nvSpPr>
          <p:cNvPr id="17" name="Text 15"/>
          <p:cNvSpPr txBox="1"/>
          <p:nvPr/>
        </p:nvSpPr>
        <p:spPr>
          <a:xfrm>
            <a:off x="8778240" y="2350008"/>
            <a:ext cx="2651760" cy="457200"/>
          </a:xfrm>
          <a:prstGeom prst="rect">
            <a:avLst/>
          </a:prstGeom>
          <a:noFill/>
          <a:ln/>
        </p:spPr>
        <p:txBody>
          <a:bodyPr wrap="square" lIns="0" tIns="0" rIns="0" bIns="0" rtlCol="0" anchor="ctr"/>
          <a:lstStyle/>
          <a:p>
            <a:pPr indent="0" marL="0">
              <a:buNone/>
            </a:pPr>
            <a:r>
              <a:rPr lang="en-US" sz="1700" b="1" dirty="0">
                <a:solidFill>
                  <a:schemeClr val="bg1"/>
                </a:solidFill>
              </a:rPr>
              <a:t>Decide with the stop rules</a:t>
            </a:r>
            <a:endParaRPr lang="en-US" sz="1700" dirty="0"/>
          </a:p>
        </p:txBody>
      </p:sp>
      <p:sp>
        <p:nvSpPr>
          <p:cNvPr id="18" name="Text 16"/>
          <p:cNvSpPr txBox="1"/>
          <p:nvPr/>
        </p:nvSpPr>
        <p:spPr>
          <a:xfrm>
            <a:off x="8275320" y="3017520"/>
            <a:ext cx="3108960" cy="1325880"/>
          </a:xfrm>
          <a:prstGeom prst="rect">
            <a:avLst/>
          </a:prstGeom>
          <a:noFill/>
          <a:ln/>
        </p:spPr>
        <p:txBody>
          <a:bodyPr wrap="square" lIns="0" tIns="0" rIns="0" bIns="0" rtlCol="0" anchor="t"/>
          <a:lstStyle/>
          <a:p>
            <a:pPr indent="0" marL="0">
              <a:buNone/>
            </a:pPr>
            <a:r>
              <a:rPr lang="en-US" sz="1300" dirty="0">
                <a:solidFill>
                  <a:schemeClr val="bg1"/>
                </a:solidFill>
              </a:rPr>
              <a:t>If the form matches, ship the form. If critical errors rise, suspend auto-submit. Only then SAP read, then SAP write.</a:t>
            </a:r>
            <a:endParaRPr lang="en-US" sz="1300" dirty="0"/>
          </a:p>
        </p:txBody>
      </p:sp>
      <p:sp>
        <p:nvSpPr>
          <p:cNvPr id="19" name="Text 17"/>
          <p:cNvSpPr txBox="1"/>
          <p:nvPr/>
        </p:nvSpPr>
        <p:spPr>
          <a:xfrm>
            <a:off x="548640" y="4892040"/>
            <a:ext cx="11064240" cy="822960"/>
          </a:xfrm>
          <a:prstGeom prst="rect">
            <a:avLst/>
          </a:prstGeom>
          <a:noFill/>
          <a:ln/>
        </p:spPr>
        <p:txBody>
          <a:bodyPr wrap="square" lIns="0" tIns="0" rIns="0" bIns="0" rtlCol="0" anchor="t"/>
          <a:lstStyle/>
          <a:p>
            <a:pPr indent="0" marL="0">
              <a:buNone/>
            </a:pPr>
            <a:r>
              <a:rPr lang="en-US" sz="1600" i="1" dirty="0">
                <a:solidFill>
                  <a:schemeClr val="accent6"/>
                </a:solidFill>
              </a:rPr>
              <a:t>We proved the loop runs, stays inside its authority, and repairs its own errors. We have not proved it is worth buying. The pilot answers that, and we have written down what losing looks like.</a:t>
            </a:r>
            <a:endParaRPr lang="en-US" sz="1600" dirty="0"/>
          </a:p>
        </p:txBody>
      </p:sp>
      <p:sp>
        <p:nvSpPr>
          <p:cNvPr id="25" name="Slide Number Placeholder 0"/>
          <p:cNvSpPr>
            <a:spLocks noGrp="1"/>
          </p:cNvSpPr>
          <p:nvPr>
            <p:ph type="sldNum" sz="quarter" idx="4294967295"/>
          </p:nvPr>
        </p:nvSpPr>
        <p:spPr>
          <a:xfrm>
            <a:off x="11064240"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Demand Pulse Evidence">
  <a:themeElements>
    <a:clrScheme name="Demand Pulse Evidence">
      <a:dk1>
        <a:srgbClr val="14353A"/>
      </a:dk1>
      <a:lt1>
        <a:srgbClr val="FFFFFF"/>
      </a:lt1>
      <a:dk2>
        <a:srgbClr val="0F5C4D"/>
      </a:dk2>
      <a:lt2>
        <a:srgbClr val="EEF4F2"/>
      </a:lt2>
      <a:accent1>
        <a:srgbClr val="16765F"/>
      </a:accent1>
      <a:accent2>
        <a:srgbClr val="C8781E"/>
      </a:accent2>
      <a:accent3>
        <a:srgbClr val="B3261E"/>
      </a:accent3>
      <a:accent4>
        <a:srgbClr val="557078"/>
      </a:accent4>
      <a:accent5>
        <a:srgbClr val="D9E6E1"/>
      </a:accent5>
      <a:accent6>
        <a:srgbClr val="9AB7AE"/>
      </a:accent6>
      <a:hlink>
        <a:srgbClr val="0F5C4D"/>
      </a:hlink>
      <a:folHlink>
        <a:srgbClr val="557078"/>
      </a:folHlink>
    </a:clrScheme>
    <a:fontScheme name="Demand Pulse Evid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Demand Pulse business case</dc:title>
  <dc:subject>PptxGenJS Presentation</dc:subject>
  <dc:creator>The J Collective</dc:creator>
  <cp:lastModifiedBy>The J Collective</cp:lastModifiedBy>
  <cp:revision>1</cp:revision>
  <dcterms:created xsi:type="dcterms:W3CDTF">2026-10-25T13:34:12Z</dcterms:created>
  <dcterms:modified xsi:type="dcterms:W3CDTF">2026-10-25T13:34:12Z</dcterms:modified>
</cp:coreProperties>
</file>