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65810f-b1aa-448d-fea0-e24f65035f91}">
          <p14:sldIdLst>
            <p14:sldId id="256"/>
            <p14:sldId id="257"/>
          </p14:sldIdLst>
        </p14:section>
        <p14:section name="Problem and promise" id="{59eefcd3-4e36-dd91-f219-5b7065811fcf}">
          <p14:sldIdLst>
            <p14:sldId id="258"/>
            <p14:sldId id="259"/>
            <p14:sldId id="260"/>
          </p14:sldIdLst>
        </p14:section>
        <p14:section name="What exists" id="{8c7b57ff-7bfb-a85c-9b57-cbf948b8a6c6}">
          <p14:sldIdLst>
            <p14:sldId id="261"/>
            <p14:sldId id="262"/>
          </p14:sldIdLst>
        </p14:section>
        <p14:section name="Four functions" id="{d056507c-9b0b-a84c-282a-fb608bf54f39}">
          <p14:sldIdLst>
            <p14:sldId id="263"/>
            <p14:sldId id="264"/>
            <p14:sldId id="265"/>
            <p14:sldId id="266"/>
          </p14:sldIdLst>
        </p14:section>
        <p14:section name="Proof plan" id="{ece90040-7f95-88b0-3f64-683874064402}">
          <p14:sldIdLst>
            <p14:sldId id="267"/>
            <p14:sldId id="268"/>
            <p14:sldId id="269"/>
          </p14:sldIdLst>
        </p14:section>
        <p14:section name="Decisions" id="{064d7704-b7a7-7b42-340e-1cc5db875c2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353A"/>
                </a:solidFill>
                <a:latin typeface="+mn-lt"/>
              </a:defRPr>
            </a:pPr>
            <a:r>
              <a:rPr sz="1200" b="0" i="0" u="none" strike="noStrike">
                <a:solidFill>
                  <a:srgbClr val="14353A"/>
                </a:solidFill>
                <a:latin typeface="+mn-lt"/>
              </a:rPr>
              <a:t>Measured model cost per exception, USD (v48 and v49 real calls)</a:t>
            </a:r>
          </a:p>
        </c:rich>
      </c:tx>
      <c:layout/>
      <c:overlay val="0"/>
    </c:title>
    <c:autoTitleDeleted val="0"/>
    <c:plotArea>
      <c:layout/>
      <c:barChart>
        <c:barDir val="col"/>
        <c:grouping val="stacked"/>
        <c:varyColors val="0"/>
        <c:ser>
          <c:idx val="0"/>
          <c:order val="0"/>
          <c:tx>
            <c:strRef>
              <c:f>Sheet1!$B$1</c:f>
              <c:strCache>
                <c:ptCount val="1"/>
                <c:pt idx="0">
                  <c:v>Initial review</c:v>
                </c:pt>
              </c:strCache>
            </c:strRef>
          </c:tx>
          <c:spPr>
            <a:solidFill>
              <a:srgbClr val="16765F"/>
            </a:solidFill>
            <a:effectLst/>
          </c:spPr>
          <c:invertIfNegative val="0"/>
          <c:dLbls>
            <c:numFmt formatCode="$0.0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Item A (140 cases)</c:v>
                  </c:pt>
                  <c:pt idx="1">
                    <c:v>Item B (0 cases)</c:v>
                  </c:pt>
                  <c:pt idx="2">
                    <c:v>Item C (blocked, repaired)</c:v>
                  </c:pt>
                </c:lvl>
              </c:multiLvlStrCache>
            </c:multiLvlStrRef>
          </c:cat>
          <c:val>
            <c:numRef>
              <c:f>Sheet1!$B$2:$B$4</c:f>
              <c:numCache>
                <c:formatCode>General</c:formatCode>
                <c:ptCount val="3"/>
                <c:pt idx="0">
                  <c:v>0.475</c:v>
                </c:pt>
                <c:pt idx="1">
                  <c:v>0.359</c:v>
                </c:pt>
                <c:pt idx="2">
                  <c:v>0.277</c:v>
                </c:pt>
              </c:numCache>
            </c:numRef>
          </c:val>
        </c:ser>
        <c:ser>
          <c:idx val="1"/>
          <c:order val="1"/>
          <c:tx>
            <c:strRef>
              <c:f>Sheet1!$C$1</c:f>
              <c:strCache>
                <c:ptCount val="1"/>
                <c:pt idx="0">
                  <c:v>Correction round</c:v>
                </c:pt>
              </c:strCache>
            </c:strRef>
          </c:tx>
          <c:spPr>
            <a:solidFill>
              <a:srgbClr val="C8781E"/>
            </a:solidFill>
            <a:effectLst/>
          </c:spPr>
          <c:invertIfNegative val="0"/>
          <c:dLbls>
            <c:numFmt formatCode="$0.0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Item A (140 cases)</c:v>
                  </c:pt>
                  <c:pt idx="1">
                    <c:v>Item B (0 cases)</c:v>
                  </c:pt>
                  <c:pt idx="2">
                    <c:v>Item C (blocked, repaired)</c:v>
                  </c:pt>
                </c:lvl>
              </c:multiLvlStrCache>
            </c:multiLvlStrRef>
          </c:cat>
          <c:val>
            <c:numRef>
              <c:f>Sheet1!$C$2:$C$4</c:f>
              <c:numCache>
                <c:formatCode>General</c:formatCode>
                <c:ptCount val="3"/>
                <c:pt idx="0">
                  <c:v>0.085</c:v>
                </c:pt>
                <c:pt idx="1">
                  <c:v>0</c:v>
                </c:pt>
                <c:pt idx="2">
                  <c:v>0.063</c:v>
                </c:pt>
              </c:numCache>
            </c:numRef>
          </c:val>
        </c:ser>
        <c:dLbls>
          <c:numFmt formatCode="$0.0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353A"/>
                </a:solidFill>
                <a:latin typeface="+mn-lt"/>
              </a:defRPr>
            </a:pPr>
            <a:endParaRPr lang="en-US"/>
          </a:p>
        </c:txPr>
        <c:crossAx val="2094734552"/>
        <c:crosses val="autoZero"/>
        <c:auto val="1"/>
        <c:lblAlgn val="ctr"/>
        <c:noMultiLvlLbl val="1"/>
      </c:catAx>
      <c:valAx>
        <c:axId val="2094734552"/>
        <c:scaling>
          <c:orientation val="minMax"/>
          <c:max val="0.6"/>
        </c:scaling>
        <c:delete val="0"/>
        <c:axPos val="l"/>
        <c:majorGridlines>
          <c:spPr>
            <a:ln w="6350" cap="flat">
              <a:solidFill>
                <a:srgbClr val="D9E6E1"/>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435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boundary. This is a business case for a pilot, not a claim of realised benefit. The deck answers one hard question per function: software development, marketing, finance, product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Each card previews one section. The evidence label on each card is the strongest evidence that section rests on. The ask is at the bottom and repeats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as a story. The right-hand card is what we observed in desk research and in our own synthetic case, not a measured time-and-motion study. Direct interviews with planners are the first missing input and are on the risk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point is the handoff to procurement approval. Not 'the Agent made a suggestion', not 'the goods arrived'. The WAIT state is what keeps this honest: missing evidence stays missing and resumable instead of being forced into yes or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'is it just AI'. The model does reading and drafting. A deterministic rule layer validates every output in the same handler that production uses. Humans hold every commercial authority. Point at the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column aloud. The deck's credibility rests on saying what each artefact does not prove before anyone asks. v51 is in progress and is deliberately not used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labels appear on every later slide. The rule is that a claim never borrows a stronger label than its evidence. Finance and strategy will see this matters when we get to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a deterministic form: we may end up there, and the pilot has a strong form-and-rules arm for exactly that reason. If asked about the provider: one function isolates it; swapping to a direct Anthropic or SAP AI Core endpoint is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planner's job, not with AI. Who pays: the retailer; charging suppliers is the failure mode the regulator studies describe. Feature or product: a feature-sized extension today; whether it grows is decided by the pilot, not the pitch. Never say 'hidden demand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measured numbers, one hypothesis, never blended. Pilot model spend for 10 to 20 exceptions across three arms is under USD 50; the real budget line is participant time and an integration scoping engagement. What kills it financially: forms match the Agent, or production and transport dominate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one case: every added case before a partner exists is more authored fiction; the v47 pack already has three branches. The ask: one partner retailer or supplier with 10 to 20 consecutive exception tasks, and one SAP tenant owner to scope the read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thesis falsifiable. Every row is a decision we have already committed to. The strongest counterargument we accept is row three: if forms and rules match, the right product is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the sandbox proves the product can complete the task. Only the comparison on real tasks proves it is worth buying. Ten sandbox cases will never be packaged as an efficiency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unverified: v51, and whether the three end states are the ones real planners recognise. Two or three conversations with practitioners are the cheapest fix and the first thing to do when a person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decisions, not on features. Each function gets one yes-or-no it can give today. The twelve-day sequence is engineering acceptance only; nothing in it produces a business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it when a number is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19088"/>
            <a:ext cx="9692640" cy="274320"/>
          </a:xfrm>
          <a:prstGeom prst="rect">
            <a:avLst/>
          </a:prstGeom>
          <a:noFill/>
          <a:ln/>
        </p:spPr>
        <p:txBody>
          <a:bodyPr wrap="square" lIns="0" tIns="0" rIns="0" bIns="0" rtlCol="0" anchor="ctr"/>
          <a:lstStyle/>
          <a:p>
            <a:pPr indent="0" marL="0">
              <a:buNone/>
            </a:pPr>
            <a:r>
              <a:rPr lang="en-US" sz="1000" dirty="0">
                <a:solidFill>
                  <a:schemeClr val="accent4"/>
                </a:solidFill>
              </a:rPr>
              <a:t>Demand Pulse · internal stakeholder review · synthetic business facts · procurement sandbox, not SAP connected</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353A"/>
        </a:solidFill>
      </p:bgPr>
    </p:bg>
    <p:spTree>
      <p:nvGrpSpPr>
        <p:cNvPr id="1" name=""/>
        <p:cNvGrpSpPr/>
        <p:nvPr/>
      </p:nvGrpSpPr>
      <p:grpSpPr>
        <a:xfrm>
          <a:off x="0" y="0"/>
          <a:ext cx="0" cy="0"/>
          <a:chOff x="0" y="0"/>
          <a:chExt cx="0" cy="0"/>
        </a:xfrm>
      </p:grpSpPr>
      <p:sp>
        <p:nvSpPr>
          <p:cNvPr id="2" name="Text 0"/>
          <p:cNvSpPr/>
          <p:nvPr/>
        </p:nvSpPr>
        <p:spPr>
          <a:xfrm>
            <a:off x="548640" y="6419088"/>
            <a:ext cx="9692640" cy="274320"/>
          </a:xfrm>
          <a:prstGeom prst="rect">
            <a:avLst/>
          </a:prstGeom>
          <a:noFill/>
          <a:ln/>
        </p:spPr>
        <p:txBody>
          <a:bodyPr wrap="square" lIns="0" tIns="0" rIns="0" bIns="0" rtlCol="0" anchor="ctr"/>
          <a:lstStyle/>
          <a:p>
            <a:pPr indent="0" marL="0">
              <a:buNone/>
            </a:pPr>
            <a:r>
              <a:rPr lang="en-US" sz="1000" dirty="0">
                <a:solidFill>
                  <a:schemeClr val="accent6"/>
                </a:solidFill>
              </a:rPr>
              <a:t>Demand Pulse · internal stakeholder review · synthetic business facts · procurement sandbox, not SAP connected</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972800" cy="100584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Demand Pulse</a:t>
            </a:r>
            <a:endParaRPr lang="en-US" sz="5400" dirty="0"/>
          </a:p>
        </p:txBody>
      </p:sp>
      <p:sp>
        <p:nvSpPr>
          <p:cNvPr id="3" name="Text 1"/>
          <p:cNvSpPr txBox="1"/>
          <p:nvPr/>
        </p:nvSpPr>
        <p:spPr>
          <a:xfrm>
            <a:off x="548640" y="2468880"/>
            <a:ext cx="10424160" cy="914400"/>
          </a:xfrm>
          <a:prstGeom prst="rect">
            <a:avLst/>
          </a:prstGeom>
          <a:noFill/>
          <a:ln/>
        </p:spPr>
        <p:txBody>
          <a:bodyPr wrap="square" lIns="0" tIns="0" rIns="0" bIns="0" rtlCol="0" anchor="t"/>
          <a:lstStyle/>
          <a:p>
            <a:pPr indent="0" marL="0">
              <a:buNone/>
            </a:pPr>
            <a:r>
              <a:rPr lang="en-US" sz="2400" dirty="0">
                <a:solidFill>
                  <a:schemeClr val="accent6"/>
                </a:solidFill>
              </a:rPr>
              <a:t>Business case: closing a replenishment exception from supplier reply to procurement handoff</a:t>
            </a:r>
            <a:endParaRPr lang="en-US" sz="2400" dirty="0"/>
          </a:p>
        </p:txBody>
      </p:sp>
      <p:sp>
        <p:nvSpPr>
          <p:cNvPr id="4" name="Text 2"/>
          <p:cNvSpPr txBox="1"/>
          <p:nvPr/>
        </p:nvSpPr>
        <p:spPr>
          <a:xfrm>
            <a:off x="548640" y="3611880"/>
            <a:ext cx="10058400" cy="365760"/>
          </a:xfrm>
          <a:prstGeom prst="rect">
            <a:avLst/>
          </a:prstGeom>
          <a:noFill/>
          <a:ln/>
        </p:spPr>
        <p:txBody>
          <a:bodyPr wrap="square" lIns="0" tIns="0" rIns="0" bIns="0" rtlCol="0" anchor="t"/>
          <a:lstStyle/>
          <a:p>
            <a:pPr indent="0" marL="0">
              <a:buNone/>
            </a:pPr>
            <a:r>
              <a:rPr lang="en-US" sz="1400" dirty="0">
                <a:solidFill>
                  <a:schemeClr val="accent6"/>
                </a:solidFill>
              </a:rPr>
              <a:t>The J Collective  ·  internal stakeholder review  ·  25 October 2026</a:t>
            </a:r>
            <a:endParaRPr lang="en-US" sz="1400" dirty="0"/>
          </a:p>
        </p:txBody>
      </p:sp>
      <p:sp>
        <p:nvSpPr>
          <p:cNvPr id="5" name="Shape 3"/>
          <p:cNvSpPr/>
          <p:nvPr/>
        </p:nvSpPr>
        <p:spPr>
          <a:xfrm>
            <a:off x="548640" y="4572000"/>
            <a:ext cx="11064240" cy="1188720"/>
          </a:xfrm>
          <a:prstGeom prst="roundRect">
            <a:avLst>
              <a:gd name="adj" fmla="val 4615"/>
            </a:avLst>
          </a:prstGeom>
          <a:solidFill>
            <a:schemeClr val="tx2"/>
          </a:solidFill>
          <a:ln w="12700">
            <a:solidFill>
              <a:srgbClr val="0F5C4D"/>
            </a:solidFill>
            <a:prstDash val="solid"/>
          </a:ln>
        </p:spPr>
      </p:sp>
      <p:sp>
        <p:nvSpPr>
          <p:cNvPr id="6" name="Text 4"/>
          <p:cNvSpPr txBox="1"/>
          <p:nvPr/>
        </p:nvSpPr>
        <p:spPr>
          <a:xfrm>
            <a:off x="822960" y="4709160"/>
            <a:ext cx="5486400" cy="320040"/>
          </a:xfrm>
          <a:prstGeom prst="rect">
            <a:avLst/>
          </a:prstGeom>
          <a:noFill/>
          <a:ln/>
        </p:spPr>
        <p:txBody>
          <a:bodyPr wrap="square" lIns="0" tIns="0" rIns="0" bIns="0" rtlCol="0" anchor="t"/>
          <a:lstStyle/>
          <a:p>
            <a:pPr indent="0" marL="0">
              <a:buNone/>
            </a:pPr>
            <a:r>
              <a:rPr lang="en-US" sz="1300" b="1" dirty="0">
                <a:solidFill>
                  <a:schemeClr val="accent6"/>
                </a:solidFill>
              </a:rPr>
              <a:t>Read before judging the rest</a:t>
            </a:r>
            <a:endParaRPr lang="en-US" sz="1300" dirty="0"/>
          </a:p>
        </p:txBody>
      </p:sp>
      <p:sp>
        <p:nvSpPr>
          <p:cNvPr id="7" name="Text 5"/>
          <p:cNvSpPr txBox="1"/>
          <p:nvPr/>
        </p:nvSpPr>
        <p:spPr>
          <a:xfrm>
            <a:off x="822960" y="5029200"/>
            <a:ext cx="10515600" cy="685800"/>
          </a:xfrm>
          <a:prstGeom prst="rect">
            <a:avLst/>
          </a:prstGeom>
          <a:noFill/>
          <a:ln/>
        </p:spPr>
        <p:txBody>
          <a:bodyPr wrap="square" lIns="0" tIns="0" rIns="0" bIns="0" rtlCol="0" anchor="t"/>
          <a:lstStyle/>
          <a:p>
            <a:pPr indent="0" marL="0">
              <a:buNone/>
            </a:pPr>
            <a:r>
              <a:rPr lang="en-US" sz="1300" dirty="0">
                <a:solidFill>
                  <a:schemeClr val="bg1"/>
                </a:solidFill>
              </a:rPr>
              <a:t>Every business fact in this deck is synthetic. The procurement target is a sandbox that says "not SAP connected" on every response. Model costs are measured; savings, adoption and profit are hypotheses that a pilot is designed to test. We would rather you hear that from us.</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One exception, closed end to end, with every commercial authority in human hands</a:t>
            </a:r>
            <a:endParaRPr lang="en-US" sz="3000" dirty="0"/>
          </a:p>
        </p:txBody>
      </p:sp>
      <p:sp>
        <p:nvSpPr>
          <p:cNvPr id="3" name="Shape 1"/>
          <p:cNvSpPr/>
          <p:nvPr/>
        </p:nvSpPr>
        <p:spPr>
          <a:xfrm>
            <a:off x="548640" y="1508760"/>
            <a:ext cx="2651760" cy="2971800"/>
          </a:xfrm>
          <a:prstGeom prst="roundRect">
            <a:avLst>
              <a:gd name="adj" fmla="val 2069"/>
            </a:avLst>
          </a:prstGeom>
          <a:solidFill>
            <a:schemeClr val="bg2"/>
          </a:solidFill>
          <a:ln w="9525">
            <a:solidFill>
              <a:srgbClr val="D9E6E1"/>
            </a:solidFill>
            <a:prstDash val="solid"/>
          </a:ln>
        </p:spPr>
      </p:sp>
      <p:sp>
        <p:nvSpPr>
          <p:cNvPr id="4" name="Text 2"/>
          <p:cNvSpPr txBox="1"/>
          <p:nvPr/>
        </p:nvSpPr>
        <p:spPr>
          <a:xfrm>
            <a:off x="731520" y="1673352"/>
            <a:ext cx="2286000" cy="320040"/>
          </a:xfrm>
          <a:prstGeom prst="rect">
            <a:avLst/>
          </a:prstGeom>
          <a:noFill/>
          <a:ln/>
        </p:spPr>
        <p:txBody>
          <a:bodyPr wrap="square" lIns="0" tIns="0" rIns="0" bIns="0" rtlCol="0" anchor="t"/>
          <a:lstStyle/>
          <a:p>
            <a:pPr indent="0" marL="0">
              <a:buNone/>
            </a:pPr>
            <a:r>
              <a:rPr lang="en-US" sz="1500" b="1" dirty="0">
                <a:solidFill>
                  <a:schemeClr val="tx2"/>
                </a:solidFill>
              </a:rPr>
              <a:t>Software development</a:t>
            </a:r>
            <a:endParaRPr lang="en-US" sz="1500" dirty="0"/>
          </a:p>
        </p:txBody>
      </p:sp>
      <p:sp>
        <p:nvSpPr>
          <p:cNvPr id="5" name="Shape 3"/>
          <p:cNvSpPr/>
          <p:nvPr/>
        </p:nvSpPr>
        <p:spPr>
          <a:xfrm>
            <a:off x="731520" y="2057400"/>
            <a:ext cx="1051560" cy="274320"/>
          </a:xfrm>
          <a:prstGeom prst="roundRect">
            <a:avLst>
              <a:gd name="adj" fmla="val 50000"/>
            </a:avLst>
          </a:prstGeom>
          <a:solidFill>
            <a:schemeClr val="accent1"/>
          </a:solidFill>
          <a:ln w="12700">
            <a:solidFill>
              <a:schemeClr val="accent1"/>
            </a:solidFill>
            <a:prstDash val="solid"/>
          </a:ln>
        </p:spPr>
      </p:sp>
      <p:sp>
        <p:nvSpPr>
          <p:cNvPr id="6" name="Text 4"/>
          <p:cNvSpPr txBox="1"/>
          <p:nvPr/>
        </p:nvSpPr>
        <p:spPr>
          <a:xfrm>
            <a:off x="731520" y="2057400"/>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Built</a:t>
            </a:r>
            <a:endParaRPr lang="en-US" sz="1000" dirty="0"/>
          </a:p>
        </p:txBody>
      </p:sp>
      <p:sp>
        <p:nvSpPr>
          <p:cNvPr id="7" name="Text 5"/>
          <p:cNvSpPr txBox="1"/>
          <p:nvPr/>
        </p:nvSpPr>
        <p:spPr>
          <a:xfrm>
            <a:off x="731520" y="246888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Model reads, cites and drafts; rules decide what is permitted</a:t>
            </a:r>
            <a:endParaRPr lang="en-US" sz="1250" dirty="0"/>
          </a:p>
          <a:p>
            <a:pPr marL="177800" indent="-177800">
              <a:spcAft>
                <a:spcPts val="500"/>
              </a:spcAft>
              <a:buSzPct val="100000"/>
              <a:buChar char="•"/>
            </a:pPr>
            <a:r>
              <a:rPr lang="en-US" sz="1250" dirty="0">
                <a:solidFill>
                  <a:schemeClr val="tx1"/>
                </a:solidFill>
              </a:rPr>
              <a:t>Failures are kept and linked, never erased</a:t>
            </a:r>
            <a:endParaRPr lang="en-US" sz="1250" dirty="0"/>
          </a:p>
          <a:p>
            <a:pPr marL="177800" indent="-177800">
              <a:spcAft>
                <a:spcPts val="500"/>
              </a:spcAft>
              <a:buSzPct val="100000"/>
              <a:buChar char="•"/>
            </a:pPr>
            <a:r>
              <a:rPr lang="en-US" sz="1250" dirty="0">
                <a:solidFill>
                  <a:schemeClr val="tx1"/>
                </a:solidFill>
              </a:rPr>
              <a:t>Procurement write path built in an S/4HANA-shaped sandbox, 41 tests</a:t>
            </a:r>
            <a:endParaRPr lang="en-US" sz="1250" dirty="0"/>
          </a:p>
        </p:txBody>
      </p:sp>
      <p:sp>
        <p:nvSpPr>
          <p:cNvPr id="8" name="Shape 6"/>
          <p:cNvSpPr/>
          <p:nvPr/>
        </p:nvSpPr>
        <p:spPr>
          <a:xfrm>
            <a:off x="3364992" y="1508760"/>
            <a:ext cx="2651760" cy="2971800"/>
          </a:xfrm>
          <a:prstGeom prst="roundRect">
            <a:avLst>
              <a:gd name="adj" fmla="val 2069"/>
            </a:avLst>
          </a:prstGeom>
          <a:solidFill>
            <a:schemeClr val="bg2"/>
          </a:solidFill>
          <a:ln w="9525">
            <a:solidFill>
              <a:srgbClr val="D9E6E1"/>
            </a:solidFill>
            <a:prstDash val="solid"/>
          </a:ln>
        </p:spPr>
      </p:sp>
      <p:sp>
        <p:nvSpPr>
          <p:cNvPr id="9" name="Text 7"/>
          <p:cNvSpPr txBox="1"/>
          <p:nvPr/>
        </p:nvSpPr>
        <p:spPr>
          <a:xfrm>
            <a:off x="3547872" y="1673352"/>
            <a:ext cx="2286000" cy="320040"/>
          </a:xfrm>
          <a:prstGeom prst="rect">
            <a:avLst/>
          </a:prstGeom>
          <a:noFill/>
          <a:ln/>
        </p:spPr>
        <p:txBody>
          <a:bodyPr wrap="square" lIns="0" tIns="0" rIns="0" bIns="0" rtlCol="0" anchor="t"/>
          <a:lstStyle/>
          <a:p>
            <a:pPr indent="0" marL="0">
              <a:buNone/>
            </a:pPr>
            <a:r>
              <a:rPr lang="en-US" sz="1500" b="1" dirty="0">
                <a:solidFill>
                  <a:schemeClr val="tx2"/>
                </a:solidFill>
              </a:rPr>
              <a:t>Marketing</a:t>
            </a:r>
            <a:endParaRPr lang="en-US" sz="1500" dirty="0"/>
          </a:p>
        </p:txBody>
      </p:sp>
      <p:sp>
        <p:nvSpPr>
          <p:cNvPr id="10" name="Shape 8"/>
          <p:cNvSpPr/>
          <p:nvPr/>
        </p:nvSpPr>
        <p:spPr>
          <a:xfrm>
            <a:off x="3547872" y="2057400"/>
            <a:ext cx="1051560" cy="274320"/>
          </a:xfrm>
          <a:prstGeom prst="roundRect">
            <a:avLst>
              <a:gd name="adj" fmla="val 50000"/>
            </a:avLst>
          </a:prstGeom>
          <a:solidFill>
            <a:schemeClr val="accent6"/>
          </a:solidFill>
          <a:ln w="12700">
            <a:solidFill>
              <a:schemeClr val="accent6"/>
            </a:solidFill>
            <a:prstDash val="solid"/>
          </a:ln>
        </p:spPr>
      </p:sp>
      <p:sp>
        <p:nvSpPr>
          <p:cNvPr id="11" name="Text 9"/>
          <p:cNvSpPr txBox="1"/>
          <p:nvPr/>
        </p:nvSpPr>
        <p:spPr>
          <a:xfrm>
            <a:off x="3547872" y="2057400"/>
            <a:ext cx="1051560" cy="274320"/>
          </a:xfrm>
          <a:prstGeom prst="rect">
            <a:avLst/>
          </a:prstGeom>
          <a:noFill/>
          <a:ln/>
        </p:spPr>
        <p:txBody>
          <a:bodyPr wrap="square" lIns="0" tIns="0" rIns="0" bIns="0" rtlCol="0" anchor="ctr"/>
          <a:lstStyle/>
          <a:p>
            <a:pPr algn="ctr" indent="0" marL="0">
              <a:buNone/>
            </a:pPr>
            <a:r>
              <a:rPr lang="en-US" sz="1000" b="1" dirty="0">
                <a:solidFill>
                  <a:schemeClr val="tx1"/>
                </a:solidFill>
              </a:rPr>
              <a:t>Desk</a:t>
            </a:r>
            <a:endParaRPr lang="en-US" sz="1000" dirty="0"/>
          </a:p>
        </p:txBody>
      </p:sp>
      <p:sp>
        <p:nvSpPr>
          <p:cNvPr id="12" name="Text 10"/>
          <p:cNvSpPr txBox="1"/>
          <p:nvPr/>
        </p:nvSpPr>
        <p:spPr>
          <a:xfrm>
            <a:off x="3547872" y="246888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One buyer, one job: an SAP retailer's planner facing an ambiguous supplier reply</a:t>
            </a:r>
            <a:endParaRPr lang="en-US" sz="1250" dirty="0"/>
          </a:p>
          <a:p>
            <a:pPr marL="177800" indent="-177800">
              <a:spcAft>
                <a:spcPts val="500"/>
              </a:spcAft>
              <a:buSzPct val="100000"/>
              <a:buChar char="•"/>
            </a:pPr>
            <a:r>
              <a:rPr lang="en-US" sz="1250" dirty="0">
                <a:solidFill>
                  <a:schemeClr val="tx1"/>
                </a:solidFill>
              </a:rPr>
              <a:t>Four weaker differentiation claims withdrawn after a competitive check</a:t>
            </a:r>
            <a:endParaRPr lang="en-US" sz="1250" dirty="0"/>
          </a:p>
          <a:p>
            <a:pPr marL="177800" indent="-177800">
              <a:spcAft>
                <a:spcPts val="500"/>
              </a:spcAft>
              <a:buSzPct val="100000"/>
              <a:buChar char="•"/>
            </a:pPr>
            <a:r>
              <a:rPr lang="en-US" sz="1250" dirty="0">
                <a:solidFill>
                  <a:schemeClr val="tx1"/>
                </a:solidFill>
              </a:rPr>
              <a:t>Retailer pays; supplier entry is free</a:t>
            </a:r>
            <a:endParaRPr lang="en-US" sz="1250" dirty="0"/>
          </a:p>
        </p:txBody>
      </p:sp>
      <p:sp>
        <p:nvSpPr>
          <p:cNvPr id="13" name="Shape 11"/>
          <p:cNvSpPr/>
          <p:nvPr/>
        </p:nvSpPr>
        <p:spPr>
          <a:xfrm>
            <a:off x="6181344" y="1508760"/>
            <a:ext cx="2651760" cy="2971800"/>
          </a:xfrm>
          <a:prstGeom prst="roundRect">
            <a:avLst>
              <a:gd name="adj" fmla="val 2069"/>
            </a:avLst>
          </a:prstGeom>
          <a:solidFill>
            <a:schemeClr val="bg2"/>
          </a:solidFill>
          <a:ln w="9525">
            <a:solidFill>
              <a:srgbClr val="D9E6E1"/>
            </a:solidFill>
            <a:prstDash val="solid"/>
          </a:ln>
        </p:spPr>
      </p:sp>
      <p:sp>
        <p:nvSpPr>
          <p:cNvPr id="14" name="Text 12"/>
          <p:cNvSpPr txBox="1"/>
          <p:nvPr/>
        </p:nvSpPr>
        <p:spPr>
          <a:xfrm>
            <a:off x="6364224" y="1673352"/>
            <a:ext cx="2286000" cy="320040"/>
          </a:xfrm>
          <a:prstGeom prst="rect">
            <a:avLst/>
          </a:prstGeom>
          <a:noFill/>
          <a:ln/>
        </p:spPr>
        <p:txBody>
          <a:bodyPr wrap="square" lIns="0" tIns="0" rIns="0" bIns="0" rtlCol="0" anchor="t"/>
          <a:lstStyle/>
          <a:p>
            <a:pPr indent="0" marL="0">
              <a:buNone/>
            </a:pPr>
            <a:r>
              <a:rPr lang="en-US" sz="1500" b="1" dirty="0">
                <a:solidFill>
                  <a:schemeClr val="tx2"/>
                </a:solidFill>
              </a:rPr>
              <a:t>Finance</a:t>
            </a:r>
            <a:endParaRPr lang="en-US" sz="1500" dirty="0"/>
          </a:p>
        </p:txBody>
      </p:sp>
      <p:sp>
        <p:nvSpPr>
          <p:cNvPr id="15" name="Shape 13"/>
          <p:cNvSpPr/>
          <p:nvPr/>
        </p:nvSpPr>
        <p:spPr>
          <a:xfrm>
            <a:off x="6364224" y="2057400"/>
            <a:ext cx="1051560" cy="274320"/>
          </a:xfrm>
          <a:prstGeom prst="roundRect">
            <a:avLst>
              <a:gd name="adj" fmla="val 50000"/>
            </a:avLst>
          </a:prstGeom>
          <a:solidFill>
            <a:schemeClr val="tx1"/>
          </a:solidFill>
          <a:ln w="12700">
            <a:solidFill>
              <a:schemeClr val="tx1"/>
            </a:solidFill>
            <a:prstDash val="solid"/>
          </a:ln>
        </p:spPr>
      </p:sp>
      <p:sp>
        <p:nvSpPr>
          <p:cNvPr id="16" name="Text 14"/>
          <p:cNvSpPr txBox="1"/>
          <p:nvPr/>
        </p:nvSpPr>
        <p:spPr>
          <a:xfrm>
            <a:off x="6364224" y="2057400"/>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Real-model</a:t>
            </a:r>
            <a:endParaRPr lang="en-US" sz="1000" dirty="0"/>
          </a:p>
        </p:txBody>
      </p:sp>
      <p:sp>
        <p:nvSpPr>
          <p:cNvPr id="17" name="Text 15"/>
          <p:cNvSpPr txBox="1"/>
          <p:nvPr/>
        </p:nvSpPr>
        <p:spPr>
          <a:xfrm>
            <a:off x="6364224" y="246888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Model cost under USD 1 per exception, measured on real calls</a:t>
            </a:r>
            <a:endParaRPr lang="en-US" sz="1250" dirty="0"/>
          </a:p>
          <a:p>
            <a:pPr marL="177800" indent="-177800">
              <a:spcAft>
                <a:spcPts val="500"/>
              </a:spcAft>
              <a:buSzPct val="100000"/>
              <a:buChar char="•"/>
            </a:pPr>
            <a:r>
              <a:rPr lang="en-US" sz="1250" dirty="0">
                <a:solidFill>
                  <a:schemeClr val="tx1"/>
                </a:solidFill>
              </a:rPr>
              <a:t>Savings and integration cost not yet measured</a:t>
            </a:r>
            <a:endParaRPr lang="en-US" sz="1250" dirty="0"/>
          </a:p>
          <a:p>
            <a:pPr marL="177800" indent="-177800">
              <a:spcAft>
                <a:spcPts val="500"/>
              </a:spcAft>
              <a:buSzPct val="100000"/>
              <a:buChar char="•"/>
            </a:pPr>
            <a:r>
              <a:rPr lang="en-US" sz="1250" dirty="0">
                <a:solidFill>
                  <a:schemeClr val="tx1"/>
                </a:solidFill>
              </a:rPr>
              <a:t>Pilot and stop rules defined before any number is promised</a:t>
            </a:r>
            <a:endParaRPr lang="en-US" sz="1250" dirty="0"/>
          </a:p>
        </p:txBody>
      </p:sp>
      <p:sp>
        <p:nvSpPr>
          <p:cNvPr id="18" name="Shape 16"/>
          <p:cNvSpPr/>
          <p:nvPr/>
        </p:nvSpPr>
        <p:spPr>
          <a:xfrm>
            <a:off x="8997696" y="1508760"/>
            <a:ext cx="2651760" cy="2971800"/>
          </a:xfrm>
          <a:prstGeom prst="roundRect">
            <a:avLst>
              <a:gd name="adj" fmla="val 2069"/>
            </a:avLst>
          </a:prstGeom>
          <a:solidFill>
            <a:schemeClr val="bg2"/>
          </a:solidFill>
          <a:ln w="9525">
            <a:solidFill>
              <a:srgbClr val="D9E6E1"/>
            </a:solidFill>
            <a:prstDash val="solid"/>
          </a:ln>
        </p:spPr>
      </p:sp>
      <p:sp>
        <p:nvSpPr>
          <p:cNvPr id="19" name="Text 17"/>
          <p:cNvSpPr txBox="1"/>
          <p:nvPr/>
        </p:nvSpPr>
        <p:spPr>
          <a:xfrm>
            <a:off x="9180576" y="1673352"/>
            <a:ext cx="2286000" cy="320040"/>
          </a:xfrm>
          <a:prstGeom prst="rect">
            <a:avLst/>
          </a:prstGeom>
          <a:noFill/>
          <a:ln/>
        </p:spPr>
        <p:txBody>
          <a:bodyPr wrap="square" lIns="0" tIns="0" rIns="0" bIns="0" rtlCol="0" anchor="t"/>
          <a:lstStyle/>
          <a:p>
            <a:pPr indent="0" marL="0">
              <a:buNone/>
            </a:pPr>
            <a:r>
              <a:rPr lang="en-US" sz="1500" b="1" dirty="0">
                <a:solidFill>
                  <a:schemeClr val="tx2"/>
                </a:solidFill>
              </a:rPr>
              <a:t>Product strategy</a:t>
            </a:r>
            <a:endParaRPr lang="en-US" sz="1500" dirty="0"/>
          </a:p>
        </p:txBody>
      </p:sp>
      <p:sp>
        <p:nvSpPr>
          <p:cNvPr id="20" name="Shape 18"/>
          <p:cNvSpPr/>
          <p:nvPr/>
        </p:nvSpPr>
        <p:spPr>
          <a:xfrm>
            <a:off x="9180576" y="2057400"/>
            <a:ext cx="1051560" cy="274320"/>
          </a:xfrm>
          <a:prstGeom prst="roundRect">
            <a:avLst>
              <a:gd name="adj" fmla="val 50000"/>
            </a:avLst>
          </a:prstGeom>
          <a:solidFill>
            <a:schemeClr val="accent2"/>
          </a:solidFill>
          <a:ln w="12700">
            <a:solidFill>
              <a:schemeClr val="accent2"/>
            </a:solidFill>
            <a:prstDash val="solid"/>
          </a:ln>
        </p:spPr>
      </p:sp>
      <p:sp>
        <p:nvSpPr>
          <p:cNvPr id="21" name="Text 19"/>
          <p:cNvSpPr txBox="1"/>
          <p:nvPr/>
        </p:nvSpPr>
        <p:spPr>
          <a:xfrm>
            <a:off x="9180576" y="2057400"/>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Hypothesis</a:t>
            </a:r>
            <a:endParaRPr lang="en-US" sz="1000" dirty="0"/>
          </a:p>
        </p:txBody>
      </p:sp>
      <p:sp>
        <p:nvSpPr>
          <p:cNvPr id="22" name="Text 20"/>
          <p:cNvSpPr txBox="1"/>
          <p:nvPr/>
        </p:nvSpPr>
        <p:spPr>
          <a:xfrm>
            <a:off x="9180576" y="246888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A wedge chosen by elimination, not by ambition</a:t>
            </a:r>
            <a:endParaRPr lang="en-US" sz="1250" dirty="0"/>
          </a:p>
          <a:p>
            <a:pPr marL="177800" indent="-177800">
              <a:spcAft>
                <a:spcPts val="500"/>
              </a:spcAft>
              <a:buSzPct val="100000"/>
              <a:buChar char="•"/>
            </a:pPr>
            <a:r>
              <a:rPr lang="en-US" sz="1250" dirty="0">
                <a:solidFill>
                  <a:schemeClr val="tx1"/>
                </a:solidFill>
              </a:rPr>
              <a:t>Six losing conditions stated in advance</a:t>
            </a:r>
            <a:endParaRPr lang="en-US" sz="1250" dirty="0"/>
          </a:p>
          <a:p>
            <a:pPr marL="177800" indent="-177800">
              <a:spcAft>
                <a:spcPts val="500"/>
              </a:spcAft>
              <a:buSzPct val="100000"/>
              <a:buChar char="•"/>
            </a:pPr>
            <a:r>
              <a:rPr lang="en-US" sz="1250" dirty="0">
                <a:solidFill>
                  <a:schemeClr val="tx1"/>
                </a:solidFill>
              </a:rPr>
              <a:t>Gated roadmap: acceptance, pilot, SAP read, SAP write</a:t>
            </a:r>
            <a:endParaRPr lang="en-US" sz="1250" dirty="0"/>
          </a:p>
        </p:txBody>
      </p:sp>
      <p:sp>
        <p:nvSpPr>
          <p:cNvPr id="23" name="Shape 21"/>
          <p:cNvSpPr/>
          <p:nvPr/>
        </p:nvSpPr>
        <p:spPr>
          <a:xfrm>
            <a:off x="548640" y="4800600"/>
            <a:ext cx="11064240" cy="1188720"/>
          </a:xfrm>
          <a:prstGeom prst="roundRect">
            <a:avLst>
              <a:gd name="adj" fmla="val 4615"/>
            </a:avLst>
          </a:prstGeom>
          <a:solidFill>
            <a:schemeClr val="tx2"/>
          </a:solidFill>
          <a:ln w="12700">
            <a:solidFill>
              <a:srgbClr val="0F5C4D"/>
            </a:solidFill>
            <a:prstDash val="solid"/>
          </a:ln>
        </p:spPr>
      </p:sp>
      <p:sp>
        <p:nvSpPr>
          <p:cNvPr id="24" name="Text 22"/>
          <p:cNvSpPr txBox="1"/>
          <p:nvPr/>
        </p:nvSpPr>
        <p:spPr>
          <a:xfrm>
            <a:off x="822960" y="4937760"/>
            <a:ext cx="3657600" cy="320040"/>
          </a:xfrm>
          <a:prstGeom prst="rect">
            <a:avLst/>
          </a:prstGeom>
          <a:noFill/>
          <a:ln/>
        </p:spPr>
        <p:txBody>
          <a:bodyPr wrap="square" lIns="0" tIns="0" rIns="0" bIns="0" rtlCol="0" anchor="t"/>
          <a:lstStyle/>
          <a:p>
            <a:pPr indent="0" marL="0">
              <a:buNone/>
            </a:pPr>
            <a:r>
              <a:rPr lang="en-US" sz="1300" b="1" dirty="0">
                <a:solidFill>
                  <a:schemeClr val="accent6"/>
                </a:solidFill>
              </a:rPr>
              <a:t>What we ask today</a:t>
            </a:r>
            <a:endParaRPr lang="en-US" sz="1300" dirty="0"/>
          </a:p>
        </p:txBody>
      </p:sp>
      <p:sp>
        <p:nvSpPr>
          <p:cNvPr id="25" name="Text 23"/>
          <p:cNvSpPr txBox="1"/>
          <p:nvPr/>
        </p:nvSpPr>
        <p:spPr>
          <a:xfrm>
            <a:off x="822960" y="5257800"/>
            <a:ext cx="10515600" cy="640080"/>
          </a:xfrm>
          <a:prstGeom prst="rect">
            <a:avLst/>
          </a:prstGeom>
          <a:noFill/>
          <a:ln/>
        </p:spPr>
        <p:txBody>
          <a:bodyPr wrap="square" lIns="0" tIns="0" rIns="0" bIns="0" rtlCol="0" anchor="t"/>
          <a:lstStyle/>
          <a:p>
            <a:pPr indent="0" marL="0">
              <a:buNone/>
            </a:pPr>
            <a:r>
              <a:rPr lang="en-US" sz="1350" dirty="0">
                <a:solidFill>
                  <a:schemeClr val="bg1"/>
                </a:solidFill>
              </a:rPr>
              <a:t>Approve the twelve-day engineering acceptance on the connected loop, accept that savings are reported as hypotheses until real tasks exist, and help us find one partner for ten to twenty consecutive real exceptions.</a:t>
            </a:r>
            <a:endParaRPr lang="en-US" sz="13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The exception we handle: a demand concern meets an ambiguous supplier reply</a:t>
            </a:r>
            <a:endParaRPr lang="en-US" sz="3000" dirty="0"/>
          </a:p>
        </p:txBody>
      </p:sp>
      <p:sp>
        <p:nvSpPr>
          <p:cNvPr id="3" name="Shape 1"/>
          <p:cNvSpPr/>
          <p:nvPr/>
        </p:nvSpPr>
        <p:spPr>
          <a:xfrm>
            <a:off x="548640" y="1572768"/>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5727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097280" y="1554480"/>
            <a:ext cx="5669280" cy="292608"/>
          </a:xfrm>
          <a:prstGeom prst="rect">
            <a:avLst/>
          </a:prstGeom>
          <a:noFill/>
          <a:ln/>
        </p:spPr>
        <p:txBody>
          <a:bodyPr wrap="square" lIns="0" tIns="0" rIns="0" bIns="0" rtlCol="0" anchor="t"/>
          <a:lstStyle/>
          <a:p>
            <a:pPr indent="0" marL="0">
              <a:buNone/>
            </a:pPr>
            <a:r>
              <a:rPr lang="en-US" sz="1450" b="1" dirty="0">
                <a:solidFill>
                  <a:schemeClr val="tx2"/>
                </a:solidFill>
              </a:rPr>
              <a:t>Demand concern</a:t>
            </a:r>
            <a:endParaRPr lang="en-US" sz="1450" dirty="0"/>
          </a:p>
        </p:txBody>
      </p:sp>
      <p:sp>
        <p:nvSpPr>
          <p:cNvPr id="6" name="Text 4"/>
          <p:cNvSpPr txBox="1"/>
          <p:nvPr/>
        </p:nvSpPr>
        <p:spPr>
          <a:xfrm>
            <a:off x="1097280" y="1856232"/>
            <a:ext cx="5852160" cy="566928"/>
          </a:xfrm>
          <a:prstGeom prst="rect">
            <a:avLst/>
          </a:prstGeom>
          <a:noFill/>
          <a:ln/>
        </p:spPr>
        <p:txBody>
          <a:bodyPr wrap="square" lIns="0" tIns="0" rIns="0" bIns="0" rtlCol="0" anchor="t"/>
          <a:lstStyle/>
          <a:p>
            <a:pPr indent="0" marL="0">
              <a:buNone/>
            </a:pPr>
            <a:r>
              <a:rPr lang="en-US" sz="1250" dirty="0">
                <a:solidFill>
                  <a:schemeClr val="tx1"/>
                </a:solidFill>
              </a:rPr>
              <a:t>Stockout reports and a promotion window raise doubt about OJ-250 coverage at Toronto DC; SAP plan is 360 cases.</a:t>
            </a:r>
            <a:endParaRPr lang="en-US" sz="1250" dirty="0"/>
          </a:p>
        </p:txBody>
      </p:sp>
      <p:sp>
        <p:nvSpPr>
          <p:cNvPr id="7" name="Shape 5"/>
          <p:cNvSpPr/>
          <p:nvPr/>
        </p:nvSpPr>
        <p:spPr>
          <a:xfrm>
            <a:off x="548640" y="24688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548640" y="2468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097280" y="2450592"/>
            <a:ext cx="5669280" cy="292608"/>
          </a:xfrm>
          <a:prstGeom prst="rect">
            <a:avLst/>
          </a:prstGeom>
          <a:noFill/>
          <a:ln/>
        </p:spPr>
        <p:txBody>
          <a:bodyPr wrap="square" lIns="0" tIns="0" rIns="0" bIns="0" rtlCol="0" anchor="t"/>
          <a:lstStyle/>
          <a:p>
            <a:pPr indent="0" marL="0">
              <a:buNone/>
            </a:pPr>
            <a:r>
              <a:rPr lang="en-US" sz="1450" b="1" dirty="0">
                <a:solidFill>
                  <a:schemeClr val="tx2"/>
                </a:solidFill>
              </a:rPr>
              <a:t>Request</a:t>
            </a:r>
            <a:endParaRPr lang="en-US" sz="1450" dirty="0"/>
          </a:p>
        </p:txBody>
      </p:sp>
      <p:sp>
        <p:nvSpPr>
          <p:cNvPr id="10" name="Text 8"/>
          <p:cNvSpPr txBox="1"/>
          <p:nvPr/>
        </p:nvSpPr>
        <p:spPr>
          <a:xfrm>
            <a:off x="1097280" y="2752344"/>
            <a:ext cx="5852160" cy="566928"/>
          </a:xfrm>
          <a:prstGeom prst="rect">
            <a:avLst/>
          </a:prstGeom>
          <a:noFill/>
          <a:ln/>
        </p:spPr>
        <p:txBody>
          <a:bodyPr wrap="square" lIns="0" tIns="0" rIns="0" bIns="0" rtlCol="0" anchor="t"/>
          <a:lstStyle/>
          <a:p>
            <a:pPr indent="0" marL="0">
              <a:buNone/>
            </a:pPr>
            <a:r>
              <a:rPr lang="en-US" sz="1250" dirty="0">
                <a:solidFill>
                  <a:schemeClr val="tx1"/>
                </a:solidFill>
              </a:rPr>
              <a:t>Planner asks NorthOrchard whether additional supply is possible before 28 October.</a:t>
            </a:r>
            <a:endParaRPr lang="en-US" sz="1250" dirty="0"/>
          </a:p>
        </p:txBody>
      </p:sp>
      <p:sp>
        <p:nvSpPr>
          <p:cNvPr id="11" name="Shape 9"/>
          <p:cNvSpPr/>
          <p:nvPr/>
        </p:nvSpPr>
        <p:spPr>
          <a:xfrm>
            <a:off x="548640" y="3364992"/>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548640" y="33649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097280" y="3346704"/>
            <a:ext cx="5669280" cy="292608"/>
          </a:xfrm>
          <a:prstGeom prst="rect">
            <a:avLst/>
          </a:prstGeom>
          <a:noFill/>
          <a:ln/>
        </p:spPr>
        <p:txBody>
          <a:bodyPr wrap="square" lIns="0" tIns="0" rIns="0" bIns="0" rtlCol="0" anchor="t"/>
          <a:lstStyle/>
          <a:p>
            <a:pPr indent="0" marL="0">
              <a:buNone/>
            </a:pPr>
            <a:r>
              <a:rPr lang="en-US" sz="1450" b="1" dirty="0">
                <a:solidFill>
                  <a:schemeClr val="tx2"/>
                </a:solidFill>
              </a:rPr>
              <a:t>Ambiguous reply</a:t>
            </a:r>
            <a:endParaRPr lang="en-US" sz="1450" dirty="0"/>
          </a:p>
        </p:txBody>
      </p:sp>
      <p:sp>
        <p:nvSpPr>
          <p:cNvPr id="14" name="Text 12"/>
          <p:cNvSpPr txBox="1"/>
          <p:nvPr/>
        </p:nvSpPr>
        <p:spPr>
          <a:xfrm>
            <a:off x="1097280" y="3648456"/>
            <a:ext cx="5852160" cy="566928"/>
          </a:xfrm>
          <a:prstGeom prst="rect">
            <a:avLst/>
          </a:prstGeom>
          <a:noFill/>
          <a:ln/>
        </p:spPr>
        <p:txBody>
          <a:bodyPr wrap="square" lIns="0" tIns="0" rIns="0" bIns="0" rtlCol="0" anchor="t"/>
          <a:lstStyle/>
          <a:p>
            <a:pPr indent="0" marL="0">
              <a:buNone/>
            </a:pPr>
            <a:r>
              <a:rPr lang="en-US" sz="1250" dirty="0">
                <a:solidFill>
                  <a:schemeClr val="tx1"/>
                </a:solidFill>
              </a:rPr>
              <a:t>"Friday or Monday, same lot, the dates should be fine." Ship or arrive? How many? Which lot expiry?</a:t>
            </a:r>
            <a:endParaRPr lang="en-US" sz="1250" dirty="0"/>
          </a:p>
        </p:txBody>
      </p:sp>
      <p:sp>
        <p:nvSpPr>
          <p:cNvPr id="15" name="Shape 13"/>
          <p:cNvSpPr/>
          <p:nvPr/>
        </p:nvSpPr>
        <p:spPr>
          <a:xfrm>
            <a:off x="548640" y="4261104"/>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548640" y="42611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1097280" y="4242816"/>
            <a:ext cx="5669280" cy="292608"/>
          </a:xfrm>
          <a:prstGeom prst="rect">
            <a:avLst/>
          </a:prstGeom>
          <a:noFill/>
          <a:ln/>
        </p:spPr>
        <p:txBody>
          <a:bodyPr wrap="square" lIns="0" tIns="0" rIns="0" bIns="0" rtlCol="0" anchor="t"/>
          <a:lstStyle/>
          <a:p>
            <a:pPr indent="0" marL="0">
              <a:buNone/>
            </a:pPr>
            <a:r>
              <a:rPr lang="en-US" sz="1450" b="1" dirty="0">
                <a:solidFill>
                  <a:schemeClr val="tx2"/>
                </a:solidFill>
              </a:rPr>
              <a:t>Chasing by email</a:t>
            </a:r>
            <a:endParaRPr lang="en-US" sz="1450" dirty="0"/>
          </a:p>
        </p:txBody>
      </p:sp>
      <p:sp>
        <p:nvSpPr>
          <p:cNvPr id="18" name="Text 16"/>
          <p:cNvSpPr txBox="1"/>
          <p:nvPr/>
        </p:nvSpPr>
        <p:spPr>
          <a:xfrm>
            <a:off x="1097280" y="4544568"/>
            <a:ext cx="5852160" cy="566928"/>
          </a:xfrm>
          <a:prstGeom prst="rect">
            <a:avLst/>
          </a:prstGeom>
          <a:noFill/>
          <a:ln/>
        </p:spPr>
        <p:txBody>
          <a:bodyPr wrap="square" lIns="0" tIns="0" rIns="0" bIns="0" rtlCol="0" anchor="t"/>
          <a:lstStyle/>
          <a:p>
            <a:pPr indent="0" marL="0">
              <a:buNone/>
            </a:pPr>
            <a:r>
              <a:rPr lang="en-US" sz="1250" dirty="0">
                <a:solidFill>
                  <a:schemeClr val="tx1"/>
                </a:solidFill>
              </a:rPr>
              <a:t>Carrier, QA release, receiving slot and capacity are chased in separate threads and re-keyed into a sheet.</a:t>
            </a:r>
            <a:endParaRPr lang="en-US" sz="1250" dirty="0"/>
          </a:p>
        </p:txBody>
      </p:sp>
      <p:sp>
        <p:nvSpPr>
          <p:cNvPr id="19" name="Shape 17"/>
          <p:cNvSpPr/>
          <p:nvPr/>
        </p:nvSpPr>
        <p:spPr>
          <a:xfrm>
            <a:off x="548640" y="5157216"/>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097280" y="5138928"/>
            <a:ext cx="5669280" cy="292608"/>
          </a:xfrm>
          <a:prstGeom prst="rect">
            <a:avLst/>
          </a:prstGeom>
          <a:noFill/>
          <a:ln/>
        </p:spPr>
        <p:txBody>
          <a:bodyPr wrap="square" lIns="0" tIns="0" rIns="0" bIns="0" rtlCol="0" anchor="t"/>
          <a:lstStyle/>
          <a:p>
            <a:pPr indent="0" marL="0">
              <a:buNone/>
            </a:pPr>
            <a:r>
              <a:rPr lang="en-US" sz="1450" b="1" dirty="0">
                <a:solidFill>
                  <a:schemeClr val="tx2"/>
                </a:solidFill>
              </a:rPr>
              <a:t>No handoff</a:t>
            </a:r>
            <a:endParaRPr lang="en-US" sz="1450" dirty="0"/>
          </a:p>
        </p:txBody>
      </p:sp>
      <p:sp>
        <p:nvSpPr>
          <p:cNvPr id="22" name="Text 20"/>
          <p:cNvSpPr txBox="1"/>
          <p:nvPr/>
        </p:nvSpPr>
        <p:spPr>
          <a:xfrm>
            <a:off x="1097280" y="5440680"/>
            <a:ext cx="5852160" cy="566928"/>
          </a:xfrm>
          <a:prstGeom prst="rect">
            <a:avLst/>
          </a:prstGeom>
          <a:noFill/>
          <a:ln/>
        </p:spPr>
        <p:txBody>
          <a:bodyPr wrap="square" lIns="0" tIns="0" rIns="0" bIns="0" rtlCol="0" anchor="t"/>
          <a:lstStyle/>
          <a:p>
            <a:pPr indent="0" marL="0">
              <a:buNone/>
            </a:pPr>
            <a:r>
              <a:rPr lang="en-US" sz="1250" dirty="0">
                <a:solidFill>
                  <a:schemeClr val="tx1"/>
                </a:solidFill>
              </a:rPr>
              <a:t>Nothing reaches procurement approval in a form it can act on; the decision lives in a mailbox.</a:t>
            </a:r>
            <a:endParaRPr lang="en-US" sz="1250" dirty="0"/>
          </a:p>
        </p:txBody>
      </p:sp>
      <p:sp>
        <p:nvSpPr>
          <p:cNvPr id="23" name="Shape 21"/>
          <p:cNvSpPr/>
          <p:nvPr/>
        </p:nvSpPr>
        <p:spPr>
          <a:xfrm>
            <a:off x="7223760" y="1554480"/>
            <a:ext cx="4389120" cy="3017520"/>
          </a:xfrm>
          <a:prstGeom prst="roundRect">
            <a:avLst>
              <a:gd name="adj" fmla="val 1818"/>
            </a:avLst>
          </a:prstGeom>
          <a:solidFill>
            <a:schemeClr val="bg2"/>
          </a:solidFill>
          <a:ln w="9525">
            <a:solidFill>
              <a:srgbClr val="D9E6E1"/>
            </a:solidFill>
            <a:prstDash val="solid"/>
          </a:ln>
        </p:spPr>
      </p:sp>
      <p:sp>
        <p:nvSpPr>
          <p:cNvPr id="24" name="Text 22"/>
          <p:cNvSpPr txBox="1"/>
          <p:nvPr/>
        </p:nvSpPr>
        <p:spPr>
          <a:xfrm>
            <a:off x="7406640" y="1700784"/>
            <a:ext cx="4023360" cy="329184"/>
          </a:xfrm>
          <a:prstGeom prst="rect">
            <a:avLst/>
          </a:prstGeom>
          <a:noFill/>
          <a:ln/>
        </p:spPr>
        <p:txBody>
          <a:bodyPr wrap="square" lIns="0" tIns="0" rIns="0" bIns="0" rtlCol="0" anchor="t"/>
          <a:lstStyle/>
          <a:p>
            <a:pPr indent="0" marL="0">
              <a:buNone/>
            </a:pPr>
            <a:r>
              <a:rPr lang="en-US" sz="1500" b="1" dirty="0">
                <a:solidFill>
                  <a:schemeClr val="tx2"/>
                </a:solidFill>
              </a:rPr>
              <a:t>What goes wrong today</a:t>
            </a:r>
            <a:endParaRPr lang="en-US" sz="1500" dirty="0"/>
          </a:p>
        </p:txBody>
      </p:sp>
      <p:sp>
        <p:nvSpPr>
          <p:cNvPr id="25" name="Text 23"/>
          <p:cNvSpPr txBox="1"/>
          <p:nvPr/>
        </p:nvSpPr>
        <p:spPr>
          <a:xfrm>
            <a:off x="7406640" y="2084832"/>
            <a:ext cx="4023360" cy="23774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tx1"/>
                </a:solidFill>
              </a:rPr>
              <a:t>The same facts are typed three times: in the thread, the sheet, the approval note</a:t>
            </a:r>
            <a:endParaRPr lang="en-US" sz="1250" dirty="0"/>
          </a:p>
          <a:p>
            <a:pPr marL="177800" indent="-177800">
              <a:spcAft>
                <a:spcPts val="400"/>
              </a:spcAft>
              <a:buSzPct val="100000"/>
              <a:buChar char="•"/>
            </a:pPr>
            <a:r>
              <a:rPr lang="en-US" sz="1250" dirty="0">
                <a:solidFill>
                  <a:schemeClr val="tx1"/>
                </a:solidFill>
              </a:rPr>
              <a:t>Available supply is mistaken for demand</a:t>
            </a:r>
            <a:endParaRPr lang="en-US" sz="1250" dirty="0"/>
          </a:p>
          <a:p>
            <a:pPr marL="177800" indent="-177800">
              <a:spcAft>
                <a:spcPts val="400"/>
              </a:spcAft>
              <a:buSzPct val="100000"/>
              <a:buChar char="•"/>
            </a:pPr>
            <a:r>
              <a:rPr lang="en-US" sz="1250" dirty="0">
                <a:solidFill>
                  <a:schemeClr val="tx1"/>
                </a:solidFill>
              </a:rPr>
              <a:t>Missing evidence is treated as a failed condition, or as a passed one</a:t>
            </a:r>
            <a:endParaRPr lang="en-US" sz="1250" dirty="0"/>
          </a:p>
          <a:p>
            <a:pPr marL="177800" indent="-177800">
              <a:spcAft>
                <a:spcPts val="400"/>
              </a:spcAft>
              <a:buSzPct val="100000"/>
              <a:buChar char="•"/>
            </a:pPr>
            <a:r>
              <a:rPr lang="en-US" sz="1250" dirty="0">
                <a:solidFill>
                  <a:schemeClr val="tx1"/>
                </a:solidFill>
              </a:rPr>
              <a:t>Commitments slip into email with no authority behind them</a:t>
            </a:r>
            <a:endParaRPr lang="en-US" sz="1250" dirty="0"/>
          </a:p>
          <a:p>
            <a:pPr marL="177800" indent="-177800">
              <a:spcAft>
                <a:spcPts val="400"/>
              </a:spcAft>
              <a:buSzPct val="100000"/>
              <a:buChar char="•"/>
            </a:pPr>
            <a:r>
              <a:rPr lang="en-US" sz="1250" dirty="0">
                <a:solidFill>
                  <a:schemeClr val="tx1"/>
                </a:solidFill>
              </a:rPr>
              <a:t>Elapsed time is nobody's number</a:t>
            </a:r>
            <a:endParaRPr lang="en-US" sz="1250" dirty="0"/>
          </a:p>
        </p:txBody>
      </p:sp>
      <p:sp>
        <p:nvSpPr>
          <p:cNvPr id="26" name="Shape 24"/>
          <p:cNvSpPr/>
          <p:nvPr/>
        </p:nvSpPr>
        <p:spPr>
          <a:xfrm>
            <a:off x="7223760" y="4754880"/>
            <a:ext cx="4389120" cy="1280160"/>
          </a:xfrm>
          <a:prstGeom prst="roundRect">
            <a:avLst>
              <a:gd name="adj" fmla="val 4286"/>
            </a:avLst>
          </a:prstGeom>
          <a:solidFill>
            <a:schemeClr val="bg2"/>
          </a:solidFill>
          <a:ln w="9525">
            <a:solidFill>
              <a:srgbClr val="D9E6E1"/>
            </a:solidFill>
            <a:prstDash val="solid"/>
          </a:ln>
        </p:spPr>
      </p:sp>
      <p:sp>
        <p:nvSpPr>
          <p:cNvPr id="27" name="Shape 25"/>
          <p:cNvSpPr/>
          <p:nvPr/>
        </p:nvSpPr>
        <p:spPr>
          <a:xfrm>
            <a:off x="7406640" y="4919472"/>
            <a:ext cx="1051560" cy="274320"/>
          </a:xfrm>
          <a:prstGeom prst="roundRect">
            <a:avLst>
              <a:gd name="adj" fmla="val 50000"/>
            </a:avLst>
          </a:prstGeom>
          <a:solidFill>
            <a:schemeClr val="accent6"/>
          </a:solidFill>
          <a:ln w="12700">
            <a:solidFill>
              <a:schemeClr val="accent6"/>
            </a:solidFill>
            <a:prstDash val="solid"/>
          </a:ln>
        </p:spPr>
      </p:sp>
      <p:sp>
        <p:nvSpPr>
          <p:cNvPr id="28" name="Text 26"/>
          <p:cNvSpPr txBox="1"/>
          <p:nvPr/>
        </p:nvSpPr>
        <p:spPr>
          <a:xfrm>
            <a:off x="7406640" y="4919472"/>
            <a:ext cx="1051560" cy="274320"/>
          </a:xfrm>
          <a:prstGeom prst="rect">
            <a:avLst/>
          </a:prstGeom>
          <a:noFill/>
          <a:ln/>
        </p:spPr>
        <p:txBody>
          <a:bodyPr wrap="square" lIns="0" tIns="0" rIns="0" bIns="0" rtlCol="0" anchor="ctr"/>
          <a:lstStyle/>
          <a:p>
            <a:pPr algn="ctr" indent="0" marL="0">
              <a:buNone/>
            </a:pPr>
            <a:r>
              <a:rPr lang="en-US" sz="1000" b="1" dirty="0">
                <a:solidFill>
                  <a:schemeClr val="tx1"/>
                </a:solidFill>
              </a:rPr>
              <a:t>Desk</a:t>
            </a:r>
            <a:endParaRPr lang="en-US" sz="1000" dirty="0"/>
          </a:p>
        </p:txBody>
      </p:sp>
      <p:sp>
        <p:nvSpPr>
          <p:cNvPr id="29" name="Text 27"/>
          <p:cNvSpPr txBox="1"/>
          <p:nvPr/>
        </p:nvSpPr>
        <p:spPr>
          <a:xfrm>
            <a:off x="7406640" y="5257800"/>
            <a:ext cx="4023360" cy="731520"/>
          </a:xfrm>
          <a:prstGeom prst="rect">
            <a:avLst/>
          </a:prstGeom>
          <a:noFill/>
          <a:ln/>
        </p:spPr>
        <p:txBody>
          <a:bodyPr wrap="square" lIns="0" tIns="0" rIns="0" bIns="0" rtlCol="0" anchor="t"/>
          <a:lstStyle/>
          <a:p>
            <a:pPr indent="0" marL="0">
              <a:buNone/>
            </a:pPr>
            <a:r>
              <a:rPr lang="en-US" sz="1150" dirty="0">
                <a:solidFill>
                  <a:schemeClr val="accent4"/>
                </a:solidFill>
              </a:rPr>
              <a:t>Problem class supported by the UK GCA/YouGov 2025 supplier study, ACCC supplier roundtables and Loblaw's PO-update workflow. The case, its names and every fact are synthetic.</a:t>
            </a:r>
            <a:endParaRPr lang="en-US" sz="11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The promise: a reply becomes a procurement handoff or a reasoned stop</a:t>
            </a:r>
            <a:endParaRPr lang="en-US" sz="3000" dirty="0"/>
          </a:p>
        </p:txBody>
      </p:sp>
      <p:sp>
        <p:nvSpPr>
          <p:cNvPr id="3" name="Shape 1"/>
          <p:cNvSpPr/>
          <p:nvPr/>
        </p:nvSpPr>
        <p:spPr>
          <a:xfrm>
            <a:off x="548640" y="1508760"/>
            <a:ext cx="11064240" cy="1417320"/>
          </a:xfrm>
          <a:prstGeom prst="roundRect">
            <a:avLst>
              <a:gd name="adj" fmla="val 3871"/>
            </a:avLst>
          </a:prstGeom>
          <a:solidFill>
            <a:schemeClr val="bg2"/>
          </a:solidFill>
          <a:ln w="9525">
            <a:solidFill>
              <a:srgbClr val="D9E6E1"/>
            </a:solidFill>
            <a:prstDash val="solid"/>
          </a:ln>
        </p:spPr>
      </p:sp>
      <p:sp>
        <p:nvSpPr>
          <p:cNvPr id="4" name="Text 2"/>
          <p:cNvSpPr txBox="1"/>
          <p:nvPr/>
        </p:nvSpPr>
        <p:spPr>
          <a:xfrm>
            <a:off x="822960" y="1664208"/>
            <a:ext cx="10515600" cy="1143000"/>
          </a:xfrm>
          <a:prstGeom prst="rect">
            <a:avLst/>
          </a:prstGeom>
          <a:noFill/>
          <a:ln/>
        </p:spPr>
        <p:txBody>
          <a:bodyPr wrap="square" lIns="0" tIns="0" rIns="0" bIns="0" rtlCol="0" anchor="t"/>
          <a:lstStyle/>
          <a:p>
            <a:pPr indent="0" marL="0">
              <a:buNone/>
            </a:pPr>
            <a:r>
              <a:rPr lang="en-US" sz="1500" i="1" dirty="0">
                <a:solidFill>
                  <a:schemeClr val="tx2"/>
                </a:solidFill>
              </a:rPr>
              <a:t>When a supplier's new reply affects an existing replenishment arrangement, Demand Pulse turns it into either a change draft that can be submitted to the retailer's existing procurement approval, or a reasoned keep-the-plan / stop result. The planner does not re-key information already provided. Every commercial commitment is still approved by someone with the authority to make it.</a:t>
            </a:r>
            <a:endParaRPr lang="en-US" sz="1500" dirty="0"/>
          </a:p>
        </p:txBody>
      </p:sp>
      <p:sp>
        <p:nvSpPr>
          <p:cNvPr id="5" name="Shape 3"/>
          <p:cNvSpPr/>
          <p:nvPr/>
        </p:nvSpPr>
        <p:spPr>
          <a:xfrm>
            <a:off x="548640" y="3154680"/>
            <a:ext cx="3566160" cy="2057400"/>
          </a:xfrm>
          <a:prstGeom prst="roundRect">
            <a:avLst>
              <a:gd name="adj" fmla="val 2667"/>
            </a:avLst>
          </a:prstGeom>
          <a:solidFill>
            <a:schemeClr val="bg2"/>
          </a:solidFill>
          <a:ln w="9525">
            <a:solidFill>
              <a:srgbClr val="D9E6E1"/>
            </a:solidFill>
            <a:prstDash val="solid"/>
          </a:ln>
        </p:spPr>
      </p:sp>
      <p:sp>
        <p:nvSpPr>
          <p:cNvPr id="6" name="Shape 4"/>
          <p:cNvSpPr/>
          <p:nvPr/>
        </p:nvSpPr>
        <p:spPr>
          <a:xfrm>
            <a:off x="731520" y="3337560"/>
            <a:ext cx="1188720" cy="292608"/>
          </a:xfrm>
          <a:prstGeom prst="rect">
            <a:avLst/>
          </a:prstGeom>
          <a:solidFill>
            <a:schemeClr val="accent1"/>
          </a:solidFill>
          <a:ln w="12700">
            <a:solidFill>
              <a:srgbClr val="D9E6E1"/>
            </a:solidFill>
            <a:prstDash val="solid"/>
          </a:ln>
        </p:spPr>
      </p:sp>
      <p:sp>
        <p:nvSpPr>
          <p:cNvPr id="7" name="Text 5"/>
          <p:cNvSpPr txBox="1"/>
          <p:nvPr/>
        </p:nvSpPr>
        <p:spPr>
          <a:xfrm>
            <a:off x="731520" y="333756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CHANGE</a:t>
            </a:r>
            <a:endParaRPr lang="en-US" sz="1100" dirty="0"/>
          </a:p>
        </p:txBody>
      </p:sp>
      <p:sp>
        <p:nvSpPr>
          <p:cNvPr id="8" name="Text 6"/>
          <p:cNvSpPr txBox="1"/>
          <p:nvPr/>
        </p:nvSpPr>
        <p:spPr>
          <a:xfrm>
            <a:off x="731520" y="3749040"/>
            <a:ext cx="3200400" cy="320040"/>
          </a:xfrm>
          <a:prstGeom prst="rect">
            <a:avLst/>
          </a:prstGeom>
          <a:noFill/>
          <a:ln/>
        </p:spPr>
        <p:txBody>
          <a:bodyPr wrap="square" lIns="0" tIns="0" rIns="0" bIns="0" rtlCol="0" anchor="t"/>
          <a:lstStyle/>
          <a:p>
            <a:pPr indent="0" marL="0">
              <a:buNone/>
            </a:pPr>
            <a:r>
              <a:rPr lang="en-US" sz="1500" b="1" dirty="0">
                <a:solidFill>
                  <a:schemeClr val="tx2"/>
                </a:solidFill>
              </a:rPr>
              <a:t>Request a change</a:t>
            </a:r>
            <a:endParaRPr lang="en-US" sz="1500" dirty="0"/>
          </a:p>
        </p:txBody>
      </p:sp>
      <p:sp>
        <p:nvSpPr>
          <p:cNvPr id="9" name="Text 7"/>
          <p:cNvSpPr txBox="1"/>
          <p:nvPr/>
        </p:nvSpPr>
        <p:spPr>
          <a:xfrm>
            <a:off x="731520" y="4114800"/>
            <a:ext cx="3200400" cy="1005840"/>
          </a:xfrm>
          <a:prstGeom prst="rect">
            <a:avLst/>
          </a:prstGeom>
          <a:noFill/>
          <a:ln/>
        </p:spPr>
        <p:txBody>
          <a:bodyPr wrap="square" lIns="0" tIns="0" rIns="0" bIns="0" rtlCol="0" anchor="t"/>
          <a:lstStyle/>
          <a:p>
            <a:pPr indent="0" marL="0">
              <a:buNone/>
            </a:pPr>
            <a:r>
              <a:rPr lang="en-US" sz="1250" dirty="0">
                <a:solidFill>
                  <a:schemeClr val="tx1"/>
                </a:solidFill>
              </a:rPr>
              <a:t>Evidence sufficient. A change draft carries original and proposed values, reason, evidence and open unknowns to procurement approval.</a:t>
            </a:r>
            <a:endParaRPr lang="en-US" sz="1250" dirty="0"/>
          </a:p>
        </p:txBody>
      </p:sp>
      <p:sp>
        <p:nvSpPr>
          <p:cNvPr id="10" name="Shape 8"/>
          <p:cNvSpPr/>
          <p:nvPr/>
        </p:nvSpPr>
        <p:spPr>
          <a:xfrm>
            <a:off x="4297680" y="3154680"/>
            <a:ext cx="3566160" cy="2057400"/>
          </a:xfrm>
          <a:prstGeom prst="roundRect">
            <a:avLst>
              <a:gd name="adj" fmla="val 2667"/>
            </a:avLst>
          </a:prstGeom>
          <a:solidFill>
            <a:schemeClr val="bg2"/>
          </a:solidFill>
          <a:ln w="9525">
            <a:solidFill>
              <a:srgbClr val="D9E6E1"/>
            </a:solidFill>
            <a:prstDash val="solid"/>
          </a:ln>
        </p:spPr>
      </p:sp>
      <p:sp>
        <p:nvSpPr>
          <p:cNvPr id="11" name="Shape 9"/>
          <p:cNvSpPr/>
          <p:nvPr/>
        </p:nvSpPr>
        <p:spPr>
          <a:xfrm>
            <a:off x="4480560" y="3337560"/>
            <a:ext cx="1188720" cy="292608"/>
          </a:xfrm>
          <a:prstGeom prst="rect">
            <a:avLst/>
          </a:prstGeom>
          <a:solidFill>
            <a:schemeClr val="tx2"/>
          </a:solidFill>
          <a:ln w="12700">
            <a:solidFill>
              <a:srgbClr val="D9E6E1"/>
            </a:solidFill>
            <a:prstDash val="solid"/>
          </a:ln>
        </p:spPr>
      </p:sp>
      <p:sp>
        <p:nvSpPr>
          <p:cNvPr id="12" name="Text 10"/>
          <p:cNvSpPr txBox="1"/>
          <p:nvPr/>
        </p:nvSpPr>
        <p:spPr>
          <a:xfrm>
            <a:off x="4480560" y="333756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KEEP · STOP</a:t>
            </a:r>
            <a:endParaRPr lang="en-US" sz="1100" dirty="0"/>
          </a:p>
        </p:txBody>
      </p:sp>
      <p:sp>
        <p:nvSpPr>
          <p:cNvPr id="13" name="Text 11"/>
          <p:cNvSpPr txBox="1"/>
          <p:nvPr/>
        </p:nvSpPr>
        <p:spPr>
          <a:xfrm>
            <a:off x="4480560" y="3749040"/>
            <a:ext cx="3200400" cy="320040"/>
          </a:xfrm>
          <a:prstGeom prst="rect">
            <a:avLst/>
          </a:prstGeom>
          <a:noFill/>
          <a:ln/>
        </p:spPr>
        <p:txBody>
          <a:bodyPr wrap="square" lIns="0" tIns="0" rIns="0" bIns="0" rtlCol="0" anchor="t"/>
          <a:lstStyle/>
          <a:p>
            <a:pPr indent="0" marL="0">
              <a:buNone/>
            </a:pPr>
            <a:r>
              <a:rPr lang="en-US" sz="1500" b="1" dirty="0">
                <a:solidFill>
                  <a:schemeClr val="tx2"/>
                </a:solidFill>
              </a:rPr>
              <a:t>Keep the plan / stop</a:t>
            </a:r>
            <a:endParaRPr lang="en-US" sz="1500" dirty="0"/>
          </a:p>
        </p:txBody>
      </p:sp>
      <p:sp>
        <p:nvSpPr>
          <p:cNvPr id="14" name="Text 12"/>
          <p:cNvSpPr txBox="1"/>
          <p:nvPr/>
        </p:nvSpPr>
        <p:spPr>
          <a:xfrm>
            <a:off x="4480560" y="4114800"/>
            <a:ext cx="3200400" cy="1005840"/>
          </a:xfrm>
          <a:prstGeom prst="rect">
            <a:avLst/>
          </a:prstGeom>
          <a:noFill/>
          <a:ln/>
        </p:spPr>
        <p:txBody>
          <a:bodyPr wrap="square" lIns="0" tIns="0" rIns="0" bIns="0" rtlCol="0" anchor="t"/>
          <a:lstStyle/>
          <a:p>
            <a:pPr indent="0" marL="0">
              <a:buNone/>
            </a:pPr>
            <a:r>
              <a:rPr lang="en-US" sz="1250" dirty="0">
                <a:solidFill>
                  <a:schemeClr val="tx1"/>
                </a:solidFill>
              </a:rPr>
              <a:t>Reason recorded, exception closed, original SAP plan untouched. No procurement object is created.</a:t>
            </a:r>
            <a:endParaRPr lang="en-US" sz="1250" dirty="0"/>
          </a:p>
        </p:txBody>
      </p:sp>
      <p:sp>
        <p:nvSpPr>
          <p:cNvPr id="15" name="Shape 13"/>
          <p:cNvSpPr/>
          <p:nvPr/>
        </p:nvSpPr>
        <p:spPr>
          <a:xfrm>
            <a:off x="8046720" y="3154680"/>
            <a:ext cx="3566160" cy="2057400"/>
          </a:xfrm>
          <a:prstGeom prst="roundRect">
            <a:avLst>
              <a:gd name="adj" fmla="val 2667"/>
            </a:avLst>
          </a:prstGeom>
          <a:solidFill>
            <a:schemeClr val="bg2"/>
          </a:solidFill>
          <a:ln w="9525">
            <a:solidFill>
              <a:srgbClr val="D9E6E1"/>
            </a:solidFill>
            <a:prstDash val="solid"/>
          </a:ln>
        </p:spPr>
      </p:sp>
      <p:sp>
        <p:nvSpPr>
          <p:cNvPr id="16" name="Shape 14"/>
          <p:cNvSpPr/>
          <p:nvPr/>
        </p:nvSpPr>
        <p:spPr>
          <a:xfrm>
            <a:off x="8229600" y="3337560"/>
            <a:ext cx="1188720" cy="292608"/>
          </a:xfrm>
          <a:prstGeom prst="rect">
            <a:avLst/>
          </a:prstGeom>
          <a:solidFill>
            <a:schemeClr val="accent2"/>
          </a:solidFill>
          <a:ln w="12700">
            <a:solidFill>
              <a:srgbClr val="D9E6E1"/>
            </a:solidFill>
            <a:prstDash val="solid"/>
          </a:ln>
        </p:spPr>
      </p:sp>
      <p:sp>
        <p:nvSpPr>
          <p:cNvPr id="17" name="Text 15"/>
          <p:cNvSpPr txBox="1"/>
          <p:nvPr/>
        </p:nvSpPr>
        <p:spPr>
          <a:xfrm>
            <a:off x="8229600" y="333756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WAIT</a:t>
            </a:r>
            <a:endParaRPr lang="en-US" sz="1100" dirty="0"/>
          </a:p>
        </p:txBody>
      </p:sp>
      <p:sp>
        <p:nvSpPr>
          <p:cNvPr id="18" name="Text 16"/>
          <p:cNvSpPr txBox="1"/>
          <p:nvPr/>
        </p:nvSpPr>
        <p:spPr>
          <a:xfrm>
            <a:off x="8229600" y="3749040"/>
            <a:ext cx="3200400" cy="320040"/>
          </a:xfrm>
          <a:prstGeom prst="rect">
            <a:avLst/>
          </a:prstGeom>
          <a:noFill/>
          <a:ln/>
        </p:spPr>
        <p:txBody>
          <a:bodyPr wrap="square" lIns="0" tIns="0" rIns="0" bIns="0" rtlCol="0" anchor="t"/>
          <a:lstStyle/>
          <a:p>
            <a:pPr indent="0" marL="0">
              <a:buNone/>
            </a:pPr>
            <a:r>
              <a:rPr lang="en-US" sz="1500" b="1" dirty="0">
                <a:solidFill>
                  <a:schemeClr val="tx2"/>
                </a:solidFill>
              </a:rPr>
              <a:t>Wait for specific information</a:t>
            </a:r>
            <a:endParaRPr lang="en-US" sz="1500" dirty="0"/>
          </a:p>
        </p:txBody>
      </p:sp>
      <p:sp>
        <p:nvSpPr>
          <p:cNvPr id="19" name="Text 17"/>
          <p:cNvSpPr txBox="1"/>
          <p:nvPr/>
        </p:nvSpPr>
        <p:spPr>
          <a:xfrm>
            <a:off x="8229600" y="4114800"/>
            <a:ext cx="3200400" cy="1005840"/>
          </a:xfrm>
          <a:prstGeom prst="rect">
            <a:avLst/>
          </a:prstGeom>
          <a:noFill/>
          <a:ln/>
        </p:spPr>
        <p:txBody>
          <a:bodyPr wrap="square" lIns="0" tIns="0" rIns="0" bIns="0" rtlCol="0" anchor="t"/>
          <a:lstStyle/>
          <a:p>
            <a:pPr indent="0" marL="0">
              <a:buNone/>
            </a:pPr>
            <a:r>
              <a:rPr lang="en-US" sz="1250" dirty="0">
                <a:solidFill>
                  <a:schemeClr val="tx1"/>
                </a:solidFill>
              </a:rPr>
              <a:t>A to-do with an owner, a deadline and one focused question. Resumes when the reply lands. Never a permanent hand-off of the pile to a human.</a:t>
            </a:r>
            <a:endParaRPr lang="en-US" sz="1250" dirty="0"/>
          </a:p>
        </p:txBody>
      </p:sp>
      <p:sp>
        <p:nvSpPr>
          <p:cNvPr id="20" name="Shape 18"/>
          <p:cNvSpPr/>
          <p:nvPr/>
        </p:nvSpPr>
        <p:spPr>
          <a:xfrm>
            <a:off x="548640" y="5440680"/>
            <a:ext cx="11064240" cy="777240"/>
          </a:xfrm>
          <a:prstGeom prst="roundRect">
            <a:avLst>
              <a:gd name="adj" fmla="val 7059"/>
            </a:avLst>
          </a:prstGeom>
          <a:solidFill>
            <a:schemeClr val="bg1"/>
          </a:solidFill>
          <a:ln w="12700">
            <a:solidFill>
              <a:srgbClr val="C8781E"/>
            </a:solidFill>
            <a:prstDash val="solid"/>
          </a:ln>
        </p:spPr>
      </p:sp>
      <p:sp>
        <p:nvSpPr>
          <p:cNvPr id="21" name="Text 19"/>
          <p:cNvSpPr txBox="1"/>
          <p:nvPr/>
        </p:nvSpPr>
        <p:spPr>
          <a:xfrm>
            <a:off x="822960" y="5577840"/>
            <a:ext cx="10515600" cy="548640"/>
          </a:xfrm>
          <a:prstGeom prst="rect">
            <a:avLst/>
          </a:prstGeom>
          <a:noFill/>
          <a:ln/>
        </p:spPr>
        <p:txBody>
          <a:bodyPr wrap="square" lIns="0" tIns="0" rIns="0" bIns="0" rtlCol="0" anchor="t"/>
          <a:lstStyle/>
          <a:p>
            <a:pPr indent="0" marL="0">
              <a:buNone/>
            </a:pPr>
            <a:r>
              <a:rPr lang="en-US" sz="1250" b="1" dirty="0">
                <a:solidFill>
                  <a:schemeClr val="accent2"/>
                </a:solidFill>
              </a:rPr>
              <a:t>Quantity boundary.  </a:t>
            </a:r>
            <a:pPr indent="0" marL="0">
              <a:buNone/>
            </a:pPr>
            <a:r>
              <a:rPr lang="en-US" sz="1250" dirty="0">
                <a:solidFill>
                  <a:schemeClr val="tx1"/>
                </a:solidFill>
              </a:rPr>
              <a:t>The only quantity basis is a request the buyer has already approved, or an explicit calculation rule. The Agent decides whether the reply keeps that request feasible. Abundant supply never becomes demand.</a:t>
            </a:r>
            <a:endParaRPr lang="en-US" sz="12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How it works: one loop, three kinds of authority</a:t>
            </a:r>
            <a:endParaRPr lang="en-US" sz="3000" dirty="0"/>
          </a:p>
        </p:txBody>
      </p:sp>
      <p:sp>
        <p:nvSpPr>
          <p:cNvPr id="3" name="Shape 1"/>
          <p:cNvSpPr/>
          <p:nvPr/>
        </p:nvSpPr>
        <p:spPr>
          <a:xfrm>
            <a:off x="548640" y="1600200"/>
            <a:ext cx="1417320" cy="960120"/>
          </a:xfrm>
          <a:prstGeom prst="roundRect">
            <a:avLst>
              <a:gd name="adj" fmla="val 5714"/>
            </a:avLst>
          </a:prstGeom>
          <a:solidFill>
            <a:schemeClr val="bg2"/>
          </a:solidFill>
          <a:ln w="9525">
            <a:solidFill>
              <a:srgbClr val="D9E6E1"/>
            </a:solidFill>
            <a:prstDash val="solid"/>
          </a:ln>
        </p:spPr>
      </p:sp>
      <p:sp>
        <p:nvSpPr>
          <p:cNvPr id="4" name="Text 2"/>
          <p:cNvSpPr txBox="1"/>
          <p:nvPr/>
        </p:nvSpPr>
        <p:spPr>
          <a:xfrm>
            <a:off x="621792" y="1600200"/>
            <a:ext cx="1271016" cy="960120"/>
          </a:xfrm>
          <a:prstGeom prst="rect">
            <a:avLst/>
          </a:prstGeom>
          <a:noFill/>
          <a:ln/>
        </p:spPr>
        <p:txBody>
          <a:bodyPr wrap="square" lIns="0" tIns="0" rIns="0" bIns="0" rtlCol="0" anchor="ctr"/>
          <a:lstStyle/>
          <a:p>
            <a:pPr algn="ctr" indent="0" marL="0">
              <a:buNone/>
            </a:pPr>
            <a:r>
              <a:rPr lang="en-US" sz="1200" b="1" dirty="0">
                <a:solidFill>
                  <a:schemeClr val="tx1"/>
                </a:solidFill>
              </a:rPr>
              <a:t>Supplier email arrives</a:t>
            </a:r>
            <a:endParaRPr lang="en-US" sz="1200" dirty="0"/>
          </a:p>
        </p:txBody>
      </p:sp>
      <p:sp>
        <p:nvSpPr>
          <p:cNvPr id="5" name="Shape 3"/>
          <p:cNvSpPr/>
          <p:nvPr/>
        </p:nvSpPr>
        <p:spPr>
          <a:xfrm>
            <a:off x="1984248" y="1965960"/>
            <a:ext cx="146304" cy="228600"/>
          </a:xfrm>
          <a:prstGeom prst="rightArrow">
            <a:avLst/>
          </a:prstGeom>
          <a:solidFill>
            <a:schemeClr val="accent4"/>
          </a:solidFill>
          <a:ln w="12700">
            <a:solidFill>
              <a:srgbClr val="557078"/>
            </a:solidFill>
            <a:prstDash val="solid"/>
          </a:ln>
        </p:spPr>
      </p:sp>
      <p:sp>
        <p:nvSpPr>
          <p:cNvPr id="6" name="Shape 4"/>
          <p:cNvSpPr/>
          <p:nvPr/>
        </p:nvSpPr>
        <p:spPr>
          <a:xfrm>
            <a:off x="2148840" y="1600200"/>
            <a:ext cx="1417320" cy="960120"/>
          </a:xfrm>
          <a:prstGeom prst="roundRect">
            <a:avLst>
              <a:gd name="adj" fmla="val 5714"/>
            </a:avLst>
          </a:prstGeom>
          <a:solidFill>
            <a:schemeClr val="bg2"/>
          </a:solidFill>
          <a:ln w="9525">
            <a:solidFill>
              <a:srgbClr val="D9E6E1"/>
            </a:solidFill>
            <a:prstDash val="solid"/>
          </a:ln>
        </p:spPr>
      </p:sp>
      <p:sp>
        <p:nvSpPr>
          <p:cNvPr id="7" name="Text 5"/>
          <p:cNvSpPr txBox="1"/>
          <p:nvPr/>
        </p:nvSpPr>
        <p:spPr>
          <a:xfrm>
            <a:off x="2221992" y="1600200"/>
            <a:ext cx="1271016" cy="960120"/>
          </a:xfrm>
          <a:prstGeom prst="rect">
            <a:avLst/>
          </a:prstGeom>
          <a:noFill/>
          <a:ln/>
        </p:spPr>
        <p:txBody>
          <a:bodyPr wrap="square" lIns="0" tIns="0" rIns="0" bIns="0" rtlCol="0" anchor="ctr"/>
          <a:lstStyle/>
          <a:p>
            <a:pPr algn="ctr" indent="0" marL="0">
              <a:buNone/>
            </a:pPr>
            <a:r>
              <a:rPr lang="en-US" sz="1200" b="1" dirty="0">
                <a:solidFill>
                  <a:schemeClr val="tx1"/>
                </a:solidFill>
              </a:rPr>
              <a:t>Matched to the open case</a:t>
            </a:r>
            <a:endParaRPr lang="en-US" sz="1200" dirty="0"/>
          </a:p>
        </p:txBody>
      </p:sp>
      <p:sp>
        <p:nvSpPr>
          <p:cNvPr id="8" name="Shape 6"/>
          <p:cNvSpPr/>
          <p:nvPr/>
        </p:nvSpPr>
        <p:spPr>
          <a:xfrm>
            <a:off x="3584448" y="1965960"/>
            <a:ext cx="146304" cy="228600"/>
          </a:xfrm>
          <a:prstGeom prst="rightArrow">
            <a:avLst/>
          </a:prstGeom>
          <a:solidFill>
            <a:schemeClr val="accent4"/>
          </a:solidFill>
          <a:ln w="12700">
            <a:solidFill>
              <a:srgbClr val="557078"/>
            </a:solidFill>
            <a:prstDash val="solid"/>
          </a:ln>
        </p:spPr>
      </p:sp>
      <p:sp>
        <p:nvSpPr>
          <p:cNvPr id="9" name="Shape 7"/>
          <p:cNvSpPr/>
          <p:nvPr/>
        </p:nvSpPr>
        <p:spPr>
          <a:xfrm>
            <a:off x="3749040" y="1600200"/>
            <a:ext cx="1417320" cy="960120"/>
          </a:xfrm>
          <a:prstGeom prst="roundRect">
            <a:avLst>
              <a:gd name="adj" fmla="val 5714"/>
            </a:avLst>
          </a:prstGeom>
          <a:solidFill>
            <a:schemeClr val="tx1"/>
          </a:solidFill>
          <a:ln w="9525">
            <a:solidFill>
              <a:srgbClr val="D9E6E1"/>
            </a:solidFill>
            <a:prstDash val="solid"/>
          </a:ln>
        </p:spPr>
      </p:sp>
      <p:sp>
        <p:nvSpPr>
          <p:cNvPr id="10" name="Text 8"/>
          <p:cNvSpPr txBox="1"/>
          <p:nvPr/>
        </p:nvSpPr>
        <p:spPr>
          <a:xfrm>
            <a:off x="3822192" y="1600200"/>
            <a:ext cx="1271016" cy="960120"/>
          </a:xfrm>
          <a:prstGeom prst="rect">
            <a:avLst/>
          </a:prstGeom>
          <a:noFill/>
          <a:ln/>
        </p:spPr>
        <p:txBody>
          <a:bodyPr wrap="square" lIns="0" tIns="0" rIns="0" bIns="0" rtlCol="0" anchor="ctr"/>
          <a:lstStyle/>
          <a:p>
            <a:pPr algn="ctr" indent="0" marL="0">
              <a:buNone/>
            </a:pPr>
            <a:r>
              <a:rPr lang="en-US" sz="1200" b="1" dirty="0">
                <a:solidFill>
                  <a:schemeClr val="bg1"/>
                </a:solidFill>
              </a:rPr>
              <a:t>Evidence review by the model</a:t>
            </a:r>
            <a:endParaRPr lang="en-US" sz="1200" dirty="0"/>
          </a:p>
        </p:txBody>
      </p:sp>
      <p:sp>
        <p:nvSpPr>
          <p:cNvPr id="11" name="Shape 9"/>
          <p:cNvSpPr/>
          <p:nvPr/>
        </p:nvSpPr>
        <p:spPr>
          <a:xfrm>
            <a:off x="5184648" y="1965960"/>
            <a:ext cx="146304" cy="228600"/>
          </a:xfrm>
          <a:prstGeom prst="rightArrow">
            <a:avLst/>
          </a:prstGeom>
          <a:solidFill>
            <a:schemeClr val="accent4"/>
          </a:solidFill>
          <a:ln w="12700">
            <a:solidFill>
              <a:srgbClr val="557078"/>
            </a:solidFill>
            <a:prstDash val="solid"/>
          </a:ln>
        </p:spPr>
      </p:sp>
      <p:sp>
        <p:nvSpPr>
          <p:cNvPr id="12" name="Shape 10"/>
          <p:cNvSpPr/>
          <p:nvPr/>
        </p:nvSpPr>
        <p:spPr>
          <a:xfrm>
            <a:off x="5349240" y="1600200"/>
            <a:ext cx="1417320" cy="960120"/>
          </a:xfrm>
          <a:prstGeom prst="roundRect">
            <a:avLst>
              <a:gd name="adj" fmla="val 5714"/>
            </a:avLst>
          </a:prstGeom>
          <a:solidFill>
            <a:schemeClr val="accent1"/>
          </a:solidFill>
          <a:ln w="9525">
            <a:solidFill>
              <a:srgbClr val="D9E6E1"/>
            </a:solidFill>
            <a:prstDash val="solid"/>
          </a:ln>
        </p:spPr>
      </p:sp>
      <p:sp>
        <p:nvSpPr>
          <p:cNvPr id="13" name="Text 11"/>
          <p:cNvSpPr txBox="1"/>
          <p:nvPr/>
        </p:nvSpPr>
        <p:spPr>
          <a:xfrm>
            <a:off x="5422392" y="1600200"/>
            <a:ext cx="1271016" cy="960120"/>
          </a:xfrm>
          <a:prstGeom prst="rect">
            <a:avLst/>
          </a:prstGeom>
          <a:noFill/>
          <a:ln/>
        </p:spPr>
        <p:txBody>
          <a:bodyPr wrap="square" lIns="0" tIns="0" rIns="0" bIns="0" rtlCol="0" anchor="ctr"/>
          <a:lstStyle/>
          <a:p>
            <a:pPr algn="ctr" indent="0" marL="0">
              <a:buNone/>
            </a:pPr>
            <a:r>
              <a:rPr lang="en-US" sz="1200" b="1" dirty="0">
                <a:solidFill>
                  <a:schemeClr val="bg1"/>
                </a:solidFill>
              </a:rPr>
              <a:t>Rule validation and model audit</a:t>
            </a:r>
            <a:endParaRPr lang="en-US" sz="1200" dirty="0"/>
          </a:p>
        </p:txBody>
      </p:sp>
      <p:sp>
        <p:nvSpPr>
          <p:cNvPr id="14" name="Shape 12"/>
          <p:cNvSpPr/>
          <p:nvPr/>
        </p:nvSpPr>
        <p:spPr>
          <a:xfrm>
            <a:off x="6784848" y="1965960"/>
            <a:ext cx="146304" cy="228600"/>
          </a:xfrm>
          <a:prstGeom prst="rightArrow">
            <a:avLst/>
          </a:prstGeom>
          <a:solidFill>
            <a:schemeClr val="accent4"/>
          </a:solidFill>
          <a:ln w="12700">
            <a:solidFill>
              <a:srgbClr val="557078"/>
            </a:solidFill>
            <a:prstDash val="solid"/>
          </a:ln>
        </p:spPr>
      </p:sp>
      <p:sp>
        <p:nvSpPr>
          <p:cNvPr id="15" name="Shape 13"/>
          <p:cNvSpPr/>
          <p:nvPr/>
        </p:nvSpPr>
        <p:spPr>
          <a:xfrm>
            <a:off x="6949440" y="1600200"/>
            <a:ext cx="1417320" cy="960120"/>
          </a:xfrm>
          <a:prstGeom prst="roundRect">
            <a:avLst>
              <a:gd name="adj" fmla="val 5714"/>
            </a:avLst>
          </a:prstGeom>
          <a:solidFill>
            <a:schemeClr val="accent2"/>
          </a:solidFill>
          <a:ln w="9525">
            <a:solidFill>
              <a:srgbClr val="D9E6E1"/>
            </a:solidFill>
            <a:prstDash val="solid"/>
          </a:ln>
        </p:spPr>
      </p:sp>
      <p:sp>
        <p:nvSpPr>
          <p:cNvPr id="16" name="Text 14"/>
          <p:cNvSpPr txBox="1"/>
          <p:nvPr/>
        </p:nvSpPr>
        <p:spPr>
          <a:xfrm>
            <a:off x="7022592" y="1600200"/>
            <a:ext cx="1271016" cy="960120"/>
          </a:xfrm>
          <a:prstGeom prst="rect">
            <a:avLst/>
          </a:prstGeom>
          <a:noFill/>
          <a:ln/>
        </p:spPr>
        <p:txBody>
          <a:bodyPr wrap="square" lIns="0" tIns="0" rIns="0" bIns="0" rtlCol="0" anchor="ctr"/>
          <a:lstStyle/>
          <a:p>
            <a:pPr algn="ctr" indent="0" marL="0">
              <a:buNone/>
            </a:pPr>
            <a:r>
              <a:rPr lang="en-US" sz="1200" b="1" dirty="0">
                <a:solidFill>
                  <a:schemeClr val="bg1"/>
                </a:solidFill>
              </a:rPr>
              <a:t>Supplier authorises disclosure</a:t>
            </a:r>
            <a:endParaRPr lang="en-US" sz="1200" dirty="0"/>
          </a:p>
        </p:txBody>
      </p:sp>
      <p:sp>
        <p:nvSpPr>
          <p:cNvPr id="17" name="Shape 15"/>
          <p:cNvSpPr/>
          <p:nvPr/>
        </p:nvSpPr>
        <p:spPr>
          <a:xfrm>
            <a:off x="8385048" y="1965960"/>
            <a:ext cx="146304" cy="228600"/>
          </a:xfrm>
          <a:prstGeom prst="rightArrow">
            <a:avLst/>
          </a:prstGeom>
          <a:solidFill>
            <a:schemeClr val="accent4"/>
          </a:solidFill>
          <a:ln w="12700">
            <a:solidFill>
              <a:srgbClr val="557078"/>
            </a:solidFill>
            <a:prstDash val="solid"/>
          </a:ln>
        </p:spPr>
      </p:sp>
      <p:sp>
        <p:nvSpPr>
          <p:cNvPr id="18" name="Shape 16"/>
          <p:cNvSpPr/>
          <p:nvPr/>
        </p:nvSpPr>
        <p:spPr>
          <a:xfrm>
            <a:off x="8549640" y="1600200"/>
            <a:ext cx="1417320" cy="960120"/>
          </a:xfrm>
          <a:prstGeom prst="roundRect">
            <a:avLst>
              <a:gd name="adj" fmla="val 5714"/>
            </a:avLst>
          </a:prstGeom>
          <a:solidFill>
            <a:schemeClr val="accent2"/>
          </a:solidFill>
          <a:ln w="9525">
            <a:solidFill>
              <a:srgbClr val="D9E6E1"/>
            </a:solidFill>
            <a:prstDash val="solid"/>
          </a:ln>
        </p:spPr>
      </p:sp>
      <p:sp>
        <p:nvSpPr>
          <p:cNvPr id="19" name="Text 17"/>
          <p:cNvSpPr txBox="1"/>
          <p:nvPr/>
        </p:nvSpPr>
        <p:spPr>
          <a:xfrm>
            <a:off x="8622792" y="1600200"/>
            <a:ext cx="1271016" cy="960120"/>
          </a:xfrm>
          <a:prstGeom prst="rect">
            <a:avLst/>
          </a:prstGeom>
          <a:noFill/>
          <a:ln/>
        </p:spPr>
        <p:txBody>
          <a:bodyPr wrap="square" lIns="0" tIns="0" rIns="0" bIns="0" rtlCol="0" anchor="ctr"/>
          <a:lstStyle/>
          <a:p>
            <a:pPr algn="ctr" indent="0" marL="0">
              <a:buNone/>
            </a:pPr>
            <a:r>
              <a:rPr lang="en-US" sz="1200" b="1" dirty="0">
                <a:solidFill>
                  <a:schemeClr val="bg1"/>
                </a:solidFill>
              </a:rPr>
              <a:t>Planner decides</a:t>
            </a:r>
            <a:endParaRPr lang="en-US" sz="1200" dirty="0"/>
          </a:p>
        </p:txBody>
      </p:sp>
      <p:sp>
        <p:nvSpPr>
          <p:cNvPr id="20" name="Shape 18"/>
          <p:cNvSpPr/>
          <p:nvPr/>
        </p:nvSpPr>
        <p:spPr>
          <a:xfrm>
            <a:off x="9985248" y="1965960"/>
            <a:ext cx="146304" cy="228600"/>
          </a:xfrm>
          <a:prstGeom prst="rightArrow">
            <a:avLst/>
          </a:prstGeom>
          <a:solidFill>
            <a:schemeClr val="accent4"/>
          </a:solidFill>
          <a:ln w="12700">
            <a:solidFill>
              <a:srgbClr val="557078"/>
            </a:solidFill>
            <a:prstDash val="solid"/>
          </a:ln>
        </p:spPr>
      </p:sp>
      <p:sp>
        <p:nvSpPr>
          <p:cNvPr id="21" name="Shape 19"/>
          <p:cNvSpPr/>
          <p:nvPr/>
        </p:nvSpPr>
        <p:spPr>
          <a:xfrm>
            <a:off x="10149840" y="1600200"/>
            <a:ext cx="1417320" cy="960120"/>
          </a:xfrm>
          <a:prstGeom prst="roundRect">
            <a:avLst>
              <a:gd name="adj" fmla="val 5714"/>
            </a:avLst>
          </a:prstGeom>
          <a:solidFill>
            <a:schemeClr val="bg2"/>
          </a:solidFill>
          <a:ln w="9525">
            <a:solidFill>
              <a:srgbClr val="D9E6E1"/>
            </a:solidFill>
            <a:prstDash val="solid"/>
          </a:ln>
        </p:spPr>
      </p:sp>
      <p:sp>
        <p:nvSpPr>
          <p:cNvPr id="22" name="Text 20"/>
          <p:cNvSpPr txBox="1"/>
          <p:nvPr/>
        </p:nvSpPr>
        <p:spPr>
          <a:xfrm>
            <a:off x="10222992" y="1600200"/>
            <a:ext cx="1271016" cy="960120"/>
          </a:xfrm>
          <a:prstGeom prst="rect">
            <a:avLst/>
          </a:prstGeom>
          <a:noFill/>
          <a:ln/>
        </p:spPr>
        <p:txBody>
          <a:bodyPr wrap="square" lIns="0" tIns="0" rIns="0" bIns="0" rtlCol="0" anchor="ctr"/>
          <a:lstStyle/>
          <a:p>
            <a:pPr algn="ctr" indent="0" marL="0">
              <a:buNone/>
            </a:pPr>
            <a:r>
              <a:rPr lang="en-US" sz="1200" b="1" dirty="0">
                <a:solidFill>
                  <a:schemeClr val="tx1"/>
                </a:solidFill>
              </a:rPr>
              <a:t>Procurement sandbox receipt</a:t>
            </a:r>
            <a:endParaRPr lang="en-US" sz="1200" dirty="0"/>
          </a:p>
        </p:txBody>
      </p:sp>
      <p:sp>
        <p:nvSpPr>
          <p:cNvPr id="23" name="Shape 21"/>
          <p:cNvSpPr/>
          <p:nvPr/>
        </p:nvSpPr>
        <p:spPr>
          <a:xfrm>
            <a:off x="548640" y="2926080"/>
            <a:ext cx="3566160" cy="2560320"/>
          </a:xfrm>
          <a:prstGeom prst="roundRect">
            <a:avLst>
              <a:gd name="adj" fmla="val 2143"/>
            </a:avLst>
          </a:prstGeom>
          <a:solidFill>
            <a:schemeClr val="bg2"/>
          </a:solidFill>
          <a:ln w="9525">
            <a:solidFill>
              <a:srgbClr val="D9E6E1"/>
            </a:solidFill>
            <a:prstDash val="solid"/>
          </a:ln>
        </p:spPr>
      </p:sp>
      <p:sp>
        <p:nvSpPr>
          <p:cNvPr id="24" name="Shape 22"/>
          <p:cNvSpPr/>
          <p:nvPr/>
        </p:nvSpPr>
        <p:spPr>
          <a:xfrm>
            <a:off x="731520" y="3108960"/>
            <a:ext cx="1463040" cy="310896"/>
          </a:xfrm>
          <a:prstGeom prst="rect">
            <a:avLst/>
          </a:prstGeom>
          <a:solidFill>
            <a:schemeClr val="tx1"/>
          </a:solidFill>
          <a:ln w="12700">
            <a:solidFill>
              <a:srgbClr val="D9E6E1"/>
            </a:solidFill>
            <a:prstDash val="solid"/>
          </a:ln>
        </p:spPr>
      </p:sp>
      <p:sp>
        <p:nvSpPr>
          <p:cNvPr id="25" name="Text 23"/>
          <p:cNvSpPr txBox="1"/>
          <p:nvPr/>
        </p:nvSpPr>
        <p:spPr>
          <a:xfrm>
            <a:off x="731520" y="31089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rPr>
              <a:t>Model may</a:t>
            </a:r>
            <a:endParaRPr lang="en-US" sz="1200" dirty="0"/>
          </a:p>
        </p:txBody>
      </p:sp>
      <p:sp>
        <p:nvSpPr>
          <p:cNvPr id="26" name="Text 24"/>
          <p:cNvSpPr txBox="1"/>
          <p:nvPr/>
        </p:nvSpPr>
        <p:spPr>
          <a:xfrm>
            <a:off x="731520" y="3611880"/>
            <a:ext cx="3200400" cy="17373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Discover and read authorised sources</a:t>
            </a:r>
            <a:endParaRPr lang="en-US" sz="1250" dirty="0"/>
          </a:p>
          <a:p>
            <a:pPr marL="177800" indent="-177800">
              <a:spcAft>
                <a:spcPts val="500"/>
              </a:spcAft>
              <a:buSzPct val="100000"/>
              <a:buChar char="•"/>
            </a:pPr>
            <a:r>
              <a:rPr lang="en-US" sz="1250" dirty="0">
                <a:solidFill>
                  <a:schemeClr val="tx1"/>
                </a:solidFill>
              </a:rPr>
              <a:t>Write cited interpretations and reconcile replies</a:t>
            </a:r>
            <a:endParaRPr lang="en-US" sz="1250" dirty="0"/>
          </a:p>
          <a:p>
            <a:pPr marL="177800" indent="-177800">
              <a:spcAft>
                <a:spcPts val="500"/>
              </a:spcAft>
              <a:buSzPct val="100000"/>
              <a:buChar char="•"/>
            </a:pPr>
            <a:r>
              <a:rPr lang="en-US" sz="1250" dirty="0">
                <a:solidFill>
                  <a:schemeClr val="tx1"/>
                </a:solidFill>
              </a:rPr>
              <a:t>Identify unanswered conditions</a:t>
            </a:r>
            <a:endParaRPr lang="en-US" sz="1250" dirty="0"/>
          </a:p>
          <a:p>
            <a:pPr marL="177800" indent="-177800">
              <a:spcAft>
                <a:spcPts val="500"/>
              </a:spcAft>
              <a:buSzPct val="100000"/>
              <a:buChar char="•"/>
            </a:pPr>
            <a:r>
              <a:rPr lang="en-US" sz="1250" dirty="0">
                <a:solidFill>
                  <a:schemeClr val="tx1"/>
                </a:solidFill>
              </a:rPr>
              <a:t>Draft one focused next action or a change draft</a:t>
            </a:r>
            <a:endParaRPr lang="en-US" sz="1250" dirty="0"/>
          </a:p>
        </p:txBody>
      </p:sp>
      <p:sp>
        <p:nvSpPr>
          <p:cNvPr id="27" name="Shape 25"/>
          <p:cNvSpPr/>
          <p:nvPr/>
        </p:nvSpPr>
        <p:spPr>
          <a:xfrm>
            <a:off x="4297680" y="2926080"/>
            <a:ext cx="3566160" cy="2560320"/>
          </a:xfrm>
          <a:prstGeom prst="roundRect">
            <a:avLst>
              <a:gd name="adj" fmla="val 2143"/>
            </a:avLst>
          </a:prstGeom>
          <a:solidFill>
            <a:schemeClr val="bg2"/>
          </a:solidFill>
          <a:ln w="9525">
            <a:solidFill>
              <a:srgbClr val="D9E6E1"/>
            </a:solidFill>
            <a:prstDash val="solid"/>
          </a:ln>
        </p:spPr>
      </p:sp>
      <p:sp>
        <p:nvSpPr>
          <p:cNvPr id="28" name="Shape 26"/>
          <p:cNvSpPr/>
          <p:nvPr/>
        </p:nvSpPr>
        <p:spPr>
          <a:xfrm>
            <a:off x="4480560" y="3108960"/>
            <a:ext cx="1463040" cy="310896"/>
          </a:xfrm>
          <a:prstGeom prst="rect">
            <a:avLst/>
          </a:prstGeom>
          <a:solidFill>
            <a:schemeClr val="accent1"/>
          </a:solidFill>
          <a:ln w="12700">
            <a:solidFill>
              <a:srgbClr val="D9E6E1"/>
            </a:solidFill>
            <a:prstDash val="solid"/>
          </a:ln>
        </p:spPr>
      </p:sp>
      <p:sp>
        <p:nvSpPr>
          <p:cNvPr id="29" name="Text 27"/>
          <p:cNvSpPr txBox="1"/>
          <p:nvPr/>
        </p:nvSpPr>
        <p:spPr>
          <a:xfrm>
            <a:off x="4480560" y="31089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rPr>
              <a:t>Rules enforce</a:t>
            </a:r>
            <a:endParaRPr lang="en-US" sz="1200" dirty="0"/>
          </a:p>
        </p:txBody>
      </p:sp>
      <p:sp>
        <p:nvSpPr>
          <p:cNvPr id="30" name="Text 28"/>
          <p:cNvSpPr txBox="1"/>
          <p:nvPr/>
        </p:nvSpPr>
        <p:spPr>
          <a:xfrm>
            <a:off x="4480560" y="3611880"/>
            <a:ext cx="3200400" cy="17373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Exact quotation of a source actually read</a:t>
            </a:r>
            <a:endParaRPr lang="en-US" sz="1250" dirty="0"/>
          </a:p>
          <a:p>
            <a:pPr marL="177800" indent="-177800">
              <a:spcAft>
                <a:spcPts val="500"/>
              </a:spcAft>
              <a:buSzPct val="100000"/>
              <a:buChar char="•"/>
            </a:pPr>
            <a:r>
              <a:rPr lang="en-US" sz="1250" dirty="0">
                <a:solidFill>
                  <a:schemeClr val="tx1"/>
                </a:solidFill>
              </a:rPr>
              <a:t>Required condition coverage; unknown stays unknown</a:t>
            </a:r>
            <a:endParaRPr lang="en-US" sz="1250" dirty="0"/>
          </a:p>
          <a:p>
            <a:pPr marL="177800" indent="-177800">
              <a:spcAft>
                <a:spcPts val="500"/>
              </a:spcAft>
              <a:buSzPct val="100000"/>
              <a:buChar char="•"/>
            </a:pPr>
            <a:r>
              <a:rPr lang="en-US" sz="1250" dirty="0">
                <a:solidFill>
                  <a:schemeClr val="tx1"/>
                </a:solidFill>
              </a:rPr>
              <a:t>Retained baseline; typed timing and quantity consistency</a:t>
            </a:r>
            <a:endParaRPr lang="en-US" sz="1250" dirty="0"/>
          </a:p>
          <a:p>
            <a:pPr marL="177800" indent="-177800">
              <a:spcAft>
                <a:spcPts val="500"/>
              </a:spcAft>
              <a:buSzPct val="100000"/>
              <a:buChar char="•"/>
            </a:pPr>
            <a:r>
              <a:rPr lang="en-US" sz="1250" dirty="0">
                <a:solidFill>
                  <a:schemeClr val="tx1"/>
                </a:solidFill>
              </a:rPr>
              <a:t>Disclosure boundary, call cap, budget stop</a:t>
            </a:r>
            <a:endParaRPr lang="en-US" sz="1250" dirty="0"/>
          </a:p>
        </p:txBody>
      </p:sp>
      <p:sp>
        <p:nvSpPr>
          <p:cNvPr id="31" name="Shape 29"/>
          <p:cNvSpPr/>
          <p:nvPr/>
        </p:nvSpPr>
        <p:spPr>
          <a:xfrm>
            <a:off x="8046720" y="2926080"/>
            <a:ext cx="3566160" cy="2560320"/>
          </a:xfrm>
          <a:prstGeom prst="roundRect">
            <a:avLst>
              <a:gd name="adj" fmla="val 2143"/>
            </a:avLst>
          </a:prstGeom>
          <a:solidFill>
            <a:schemeClr val="bg2"/>
          </a:solidFill>
          <a:ln w="9525">
            <a:solidFill>
              <a:srgbClr val="D9E6E1"/>
            </a:solidFill>
            <a:prstDash val="solid"/>
          </a:ln>
        </p:spPr>
      </p:sp>
      <p:sp>
        <p:nvSpPr>
          <p:cNvPr id="32" name="Shape 30"/>
          <p:cNvSpPr/>
          <p:nvPr/>
        </p:nvSpPr>
        <p:spPr>
          <a:xfrm>
            <a:off x="8229600" y="3108960"/>
            <a:ext cx="1463040" cy="310896"/>
          </a:xfrm>
          <a:prstGeom prst="rect">
            <a:avLst/>
          </a:prstGeom>
          <a:solidFill>
            <a:schemeClr val="accent2"/>
          </a:solidFill>
          <a:ln w="12700">
            <a:solidFill>
              <a:srgbClr val="D9E6E1"/>
            </a:solidFill>
            <a:prstDash val="solid"/>
          </a:ln>
        </p:spPr>
      </p:sp>
      <p:sp>
        <p:nvSpPr>
          <p:cNvPr id="33" name="Text 31"/>
          <p:cNvSpPr txBox="1"/>
          <p:nvPr/>
        </p:nvSpPr>
        <p:spPr>
          <a:xfrm>
            <a:off x="8229600" y="31089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rPr>
              <a:t>Humans hold</a:t>
            </a:r>
            <a:endParaRPr lang="en-US" sz="1200" dirty="0"/>
          </a:p>
        </p:txBody>
      </p:sp>
      <p:sp>
        <p:nvSpPr>
          <p:cNvPr id="34" name="Text 32"/>
          <p:cNvSpPr txBox="1"/>
          <p:nvPr/>
        </p:nvSpPr>
        <p:spPr>
          <a:xfrm>
            <a:off x="8229600" y="3611880"/>
            <a:ext cx="3200400" cy="17373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Supplier: what is disclosed, and when</a:t>
            </a:r>
            <a:endParaRPr lang="en-US" sz="1250" dirty="0"/>
          </a:p>
          <a:p>
            <a:pPr marL="177800" indent="-177800">
              <a:spcAft>
                <a:spcPts val="500"/>
              </a:spcAft>
              <a:buSzPct val="100000"/>
              <a:buChar char="•"/>
            </a:pPr>
            <a:r>
              <a:rPr lang="en-US" sz="1250" dirty="0">
                <a:solidFill>
                  <a:schemeClr val="tx1"/>
                </a:solidFill>
              </a:rPr>
              <a:t>Planner: investigate, stop, or submit a change</a:t>
            </a:r>
            <a:endParaRPr lang="en-US" sz="1250" dirty="0"/>
          </a:p>
          <a:p>
            <a:pPr marL="177800" indent="-177800">
              <a:spcAft>
                <a:spcPts val="500"/>
              </a:spcAft>
              <a:buSzPct val="100000"/>
              <a:buChar char="•"/>
            </a:pPr>
            <a:r>
              <a:rPr lang="en-US" sz="1250" dirty="0">
                <a:solidFill>
                  <a:schemeClr val="tx1"/>
                </a:solidFill>
              </a:rPr>
              <a:t>Procurement approver: release or return</a:t>
            </a:r>
            <a:endParaRPr lang="en-US" sz="1250" dirty="0"/>
          </a:p>
          <a:p>
            <a:pPr marL="177800" indent="-177800">
              <a:spcAft>
                <a:spcPts val="500"/>
              </a:spcAft>
              <a:buSzPct val="100000"/>
              <a:buChar char="•"/>
            </a:pPr>
            <a:r>
              <a:rPr lang="en-US" sz="1250" dirty="0">
                <a:solidFill>
                  <a:schemeClr val="tx1"/>
                </a:solidFill>
              </a:rPr>
              <a:t>Nothing is bought, booked or sent without one of them</a:t>
            </a:r>
            <a:endParaRPr lang="en-US" sz="1250" dirty="0"/>
          </a:p>
        </p:txBody>
      </p:sp>
      <p:sp>
        <p:nvSpPr>
          <p:cNvPr id="35" name="Text 33"/>
          <p:cNvSpPr txBox="1"/>
          <p:nvPr/>
        </p:nvSpPr>
        <p:spPr>
          <a:xfrm>
            <a:off x="548640" y="5669280"/>
            <a:ext cx="10972800" cy="320040"/>
          </a:xfrm>
          <a:prstGeom prst="rect">
            <a:avLst/>
          </a:prstGeom>
          <a:noFill/>
          <a:ln/>
        </p:spPr>
        <p:txBody>
          <a:bodyPr wrap="square" lIns="0" tIns="0" rIns="0" bIns="0" rtlCol="0" anchor="t"/>
          <a:lstStyle/>
          <a:p>
            <a:pPr indent="0" marL="0">
              <a:buNone/>
            </a:pPr>
            <a:r>
              <a:rPr lang="en-US" sz="1150" dirty="0">
                <a:solidFill>
                  <a:schemeClr val="accent4"/>
                </a:solidFill>
              </a:rPr>
              <a:t>Colours in the flow match the bands: dark is model work, teal is rules, amber is a human decision. The rule layer, not the model, decides what the next permitted action is.</a:t>
            </a:r>
            <a:endParaRPr lang="en-US" sz="11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What exists today, and what each piece does and does not prove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743200"/>
                <a:gridCol w="1051560"/>
                <a:gridCol w="4069080"/>
                <a:gridCol w="32004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Proves</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Does not prove</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r>
              <a:tr h="749808">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v50 task workspace, deployed (Site version 37)</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Built</a:t>
                      </a:r>
                      <a:endParaRPr lang="en-US" sz="11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16765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Pinned trigger and plan, decision card over retained real-model records, browser-local procurement packet; six offline tests and a browser walkthrough</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Any order, SAP write, labour saving or realised profit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v51 interactive supplier reply flow</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557078"/>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Edit, save, Agent check, authorise, planner update; re-edit invalidates the check</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Nothing yet: no validation record exists; not cited in this deck</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Real-model tests A/B/C and the correction loop (v48–v49)</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Real-model</a:t>
                      </a:r>
                      <a:endParaRPr lang="en-US" sz="11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14353A"/>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Claude Sonnet 4.6 reached a conditional 140-case proposal, a zero-case result, and one failure that was caught, quarantined and repaired with linked records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A success rate; robustness on unseen real documents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77724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Procurement sandbox, reference client, 41 tests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Built</a:t>
                      </a:r>
                      <a:endParaRPr lang="en-US" sz="11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16765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S/4HANA-shaped write path with CSRF, roles, ETags, idempotency, duplicate guard, stale-baseline 412, fault injection, audit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SAP write semantics; it is not SAP and says so on every response</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Acceptance kit: ten frozen tasks, inbound contract, simulator, scorer</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Built</a:t>
                      </a:r>
                      <a:endParaRPr lang="en-US" sz="11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16765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The chain email → match → review → approval → receipt can be tested end to end and scored against sandbox records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Independence: tasks authored on the development side; mail receipt simulated until a domain exists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Four kinds of evidence, never blended</a:t>
            </a:r>
            <a:endParaRPr lang="en-US" sz="3000" dirty="0"/>
          </a:p>
        </p:txBody>
      </p:sp>
      <p:sp>
        <p:nvSpPr>
          <p:cNvPr id="3" name="Shape 1"/>
          <p:cNvSpPr/>
          <p:nvPr/>
        </p:nvSpPr>
        <p:spPr>
          <a:xfrm>
            <a:off x="548640" y="1508760"/>
            <a:ext cx="11064240" cy="1051560"/>
          </a:xfrm>
          <a:prstGeom prst="roundRect">
            <a:avLst>
              <a:gd name="adj" fmla="val 5217"/>
            </a:avLst>
          </a:prstGeom>
          <a:solidFill>
            <a:schemeClr val="bg2"/>
          </a:solidFill>
          <a:ln w="9525">
            <a:solidFill>
              <a:srgbClr val="D9E6E1"/>
            </a:solidFill>
            <a:prstDash val="solid"/>
          </a:ln>
        </p:spPr>
      </p:sp>
      <p:sp>
        <p:nvSpPr>
          <p:cNvPr id="4" name="Shape 2"/>
          <p:cNvSpPr/>
          <p:nvPr/>
        </p:nvSpPr>
        <p:spPr>
          <a:xfrm>
            <a:off x="731520" y="1673352"/>
            <a:ext cx="1143000" cy="274320"/>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731520" y="1673352"/>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Built</a:t>
            </a:r>
            <a:endParaRPr lang="en-US" sz="1000" dirty="0"/>
          </a:p>
        </p:txBody>
      </p:sp>
      <p:sp>
        <p:nvSpPr>
          <p:cNvPr id="6" name="Text 4"/>
          <p:cNvSpPr txBox="1"/>
          <p:nvPr/>
        </p:nvSpPr>
        <p:spPr>
          <a:xfrm>
            <a:off x="731520" y="2011680"/>
            <a:ext cx="2377440" cy="502920"/>
          </a:xfrm>
          <a:prstGeom prst="rect">
            <a:avLst/>
          </a:prstGeom>
          <a:noFill/>
          <a:ln/>
        </p:spPr>
        <p:txBody>
          <a:bodyPr wrap="square" lIns="0" tIns="0" rIns="0" bIns="0" rtlCol="0" anchor="t"/>
          <a:lstStyle/>
          <a:p>
            <a:pPr indent="0" marL="0">
              <a:buNone/>
            </a:pPr>
            <a:r>
              <a:rPr lang="en-US" sz="1100" dirty="0">
                <a:solidFill>
                  <a:schemeClr val="accent4"/>
                </a:solidFill>
              </a:rPr>
              <a:t>Implemented, tested, walked through in a browser</a:t>
            </a:r>
            <a:endParaRPr lang="en-US" sz="1100" dirty="0"/>
          </a:p>
        </p:txBody>
      </p:sp>
      <p:sp>
        <p:nvSpPr>
          <p:cNvPr id="7" name="Text 5"/>
          <p:cNvSpPr txBox="1"/>
          <p:nvPr/>
        </p:nvSpPr>
        <p:spPr>
          <a:xfrm>
            <a:off x="3200400" y="1664208"/>
            <a:ext cx="5120640" cy="822960"/>
          </a:xfrm>
          <a:prstGeom prst="rect">
            <a:avLst/>
          </a:prstGeom>
          <a:noFill/>
          <a:ln/>
        </p:spPr>
        <p:txBody>
          <a:bodyPr wrap="square" lIns="0" tIns="0" rIns="0" bIns="0" rtlCol="0" anchor="t"/>
          <a:lstStyle/>
          <a:p>
            <a:pPr indent="0" marL="0">
              <a:buNone/>
            </a:pPr>
            <a:r>
              <a:rPr lang="en-US" sz="1200" b="1" dirty="0">
                <a:solidFill>
                  <a:schemeClr val="tx2"/>
                </a:solidFill>
              </a:rPr>
              <a:t>Examples  </a:t>
            </a:r>
            <a:pPr indent="0" marL="0">
              <a:buNone/>
            </a:pPr>
            <a:r>
              <a:rPr lang="en-US" sz="1200" dirty="0">
                <a:solidFill>
                  <a:schemeClr val="tx1"/>
                </a:solidFill>
              </a:rPr>
              <a:t>41 sandbox and acceptance tests; v50 six offline tests; deployed task view; 24 handoff tests on the portable backend</a:t>
            </a:r>
            <a:endParaRPr lang="en-US" sz="1200" dirty="0"/>
          </a:p>
        </p:txBody>
      </p:sp>
      <p:sp>
        <p:nvSpPr>
          <p:cNvPr id="8" name="Text 6"/>
          <p:cNvSpPr txBox="1"/>
          <p:nvPr/>
        </p:nvSpPr>
        <p:spPr>
          <a:xfrm>
            <a:off x="8503920" y="1664208"/>
            <a:ext cx="2926080" cy="822960"/>
          </a:xfrm>
          <a:prstGeom prst="rect">
            <a:avLst/>
          </a:prstGeom>
          <a:noFill/>
          <a:ln/>
        </p:spPr>
        <p:txBody>
          <a:bodyPr wrap="square" lIns="0" tIns="0" rIns="0" bIns="0" rtlCol="0" anchor="t"/>
          <a:lstStyle/>
          <a:p>
            <a:pPr indent="0" marL="0">
              <a:buNone/>
            </a:pPr>
            <a:r>
              <a:rPr lang="en-US" sz="1200" b="1" dirty="0">
                <a:solidFill>
                  <a:schemeClr val="accent3"/>
                </a:solidFill>
              </a:rPr>
              <a:t>Cannot establish  </a:t>
            </a:r>
            <a:pPr indent="0" marL="0">
              <a:buNone/>
            </a:pPr>
            <a:r>
              <a:rPr lang="en-US" sz="1200" dirty="0">
                <a:solidFill>
                  <a:schemeClr val="tx1"/>
                </a:solidFill>
              </a:rPr>
              <a:t>Business value of any kind</a:t>
            </a:r>
            <a:endParaRPr lang="en-US" sz="1200" dirty="0"/>
          </a:p>
        </p:txBody>
      </p:sp>
      <p:sp>
        <p:nvSpPr>
          <p:cNvPr id="9" name="Shape 7"/>
          <p:cNvSpPr/>
          <p:nvPr/>
        </p:nvSpPr>
        <p:spPr>
          <a:xfrm>
            <a:off x="548640" y="2679192"/>
            <a:ext cx="11064240" cy="1051560"/>
          </a:xfrm>
          <a:prstGeom prst="roundRect">
            <a:avLst>
              <a:gd name="adj" fmla="val 5217"/>
            </a:avLst>
          </a:prstGeom>
          <a:solidFill>
            <a:schemeClr val="bg2"/>
          </a:solidFill>
          <a:ln w="9525">
            <a:solidFill>
              <a:srgbClr val="D9E6E1"/>
            </a:solidFill>
            <a:prstDash val="solid"/>
          </a:ln>
        </p:spPr>
      </p:sp>
      <p:sp>
        <p:nvSpPr>
          <p:cNvPr id="10" name="Shape 8"/>
          <p:cNvSpPr/>
          <p:nvPr/>
        </p:nvSpPr>
        <p:spPr>
          <a:xfrm>
            <a:off x="731520" y="2843784"/>
            <a:ext cx="1143000" cy="274320"/>
          </a:xfrm>
          <a:prstGeom prst="roundRect">
            <a:avLst>
              <a:gd name="adj" fmla="val 50000"/>
            </a:avLst>
          </a:prstGeom>
          <a:solidFill>
            <a:schemeClr val="tx1"/>
          </a:solidFill>
          <a:ln w="12700">
            <a:solidFill>
              <a:schemeClr val="tx1"/>
            </a:solidFill>
            <a:prstDash val="solid"/>
          </a:ln>
        </p:spPr>
      </p:sp>
      <p:sp>
        <p:nvSpPr>
          <p:cNvPr id="11" name="Text 9"/>
          <p:cNvSpPr txBox="1"/>
          <p:nvPr/>
        </p:nvSpPr>
        <p:spPr>
          <a:xfrm>
            <a:off x="731520" y="2843784"/>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Real-model</a:t>
            </a:r>
            <a:endParaRPr lang="en-US" sz="1000" dirty="0"/>
          </a:p>
        </p:txBody>
      </p:sp>
      <p:sp>
        <p:nvSpPr>
          <p:cNvPr id="12" name="Text 10"/>
          <p:cNvSpPr txBox="1"/>
          <p:nvPr/>
        </p:nvSpPr>
        <p:spPr>
          <a:xfrm>
            <a:off x="731520" y="3182112"/>
            <a:ext cx="2377440" cy="502920"/>
          </a:xfrm>
          <a:prstGeom prst="rect">
            <a:avLst/>
          </a:prstGeom>
          <a:noFill/>
          <a:ln/>
        </p:spPr>
        <p:txBody>
          <a:bodyPr wrap="square" lIns="0" tIns="0" rIns="0" bIns="0" rtlCol="0" anchor="t"/>
          <a:lstStyle/>
          <a:p>
            <a:pPr indent="0" marL="0">
              <a:buNone/>
            </a:pPr>
            <a:r>
              <a:rPr lang="en-US" sz="1100" dirty="0">
                <a:solidFill>
                  <a:schemeClr val="accent4"/>
                </a:solidFill>
              </a:rPr>
              <a:t>Actual Claude Sonnet 4.6 calls on synthetic records; traces and failures retained</a:t>
            </a:r>
            <a:endParaRPr lang="en-US" sz="1100" dirty="0"/>
          </a:p>
        </p:txBody>
      </p:sp>
      <p:sp>
        <p:nvSpPr>
          <p:cNvPr id="13" name="Text 11"/>
          <p:cNvSpPr txBox="1"/>
          <p:nvPr/>
        </p:nvSpPr>
        <p:spPr>
          <a:xfrm>
            <a:off x="3200400" y="2834640"/>
            <a:ext cx="5120640" cy="822960"/>
          </a:xfrm>
          <a:prstGeom prst="rect">
            <a:avLst/>
          </a:prstGeom>
          <a:noFill/>
          <a:ln/>
        </p:spPr>
        <p:txBody>
          <a:bodyPr wrap="square" lIns="0" tIns="0" rIns="0" bIns="0" rtlCol="0" anchor="t"/>
          <a:lstStyle/>
          <a:p>
            <a:pPr indent="0" marL="0">
              <a:buNone/>
            </a:pPr>
            <a:r>
              <a:rPr lang="en-US" sz="1200" b="1" dirty="0">
                <a:solidFill>
                  <a:schemeClr val="tx2"/>
                </a:solidFill>
              </a:rPr>
              <a:t>Examples  </a:t>
            </a:r>
            <a:pPr indent="0" marL="0">
              <a:buNone/>
            </a:pPr>
            <a:r>
              <a:rPr lang="en-US" sz="1200" dirty="0">
                <a:solidFill>
                  <a:schemeClr val="tx1"/>
                </a:solidFill>
              </a:rPr>
              <a:t>34 calls in v48 (A 15, B 11, C 8); 5 correction calls in v49; v36: 0 of 6 on frozen novel packets, then 2 of 2 by labels with a manual semantic defect</a:t>
            </a:r>
            <a:endParaRPr lang="en-US" sz="1200" dirty="0"/>
          </a:p>
        </p:txBody>
      </p:sp>
      <p:sp>
        <p:nvSpPr>
          <p:cNvPr id="14" name="Text 12"/>
          <p:cNvSpPr txBox="1"/>
          <p:nvPr/>
        </p:nvSpPr>
        <p:spPr>
          <a:xfrm>
            <a:off x="8503920" y="2834640"/>
            <a:ext cx="2926080" cy="822960"/>
          </a:xfrm>
          <a:prstGeom prst="rect">
            <a:avLst/>
          </a:prstGeom>
          <a:noFill/>
          <a:ln/>
        </p:spPr>
        <p:txBody>
          <a:bodyPr wrap="square" lIns="0" tIns="0" rIns="0" bIns="0" rtlCol="0" anchor="t"/>
          <a:lstStyle/>
          <a:p>
            <a:pPr indent="0" marL="0">
              <a:buNone/>
            </a:pPr>
            <a:r>
              <a:rPr lang="en-US" sz="1200" b="1" dirty="0">
                <a:solidFill>
                  <a:schemeClr val="accent3"/>
                </a:solidFill>
              </a:rPr>
              <a:t>Cannot establish  </a:t>
            </a:r>
            <a:pPr indent="0" marL="0">
              <a:buNone/>
            </a:pPr>
            <a:r>
              <a:rPr lang="en-US" sz="1200" dirty="0">
                <a:solidFill>
                  <a:schemeClr val="tx1"/>
                </a:solidFill>
              </a:rPr>
              <a:t>A success rate; general reliability; behaviour on real documents</a:t>
            </a:r>
            <a:endParaRPr lang="en-US" sz="1200" dirty="0"/>
          </a:p>
        </p:txBody>
      </p:sp>
      <p:sp>
        <p:nvSpPr>
          <p:cNvPr id="15" name="Shape 13"/>
          <p:cNvSpPr/>
          <p:nvPr/>
        </p:nvSpPr>
        <p:spPr>
          <a:xfrm>
            <a:off x="548640" y="3849624"/>
            <a:ext cx="11064240" cy="1051560"/>
          </a:xfrm>
          <a:prstGeom prst="roundRect">
            <a:avLst>
              <a:gd name="adj" fmla="val 5217"/>
            </a:avLst>
          </a:prstGeom>
          <a:solidFill>
            <a:schemeClr val="bg2"/>
          </a:solidFill>
          <a:ln w="9525">
            <a:solidFill>
              <a:srgbClr val="D9E6E1"/>
            </a:solidFill>
            <a:prstDash val="solid"/>
          </a:ln>
        </p:spPr>
      </p:sp>
      <p:sp>
        <p:nvSpPr>
          <p:cNvPr id="16" name="Shape 14"/>
          <p:cNvSpPr/>
          <p:nvPr/>
        </p:nvSpPr>
        <p:spPr>
          <a:xfrm>
            <a:off x="731520" y="4014216"/>
            <a:ext cx="1143000" cy="274320"/>
          </a:xfrm>
          <a:prstGeom prst="roundRect">
            <a:avLst>
              <a:gd name="adj" fmla="val 50000"/>
            </a:avLst>
          </a:prstGeom>
          <a:solidFill>
            <a:schemeClr val="accent6"/>
          </a:solidFill>
          <a:ln w="12700">
            <a:solidFill>
              <a:schemeClr val="accent6"/>
            </a:solidFill>
            <a:prstDash val="solid"/>
          </a:ln>
        </p:spPr>
      </p:sp>
      <p:sp>
        <p:nvSpPr>
          <p:cNvPr id="17" name="Text 15"/>
          <p:cNvSpPr txBox="1"/>
          <p:nvPr/>
        </p:nvSpPr>
        <p:spPr>
          <a:xfrm>
            <a:off x="731520" y="4014216"/>
            <a:ext cx="1143000" cy="274320"/>
          </a:xfrm>
          <a:prstGeom prst="rect">
            <a:avLst/>
          </a:prstGeom>
          <a:noFill/>
          <a:ln/>
        </p:spPr>
        <p:txBody>
          <a:bodyPr wrap="square" lIns="0" tIns="0" rIns="0" bIns="0" rtlCol="0" anchor="ctr"/>
          <a:lstStyle/>
          <a:p>
            <a:pPr algn="ctr" indent="0" marL="0">
              <a:buNone/>
            </a:pPr>
            <a:r>
              <a:rPr lang="en-US" sz="1000" b="1" dirty="0">
                <a:solidFill>
                  <a:schemeClr val="tx1"/>
                </a:solidFill>
              </a:rPr>
              <a:t>Desk</a:t>
            </a:r>
            <a:endParaRPr lang="en-US" sz="1000" dirty="0"/>
          </a:p>
        </p:txBody>
      </p:sp>
      <p:sp>
        <p:nvSpPr>
          <p:cNvPr id="18" name="Text 16"/>
          <p:cNvSpPr txBox="1"/>
          <p:nvPr/>
        </p:nvSpPr>
        <p:spPr>
          <a:xfrm>
            <a:off x="731520" y="4352544"/>
            <a:ext cx="2377440" cy="502920"/>
          </a:xfrm>
          <a:prstGeom prst="rect">
            <a:avLst/>
          </a:prstGeom>
          <a:noFill/>
          <a:ln/>
        </p:spPr>
        <p:txBody>
          <a:bodyPr wrap="square" lIns="0" tIns="0" rIns="0" bIns="0" rtlCol="0" anchor="t"/>
          <a:lstStyle/>
          <a:p>
            <a:pPr indent="0" marL="0">
              <a:buNone/>
            </a:pPr>
            <a:r>
              <a:rPr lang="en-US" sz="1100" dirty="0">
                <a:solidFill>
                  <a:schemeClr val="accent4"/>
                </a:solidFill>
              </a:rPr>
              <a:t>Public sources reviewed by the team</a:t>
            </a:r>
            <a:endParaRPr lang="en-US" sz="1100" dirty="0"/>
          </a:p>
        </p:txBody>
      </p:sp>
      <p:sp>
        <p:nvSpPr>
          <p:cNvPr id="19" name="Text 17"/>
          <p:cNvSpPr txBox="1"/>
          <p:nvPr/>
        </p:nvSpPr>
        <p:spPr>
          <a:xfrm>
            <a:off x="3200400" y="4005072"/>
            <a:ext cx="5120640" cy="822960"/>
          </a:xfrm>
          <a:prstGeom prst="rect">
            <a:avLst/>
          </a:prstGeom>
          <a:noFill/>
          <a:ln/>
        </p:spPr>
        <p:txBody>
          <a:bodyPr wrap="square" lIns="0" tIns="0" rIns="0" bIns="0" rtlCol="0" anchor="t"/>
          <a:lstStyle/>
          <a:p>
            <a:pPr indent="0" marL="0">
              <a:buNone/>
            </a:pPr>
            <a:r>
              <a:rPr lang="en-US" sz="1200" b="1" dirty="0">
                <a:solidFill>
                  <a:schemeClr val="tx2"/>
                </a:solidFill>
              </a:rPr>
              <a:t>Examples  </a:t>
            </a:r>
            <a:pPr indent="0" marL="0">
              <a:buNone/>
            </a:pPr>
            <a:r>
              <a:rPr lang="en-US" sz="1200" dirty="0">
                <a:solidFill>
                  <a:schemeClr val="tx1"/>
                </a:solidFill>
              </a:rPr>
              <a:t>GCA/YouGov 2025, ACCC roundtables, Loblaw PO-update guide; competitive check of SAP, SourceDay, Microsoft; FreshRetailNet-50K and two demand papers</a:t>
            </a:r>
            <a:endParaRPr lang="en-US" sz="1200" dirty="0"/>
          </a:p>
        </p:txBody>
      </p:sp>
      <p:sp>
        <p:nvSpPr>
          <p:cNvPr id="20" name="Text 18"/>
          <p:cNvSpPr txBox="1"/>
          <p:nvPr/>
        </p:nvSpPr>
        <p:spPr>
          <a:xfrm>
            <a:off x="8503920" y="4005072"/>
            <a:ext cx="2926080" cy="822960"/>
          </a:xfrm>
          <a:prstGeom prst="rect">
            <a:avLst/>
          </a:prstGeom>
          <a:noFill/>
          <a:ln/>
        </p:spPr>
        <p:txBody>
          <a:bodyPr wrap="square" lIns="0" tIns="0" rIns="0" bIns="0" rtlCol="0" anchor="t"/>
          <a:lstStyle/>
          <a:p>
            <a:pPr indent="0" marL="0">
              <a:buNone/>
            </a:pPr>
            <a:r>
              <a:rPr lang="en-US" sz="1200" b="1" dirty="0">
                <a:solidFill>
                  <a:schemeClr val="accent3"/>
                </a:solidFill>
              </a:rPr>
              <a:t>Cannot establish  </a:t>
            </a:r>
            <a:pPr indent="0" marL="0">
              <a:buNone/>
            </a:pPr>
            <a:r>
              <a:rPr lang="en-US" sz="1200" dirty="0">
                <a:solidFill>
                  <a:schemeClr val="tx1"/>
                </a:solidFill>
              </a:rPr>
              <a:t>Our effect size, user adoption, or that ambiguous replies are the binding bottleneck</a:t>
            </a:r>
            <a:endParaRPr lang="en-US" sz="1200" dirty="0"/>
          </a:p>
        </p:txBody>
      </p:sp>
      <p:sp>
        <p:nvSpPr>
          <p:cNvPr id="21" name="Shape 19"/>
          <p:cNvSpPr/>
          <p:nvPr/>
        </p:nvSpPr>
        <p:spPr>
          <a:xfrm>
            <a:off x="548640" y="5020056"/>
            <a:ext cx="11064240" cy="1051560"/>
          </a:xfrm>
          <a:prstGeom prst="roundRect">
            <a:avLst>
              <a:gd name="adj" fmla="val 5217"/>
            </a:avLst>
          </a:prstGeom>
          <a:solidFill>
            <a:schemeClr val="bg2"/>
          </a:solidFill>
          <a:ln w="9525">
            <a:solidFill>
              <a:srgbClr val="D9E6E1"/>
            </a:solidFill>
            <a:prstDash val="solid"/>
          </a:ln>
        </p:spPr>
      </p:sp>
      <p:sp>
        <p:nvSpPr>
          <p:cNvPr id="22" name="Shape 20"/>
          <p:cNvSpPr/>
          <p:nvPr/>
        </p:nvSpPr>
        <p:spPr>
          <a:xfrm>
            <a:off x="731520" y="5184648"/>
            <a:ext cx="1143000" cy="274320"/>
          </a:xfrm>
          <a:prstGeom prst="roundRect">
            <a:avLst>
              <a:gd name="adj" fmla="val 50000"/>
            </a:avLst>
          </a:prstGeom>
          <a:solidFill>
            <a:schemeClr val="accent2"/>
          </a:solidFill>
          <a:ln w="12700">
            <a:solidFill>
              <a:schemeClr val="accent2"/>
            </a:solidFill>
            <a:prstDash val="solid"/>
          </a:ln>
        </p:spPr>
      </p:sp>
      <p:sp>
        <p:nvSpPr>
          <p:cNvPr id="23" name="Text 21"/>
          <p:cNvSpPr txBox="1"/>
          <p:nvPr/>
        </p:nvSpPr>
        <p:spPr>
          <a:xfrm>
            <a:off x="731520" y="5184648"/>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Hypothesis</a:t>
            </a:r>
            <a:endParaRPr lang="en-US" sz="1000" dirty="0"/>
          </a:p>
        </p:txBody>
      </p:sp>
      <p:sp>
        <p:nvSpPr>
          <p:cNvPr id="24" name="Text 22"/>
          <p:cNvSpPr txBox="1"/>
          <p:nvPr/>
        </p:nvSpPr>
        <p:spPr>
          <a:xfrm>
            <a:off x="731520" y="5522976"/>
            <a:ext cx="2377440" cy="502920"/>
          </a:xfrm>
          <a:prstGeom prst="rect">
            <a:avLst/>
          </a:prstGeom>
          <a:noFill/>
          <a:ln/>
        </p:spPr>
        <p:txBody>
          <a:bodyPr wrap="square" lIns="0" tIns="0" rIns="0" bIns="0" rtlCol="0" anchor="t"/>
          <a:lstStyle/>
          <a:p>
            <a:pPr indent="0" marL="0">
              <a:buNone/>
            </a:pPr>
            <a:r>
              <a:rPr lang="en-US" sz="1100" dirty="0">
                <a:solidFill>
                  <a:schemeClr val="accent4"/>
                </a:solidFill>
              </a:rPr>
              <a:t>Stated targets with no measurement yet</a:t>
            </a:r>
            <a:endParaRPr lang="en-US" sz="1100" dirty="0"/>
          </a:p>
        </p:txBody>
      </p:sp>
      <p:sp>
        <p:nvSpPr>
          <p:cNvPr id="25" name="Text 23"/>
          <p:cNvSpPr txBox="1"/>
          <p:nvPr/>
        </p:nvSpPr>
        <p:spPr>
          <a:xfrm>
            <a:off x="3200400" y="5175504"/>
            <a:ext cx="5120640" cy="822960"/>
          </a:xfrm>
          <a:prstGeom prst="rect">
            <a:avLst/>
          </a:prstGeom>
          <a:noFill/>
          <a:ln/>
        </p:spPr>
        <p:txBody>
          <a:bodyPr wrap="square" lIns="0" tIns="0" rIns="0" bIns="0" rtlCol="0" anchor="t"/>
          <a:lstStyle/>
          <a:p>
            <a:pPr indent="0" marL="0">
              <a:buNone/>
            </a:pPr>
            <a:r>
              <a:rPr lang="en-US" sz="1200" b="1" dirty="0">
                <a:solidFill>
                  <a:schemeClr val="tx2"/>
                </a:solidFill>
              </a:rPr>
              <a:t>Examples  </a:t>
            </a:r>
            <a:pPr indent="0" marL="0">
              <a:buNone/>
            </a:pPr>
            <a:r>
              <a:rPr lang="en-US" sz="1200" dirty="0">
                <a:solidFill>
                  <a:schemeClr val="tx1"/>
                </a:solidFill>
              </a:rPr>
              <a:t>30 percent less combined active time versus manual; a further 15 percent versus strong forms; the three end states are the right ones</a:t>
            </a:r>
            <a:endParaRPr lang="en-US" sz="1200" dirty="0"/>
          </a:p>
        </p:txBody>
      </p:sp>
      <p:sp>
        <p:nvSpPr>
          <p:cNvPr id="26" name="Text 24"/>
          <p:cNvSpPr txBox="1"/>
          <p:nvPr/>
        </p:nvSpPr>
        <p:spPr>
          <a:xfrm>
            <a:off x="8503920" y="5175504"/>
            <a:ext cx="2926080" cy="822960"/>
          </a:xfrm>
          <a:prstGeom prst="rect">
            <a:avLst/>
          </a:prstGeom>
          <a:noFill/>
          <a:ln/>
        </p:spPr>
        <p:txBody>
          <a:bodyPr wrap="square" lIns="0" tIns="0" rIns="0" bIns="0" rtlCol="0" anchor="t"/>
          <a:lstStyle/>
          <a:p>
            <a:pPr indent="0" marL="0">
              <a:buNone/>
            </a:pPr>
            <a:r>
              <a:rPr lang="en-US" sz="1200" b="1" dirty="0">
                <a:solidFill>
                  <a:schemeClr val="accent3"/>
                </a:solidFill>
              </a:rPr>
              <a:t>Cannot establish  </a:t>
            </a:r>
            <a:pPr indent="0" marL="0">
              <a:buNone/>
            </a:pPr>
            <a:r>
              <a:rPr lang="en-US" sz="1200" dirty="0">
                <a:solidFill>
                  <a:schemeClr val="tx1"/>
                </a:solidFill>
              </a:rPr>
              <a:t>Anything, until the pilot runs with real participants</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Software development: the model never holds write authority</a:t>
            </a:r>
            <a:endParaRPr lang="en-US" sz="3000" dirty="0"/>
          </a:p>
        </p:txBody>
      </p:sp>
      <p:sp>
        <p:nvSpPr>
          <p:cNvPr id="3" name="Shape 1"/>
          <p:cNvSpPr/>
          <p:nvPr/>
        </p:nvSpPr>
        <p:spPr>
          <a:xfrm>
            <a:off x="548640" y="1371600"/>
            <a:ext cx="914400" cy="27432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548640" y="1371600"/>
            <a:ext cx="914400" cy="274320"/>
          </a:xfrm>
          <a:prstGeom prst="rect">
            <a:avLst/>
          </a:prstGeom>
          <a:noFill/>
          <a:ln/>
        </p:spPr>
        <p:txBody>
          <a:bodyPr wrap="square" lIns="0" tIns="0" rIns="0" bIns="0" rtlCol="0" anchor="ctr"/>
          <a:lstStyle/>
          <a:p>
            <a:pPr algn="ctr" indent="0" marL="0">
              <a:buNone/>
            </a:pPr>
            <a:r>
              <a:rPr lang="en-US" sz="1000" b="1" dirty="0">
                <a:solidFill>
                  <a:schemeClr val="bg1"/>
                </a:solidFill>
              </a:rPr>
              <a:t>Built</a:t>
            </a:r>
            <a:endParaRPr lang="en-US" sz="1000" dirty="0"/>
          </a:p>
        </p:txBody>
      </p:sp>
      <p:sp>
        <p:nvSpPr>
          <p:cNvPr id="5" name="Shape 3"/>
          <p:cNvSpPr/>
          <p:nvPr/>
        </p:nvSpPr>
        <p:spPr>
          <a:xfrm>
            <a:off x="1572768" y="1371600"/>
            <a:ext cx="1143000" cy="274320"/>
          </a:xfrm>
          <a:prstGeom prst="roundRect">
            <a:avLst>
              <a:gd name="adj" fmla="val 50000"/>
            </a:avLst>
          </a:prstGeom>
          <a:solidFill>
            <a:schemeClr val="tx1"/>
          </a:solidFill>
          <a:ln w="12700">
            <a:solidFill>
              <a:schemeClr val="tx1"/>
            </a:solidFill>
            <a:prstDash val="solid"/>
          </a:ln>
        </p:spPr>
      </p:sp>
      <p:sp>
        <p:nvSpPr>
          <p:cNvPr id="6" name="Text 4"/>
          <p:cNvSpPr txBox="1"/>
          <p:nvPr/>
        </p:nvSpPr>
        <p:spPr>
          <a:xfrm>
            <a:off x="1572768" y="13716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Real-model</a:t>
            </a:r>
            <a:endParaRPr lang="en-US" sz="1000" dirty="0"/>
          </a:p>
        </p:txBody>
      </p:sp>
      <p:sp>
        <p:nvSpPr>
          <p:cNvPr id="7" name="Text 5"/>
          <p:cNvSpPr txBox="1"/>
          <p:nvPr/>
        </p:nvSpPr>
        <p:spPr>
          <a:xfrm>
            <a:off x="2926080" y="1344168"/>
            <a:ext cx="8686800" cy="365760"/>
          </a:xfrm>
          <a:prstGeom prst="rect">
            <a:avLst/>
          </a:prstGeom>
          <a:noFill/>
          <a:ln/>
        </p:spPr>
        <p:txBody>
          <a:bodyPr wrap="square" lIns="0" tIns="0" rIns="0" bIns="0" rtlCol="0" anchor="t"/>
          <a:lstStyle/>
          <a:p>
            <a:pPr indent="0" marL="0">
              <a:buNone/>
            </a:pPr>
            <a:r>
              <a:rPr lang="en-US" sz="1300" i="1" dirty="0">
                <a:solidFill>
                  <a:schemeClr val="accent4"/>
                </a:solidFill>
              </a:rPr>
              <a:t>"How do you stop an LLM inventing a quantity, leaking supplier data, or quietly rewriting its own mistakes?"</a:t>
            </a:r>
            <a:endParaRPr lang="en-US" sz="1300" dirty="0"/>
          </a:p>
        </p:txBody>
      </p:sp>
      <p:sp>
        <p:nvSpPr>
          <p:cNvPr id="8" name="Shape 6"/>
          <p:cNvSpPr/>
          <p:nvPr/>
        </p:nvSpPr>
        <p:spPr>
          <a:xfrm>
            <a:off x="548640" y="1874520"/>
            <a:ext cx="5440680" cy="2834640"/>
          </a:xfrm>
          <a:prstGeom prst="roundRect">
            <a:avLst>
              <a:gd name="adj" fmla="val 1935"/>
            </a:avLst>
          </a:prstGeom>
          <a:solidFill>
            <a:schemeClr val="bg2"/>
          </a:solidFill>
          <a:ln w="9525">
            <a:solidFill>
              <a:srgbClr val="D9E6E1"/>
            </a:solidFill>
            <a:prstDash val="solid"/>
          </a:ln>
        </p:spPr>
      </p:sp>
      <p:sp>
        <p:nvSpPr>
          <p:cNvPr id="9" name="Text 7"/>
          <p:cNvSpPr txBox="1"/>
          <p:nvPr/>
        </p:nvSpPr>
        <p:spPr>
          <a:xfrm>
            <a:off x="731520" y="2020824"/>
            <a:ext cx="5074920" cy="329184"/>
          </a:xfrm>
          <a:prstGeom prst="rect">
            <a:avLst/>
          </a:prstGeom>
          <a:noFill/>
          <a:ln/>
        </p:spPr>
        <p:txBody>
          <a:bodyPr wrap="square" lIns="0" tIns="0" rIns="0" bIns="0" rtlCol="0" anchor="t"/>
          <a:lstStyle/>
          <a:p>
            <a:pPr indent="0" marL="0">
              <a:buNone/>
            </a:pPr>
            <a:r>
              <a:rPr lang="en-US" sz="1500" b="1" dirty="0">
                <a:solidFill>
                  <a:schemeClr val="tx2"/>
                </a:solidFill>
              </a:rPr>
              <a:t>Agent loop the service owns</a:t>
            </a:r>
            <a:endParaRPr lang="en-US" sz="1500" dirty="0"/>
          </a:p>
        </p:txBody>
      </p:sp>
      <p:sp>
        <p:nvSpPr>
          <p:cNvPr id="10" name="Text 8"/>
          <p:cNvSpPr txBox="1"/>
          <p:nvPr/>
        </p:nvSpPr>
        <p:spPr>
          <a:xfrm>
            <a:off x="731520" y="2404872"/>
            <a:ext cx="5074920" cy="21945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Backend calls Claude Sonnet 4.6 through OpenRouter; every tool is implemented by the service, not the model</a:t>
            </a:r>
            <a:endParaRPr lang="en-US" sz="1200" dirty="0"/>
          </a:p>
          <a:p>
            <a:pPr marL="177800" indent="-177800">
              <a:spcAft>
                <a:spcPts val="400"/>
              </a:spcAft>
              <a:buSzPct val="100000"/>
              <a:buChar char="•"/>
            </a:pPr>
            <a:r>
              <a:rPr lang="en-US" sz="1200" dirty="0">
                <a:solidFill>
                  <a:schemeClr val="tx1"/>
                </a:solidFill>
              </a:rPr>
              <a:t>The same validation handler runs in production and in tests</a:t>
            </a:r>
            <a:endParaRPr lang="en-US" sz="1200" dirty="0"/>
          </a:p>
          <a:p>
            <a:pPr marL="177800" indent="-177800">
              <a:spcAft>
                <a:spcPts val="400"/>
              </a:spcAft>
              <a:buSzPct val="100000"/>
              <a:buChar char="•"/>
            </a:pPr>
            <a:r>
              <a:rPr lang="en-US" sz="1200" dirty="0">
                <a:solidFill>
                  <a:schemeClr val="tx1"/>
                </a:solidFill>
              </a:rPr>
              <a:t>A rejected submission returns correction_required with field-level findings; the code never edits the model's answer</a:t>
            </a:r>
            <a:endParaRPr lang="en-US" sz="1200" dirty="0"/>
          </a:p>
          <a:p>
            <a:pPr marL="177800" indent="-177800">
              <a:spcAft>
                <a:spcPts val="400"/>
              </a:spcAft>
              <a:buSzPct val="100000"/>
              <a:buChar char="•"/>
            </a:pPr>
            <a:r>
              <a:rPr lang="en-US" sz="1200" dirty="0">
                <a:solidFill>
                  <a:schemeClr val="tx1"/>
                </a:solidFill>
              </a:rPr>
              <a:t>A second model audit runs after the rule checks; only an accepted artifact can be disclosed</a:t>
            </a:r>
            <a:endParaRPr lang="en-US" sz="1200" dirty="0"/>
          </a:p>
          <a:p>
            <a:pPr marL="177800" indent="-177800">
              <a:spcAft>
                <a:spcPts val="400"/>
              </a:spcAft>
              <a:buSzPct val="100000"/>
              <a:buChar char="•"/>
            </a:pPr>
            <a:r>
              <a:rPr lang="en-US" sz="1200" dirty="0">
                <a:solidFill>
                  <a:schemeClr val="tx1"/>
                </a:solidFill>
              </a:rPr>
              <a:t>Failed attempts stay on the timeline as linked records</a:t>
            </a:r>
            <a:endParaRPr lang="en-US" sz="1200" dirty="0"/>
          </a:p>
        </p:txBody>
      </p:sp>
      <p:sp>
        <p:nvSpPr>
          <p:cNvPr id="11" name="Shape 9"/>
          <p:cNvSpPr/>
          <p:nvPr/>
        </p:nvSpPr>
        <p:spPr>
          <a:xfrm>
            <a:off x="6172200" y="1874520"/>
            <a:ext cx="5440680" cy="2834640"/>
          </a:xfrm>
          <a:prstGeom prst="roundRect">
            <a:avLst>
              <a:gd name="adj" fmla="val 1935"/>
            </a:avLst>
          </a:prstGeom>
          <a:solidFill>
            <a:schemeClr val="bg2"/>
          </a:solidFill>
          <a:ln w="9525">
            <a:solidFill>
              <a:srgbClr val="D9E6E1"/>
            </a:solidFill>
            <a:prstDash val="solid"/>
          </a:ln>
        </p:spPr>
      </p:sp>
      <p:sp>
        <p:nvSpPr>
          <p:cNvPr id="12" name="Text 10"/>
          <p:cNvSpPr txBox="1"/>
          <p:nvPr/>
        </p:nvSpPr>
        <p:spPr>
          <a:xfrm>
            <a:off x="6355080" y="2020824"/>
            <a:ext cx="5074920" cy="329184"/>
          </a:xfrm>
          <a:prstGeom prst="rect">
            <a:avLst/>
          </a:prstGeom>
          <a:noFill/>
          <a:ln/>
        </p:spPr>
        <p:txBody>
          <a:bodyPr wrap="square" lIns="0" tIns="0" rIns="0" bIns="0" rtlCol="0" anchor="t"/>
          <a:lstStyle/>
          <a:p>
            <a:pPr indent="0" marL="0">
              <a:buNone/>
            </a:pPr>
            <a:r>
              <a:rPr lang="en-US" sz="1500" b="1" dirty="0">
                <a:solidFill>
                  <a:schemeClr val="tx2"/>
                </a:solidFill>
              </a:rPr>
              <a:t>Procurement write path (sandbox, S/4HANA-shaped)</a:t>
            </a:r>
            <a:endParaRPr lang="en-US" sz="1500" dirty="0"/>
          </a:p>
        </p:txBody>
      </p:sp>
      <p:sp>
        <p:nvSpPr>
          <p:cNvPr id="13" name="Text 11"/>
          <p:cNvSpPr txBox="1"/>
          <p:nvPr/>
        </p:nvSpPr>
        <p:spPr>
          <a:xfrm>
            <a:off x="6355080" y="2404872"/>
            <a:ext cx="5074920" cy="21945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CSRF handshake; role header: a supplier can never write</a:t>
            </a:r>
            <a:endParaRPr lang="en-US" sz="1200" dirty="0"/>
          </a:p>
          <a:p>
            <a:pPr marL="177800" indent="-177800">
              <a:spcAft>
                <a:spcPts val="400"/>
              </a:spcAft>
              <a:buSzPct val="100000"/>
              <a:buChar char="•"/>
            </a:pPr>
            <a:r>
              <a:rPr lang="en-US" sz="1200" dirty="0">
                <a:solidFill>
                  <a:schemeClr val="tx1"/>
                </a:solidFill>
              </a:rPr>
              <a:t>ETag on PO and requisition; 412 when the baseline changed since the review</a:t>
            </a:r>
            <a:endParaRPr lang="en-US" sz="1200" dirty="0"/>
          </a:p>
          <a:p>
            <a:pPr marL="177800" indent="-177800">
              <a:spcAft>
                <a:spcPts val="400"/>
              </a:spcAft>
              <a:buSzPct val="100000"/>
              <a:buChar char="•"/>
            </a:pPr>
            <a:r>
              <a:rPr lang="en-US" sz="1200" dirty="0">
                <a:solidFill>
                  <a:schemeClr val="tx1"/>
                </a:solidFill>
              </a:rPr>
              <a:t>Idempotency-Key replay and a case/evidence duplicate guard: a retry never creates a second object</a:t>
            </a:r>
            <a:endParaRPr lang="en-US" sz="1200" dirty="0"/>
          </a:p>
          <a:p>
            <a:pPr marL="177800" indent="-177800">
              <a:spcAft>
                <a:spcPts val="400"/>
              </a:spcAft>
              <a:buSzPct val="100000"/>
              <a:buChar char="•"/>
            </a:pPr>
            <a:r>
              <a:rPr lang="en-US" sz="1200" dirty="0">
                <a:solidFill>
                  <a:schemeClr val="tx1"/>
                </a:solidFill>
              </a:rPr>
              <a:t>Fault injection including accept-then-fail, the case that separates "sent" from "completed"</a:t>
            </a:r>
            <a:endParaRPr lang="en-US" sz="1200" dirty="0"/>
          </a:p>
          <a:p>
            <a:pPr marL="177800" indent="-177800">
              <a:spcAft>
                <a:spcPts val="400"/>
              </a:spcAft>
              <a:buSzPct val="100000"/>
              <a:buChar char="•"/>
            </a:pPr>
            <a:r>
              <a:rPr lang="en-US" sz="1200" dirty="0">
                <a:solidFill>
                  <a:schemeClr val="tx1"/>
                </a:solidFill>
              </a:rPr>
              <a:t>Read: PO, stock, status. Return: a version-linked change request into existing approval. No SAP API exercised</a:t>
            </a:r>
            <a:endParaRPr lang="en-US" sz="1200" dirty="0"/>
          </a:p>
        </p:txBody>
      </p:sp>
      <p:sp>
        <p:nvSpPr>
          <p:cNvPr id="14" name="Shape 12"/>
          <p:cNvSpPr/>
          <p:nvPr/>
        </p:nvSpPr>
        <p:spPr>
          <a:xfrm>
            <a:off x="548640" y="4937760"/>
            <a:ext cx="11064240" cy="1051560"/>
          </a:xfrm>
          <a:prstGeom prst="roundRect">
            <a:avLst>
              <a:gd name="adj" fmla="val 5217"/>
            </a:avLst>
          </a:prstGeom>
          <a:solidFill>
            <a:schemeClr val="bg1"/>
          </a:solidFill>
          <a:ln w="12700">
            <a:solidFill>
              <a:srgbClr val="B3261E"/>
            </a:solidFill>
            <a:prstDash val="solid"/>
          </a:ln>
        </p:spPr>
      </p:sp>
      <p:sp>
        <p:nvSpPr>
          <p:cNvPr id="15" name="Text 13"/>
          <p:cNvSpPr txBox="1"/>
          <p:nvPr/>
        </p:nvSpPr>
        <p:spPr>
          <a:xfrm>
            <a:off x="822960" y="5047488"/>
            <a:ext cx="10515600" cy="868680"/>
          </a:xfrm>
          <a:prstGeom prst="rect">
            <a:avLst/>
          </a:prstGeom>
          <a:noFill/>
          <a:ln/>
        </p:spPr>
        <p:txBody>
          <a:bodyPr wrap="square" lIns="0" tIns="0" rIns="0" bIns="0" rtlCol="0" anchor="t"/>
          <a:lstStyle/>
          <a:p>
            <a:pPr indent="0" marL="0">
              <a:buNone/>
            </a:pPr>
            <a:r>
              <a:rPr lang="en-US" sz="1200" b="1" dirty="0">
                <a:solidFill>
                  <a:schemeClr val="accent3"/>
                </a:solidFill>
              </a:rPr>
              <a:t>What the rules do not do.  </a:t>
            </a:r>
            <a:pPr indent="0" marL="0">
              <a:buNone/>
            </a:pPr>
            <a:r>
              <a:rPr lang="en-US" sz="1200" dirty="0">
                <a:solidFill>
                  <a:schemeClr val="tx1"/>
                </a:solidFill>
              </a:rPr>
              <a:t>They do not prove the prose is true. Twice a structured output passed every check while its text was wrong (v36 N2, v48 item C). The model audit shares failure modes with the generator. Production gaps we list ourselves: identity and tenant isolation, trusted record permissions, idempotent writes in a real tenant, monitoring and recovery, model-output security testing.</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Marketing: one buyer, one job, four claims withdrawn</a:t>
            </a:r>
            <a:endParaRPr lang="en-US" sz="3000" dirty="0"/>
          </a:p>
        </p:txBody>
      </p:sp>
      <p:sp>
        <p:nvSpPr>
          <p:cNvPr id="3" name="Shape 1"/>
          <p:cNvSpPr/>
          <p:nvPr/>
        </p:nvSpPr>
        <p:spPr>
          <a:xfrm>
            <a:off x="548640" y="1371600"/>
            <a:ext cx="914400" cy="274320"/>
          </a:xfrm>
          <a:prstGeom prst="roundRect">
            <a:avLst>
              <a:gd name="adj" fmla="val 50000"/>
            </a:avLst>
          </a:prstGeom>
          <a:solidFill>
            <a:schemeClr val="accent6"/>
          </a:solidFill>
          <a:ln w="12700">
            <a:solidFill>
              <a:schemeClr val="accent6"/>
            </a:solidFill>
            <a:prstDash val="solid"/>
          </a:ln>
        </p:spPr>
      </p:sp>
      <p:sp>
        <p:nvSpPr>
          <p:cNvPr id="4" name="Text 2"/>
          <p:cNvSpPr txBox="1"/>
          <p:nvPr/>
        </p:nvSpPr>
        <p:spPr>
          <a:xfrm>
            <a:off x="548640" y="1371600"/>
            <a:ext cx="914400" cy="274320"/>
          </a:xfrm>
          <a:prstGeom prst="rect">
            <a:avLst/>
          </a:prstGeom>
          <a:noFill/>
          <a:ln/>
        </p:spPr>
        <p:txBody>
          <a:bodyPr wrap="square" lIns="0" tIns="0" rIns="0" bIns="0" rtlCol="0" anchor="ctr"/>
          <a:lstStyle/>
          <a:p>
            <a:pPr algn="ctr" indent="0" marL="0">
              <a:buNone/>
            </a:pPr>
            <a:r>
              <a:rPr lang="en-US" sz="1000" b="1" dirty="0">
                <a:solidFill>
                  <a:schemeClr val="tx1"/>
                </a:solidFill>
              </a:rPr>
              <a:t>Desk</a:t>
            </a:r>
            <a:endParaRPr lang="en-US" sz="1000" dirty="0"/>
          </a:p>
        </p:txBody>
      </p:sp>
      <p:sp>
        <p:nvSpPr>
          <p:cNvPr id="5" name="Text 3"/>
          <p:cNvSpPr txBox="1"/>
          <p:nvPr/>
        </p:nvSpPr>
        <p:spPr>
          <a:xfrm>
            <a:off x="1828800" y="1344168"/>
            <a:ext cx="9784080" cy="365760"/>
          </a:xfrm>
          <a:prstGeom prst="rect">
            <a:avLst/>
          </a:prstGeom>
          <a:noFill/>
          <a:ln/>
        </p:spPr>
        <p:txBody>
          <a:bodyPr wrap="square" lIns="0" tIns="0" rIns="0" bIns="0" rtlCol="0" anchor="t"/>
          <a:lstStyle/>
          <a:p>
            <a:pPr indent="0" marL="0">
              <a:buNone/>
            </a:pPr>
            <a:r>
              <a:rPr lang="en-US" sz="1300" i="1" dirty="0">
                <a:solidFill>
                  <a:schemeClr val="accent4"/>
                </a:solidFill>
              </a:rPr>
              <a:t>"SAP has Business Network and Joule, SourceDay answers POs from an email link, Microsoft reads supplier mail. What is left to sell, and to whom?"</a:t>
            </a:r>
            <a:endParaRPr lang="en-US" sz="1300" dirty="0"/>
          </a:p>
        </p:txBody>
      </p:sp>
      <p:sp>
        <p:nvSpPr>
          <p:cNvPr id="6" name="Shape 4"/>
          <p:cNvSpPr/>
          <p:nvPr/>
        </p:nvSpPr>
        <p:spPr>
          <a:xfrm>
            <a:off x="548640" y="1874520"/>
            <a:ext cx="4206240" cy="2468880"/>
          </a:xfrm>
          <a:prstGeom prst="roundRect">
            <a:avLst>
              <a:gd name="adj" fmla="val 2222"/>
            </a:avLst>
          </a:prstGeom>
          <a:solidFill>
            <a:schemeClr val="bg2"/>
          </a:solidFill>
          <a:ln w="9525">
            <a:solidFill>
              <a:srgbClr val="D9E6E1"/>
            </a:solidFill>
            <a:prstDash val="solid"/>
          </a:ln>
        </p:spPr>
      </p:sp>
      <p:sp>
        <p:nvSpPr>
          <p:cNvPr id="7" name="Text 5"/>
          <p:cNvSpPr txBox="1"/>
          <p:nvPr/>
        </p:nvSpPr>
        <p:spPr>
          <a:xfrm>
            <a:off x="731520" y="2011680"/>
            <a:ext cx="3840480" cy="320040"/>
          </a:xfrm>
          <a:prstGeom prst="rect">
            <a:avLst/>
          </a:prstGeom>
          <a:noFill/>
          <a:ln/>
        </p:spPr>
        <p:txBody>
          <a:bodyPr wrap="square" lIns="0" tIns="0" rIns="0" bIns="0" rtlCol="0" anchor="t"/>
          <a:lstStyle/>
          <a:p>
            <a:pPr indent="0" marL="0">
              <a:buNone/>
            </a:pPr>
            <a:r>
              <a:rPr lang="en-US" sz="1400" b="1" dirty="0">
                <a:solidFill>
                  <a:schemeClr val="accent3"/>
                </a:solidFill>
              </a:rPr>
              <a:t>Withdrawn after the competitive check</a:t>
            </a:r>
            <a:endParaRPr lang="en-US" sz="1400" dirty="0"/>
          </a:p>
        </p:txBody>
      </p:sp>
      <p:sp>
        <p:nvSpPr>
          <p:cNvPr id="8" name="Text 6"/>
          <p:cNvSpPr txBox="1"/>
          <p:nvPr/>
        </p:nvSpPr>
        <p:spPr>
          <a:xfrm>
            <a:off x="731520" y="2377440"/>
            <a:ext cx="3840480" cy="1463040"/>
          </a:xfrm>
          <a:prstGeom prst="rect">
            <a:avLst/>
          </a:prstGeom>
          <a:noFill/>
          <a:ln/>
        </p:spPr>
        <p:txBody>
          <a:bodyPr wrap="square" lIns="0" tIns="0" rIns="0" bIns="0" rtlCol="0" anchor="t"/>
          <a:lstStyle/>
          <a:p>
            <a:pPr marL="177800" indent="-177800">
              <a:spcAft>
                <a:spcPts val="500"/>
              </a:spcAft>
              <a:buSzPct val="100000"/>
              <a:buChar char="•"/>
            </a:pPr>
            <a:r>
              <a:rPr lang="en-US" sz="1250" strike="sngStrike" dirty="0">
                <a:solidFill>
                  <a:schemeClr val="accent4"/>
                </a:solidFill>
              </a:rPr>
              <a:t>Low-friction onboarding of non-ERP suppliers</a:t>
            </a:r>
            <a:endParaRPr lang="en-US" sz="1250" dirty="0"/>
          </a:p>
          <a:p>
            <a:pPr marL="177800" indent="-177800">
              <a:spcAft>
                <a:spcPts val="500"/>
              </a:spcAft>
              <a:buSzPct val="100000"/>
              <a:buChar char="•"/>
            </a:pPr>
            <a:r>
              <a:rPr lang="en-US" sz="1250" strike="sngStrike" dirty="0">
                <a:solidFill>
                  <a:schemeClr val="accent4"/>
                </a:solidFill>
              </a:rPr>
              <a:t>Split-shipment confirmation</a:t>
            </a:r>
            <a:endParaRPr lang="en-US" sz="1250" dirty="0"/>
          </a:p>
          <a:p>
            <a:pPr marL="177800" indent="-177800">
              <a:spcAft>
                <a:spcPts val="500"/>
              </a:spcAft>
              <a:buSzPct val="100000"/>
              <a:buChar char="•"/>
            </a:pPr>
            <a:r>
              <a:rPr lang="en-US" sz="1250" strike="sngStrike" dirty="0">
                <a:solidFill>
                  <a:schemeClr val="accent4"/>
                </a:solidFill>
              </a:rPr>
              <a:t>Fresh-produce shelf-life planning</a:t>
            </a:r>
            <a:endParaRPr lang="en-US" sz="1250" dirty="0"/>
          </a:p>
          <a:p>
            <a:pPr marL="177800" indent="-177800">
              <a:spcAft>
                <a:spcPts val="500"/>
              </a:spcAft>
              <a:buSzPct val="100000"/>
              <a:buChar char="•"/>
            </a:pPr>
            <a:r>
              <a:rPr lang="en-US" sz="1250" strike="sngStrike" dirty="0">
                <a:solidFill>
                  <a:schemeClr val="accent4"/>
                </a:solidFill>
              </a:rPr>
              <a:t>Downstream impact analysis</a:t>
            </a:r>
            <a:endParaRPr lang="en-US" sz="1250" dirty="0"/>
          </a:p>
        </p:txBody>
      </p:sp>
      <p:sp>
        <p:nvSpPr>
          <p:cNvPr id="9" name="Text 7"/>
          <p:cNvSpPr txBox="1"/>
          <p:nvPr/>
        </p:nvSpPr>
        <p:spPr>
          <a:xfrm>
            <a:off x="731520" y="3840480"/>
            <a:ext cx="3840480" cy="411480"/>
          </a:xfrm>
          <a:prstGeom prst="rect">
            <a:avLst/>
          </a:prstGeom>
          <a:noFill/>
          <a:ln/>
        </p:spPr>
        <p:txBody>
          <a:bodyPr wrap="square" lIns="0" tIns="0" rIns="0" bIns="0" rtlCol="0" anchor="t"/>
          <a:lstStyle/>
          <a:p>
            <a:pPr indent="0" marL="0">
              <a:buNone/>
            </a:pPr>
            <a:r>
              <a:rPr lang="en-US" sz="1150" dirty="0">
                <a:solidFill>
                  <a:schemeClr val="accent4"/>
                </a:solidFill>
              </a:rPr>
              <a:t>Each is covered, or plausibly covered, by an incumbent.</a:t>
            </a:r>
            <a:endParaRPr lang="en-US" sz="1150" dirty="0"/>
          </a:p>
        </p:txBody>
      </p:sp>
      <p:sp>
        <p:nvSpPr>
          <p:cNvPr id="10" name="Shape 8"/>
          <p:cNvSpPr/>
          <p:nvPr/>
        </p:nvSpPr>
        <p:spPr>
          <a:xfrm>
            <a:off x="4937760" y="1874520"/>
            <a:ext cx="6675120" cy="2468880"/>
          </a:xfrm>
          <a:prstGeom prst="roundRect">
            <a:avLst>
              <a:gd name="adj" fmla="val 2222"/>
            </a:avLst>
          </a:prstGeom>
          <a:solidFill>
            <a:schemeClr val="tx2"/>
          </a:solidFill>
          <a:ln w="12700">
            <a:solidFill>
              <a:srgbClr val="0F5C4D"/>
            </a:solidFill>
            <a:prstDash val="solid"/>
          </a:ln>
        </p:spPr>
      </p:sp>
      <p:sp>
        <p:nvSpPr>
          <p:cNvPr id="11" name="Text 9"/>
          <p:cNvSpPr txBox="1"/>
          <p:nvPr/>
        </p:nvSpPr>
        <p:spPr>
          <a:xfrm>
            <a:off x="5166360" y="2011680"/>
            <a:ext cx="6217920" cy="320040"/>
          </a:xfrm>
          <a:prstGeom prst="rect">
            <a:avLst/>
          </a:prstGeom>
          <a:noFill/>
          <a:ln/>
        </p:spPr>
        <p:txBody>
          <a:bodyPr wrap="square" lIns="0" tIns="0" rIns="0" bIns="0" rtlCol="0" anchor="t"/>
          <a:lstStyle/>
          <a:p>
            <a:pPr indent="0" marL="0">
              <a:buNone/>
            </a:pPr>
            <a:r>
              <a:rPr lang="en-US" sz="1400" b="1" dirty="0">
                <a:solidFill>
                  <a:schemeClr val="accent6"/>
                </a:solidFill>
              </a:rPr>
              <a:t>The one claim we kept</a:t>
            </a:r>
            <a:endParaRPr lang="en-US" sz="1400" dirty="0"/>
          </a:p>
        </p:txBody>
      </p:sp>
      <p:sp>
        <p:nvSpPr>
          <p:cNvPr id="12" name="Text 10"/>
          <p:cNvSpPr txBox="1"/>
          <p:nvPr/>
        </p:nvSpPr>
        <p:spPr>
          <a:xfrm>
            <a:off x="5166360" y="2377440"/>
            <a:ext cx="6217920" cy="1874520"/>
          </a:xfrm>
          <a:prstGeom prst="rect">
            <a:avLst/>
          </a:prstGeom>
          <a:noFill/>
          <a:ln/>
        </p:spPr>
        <p:txBody>
          <a:bodyPr wrap="square" lIns="0" tIns="0" rIns="0" bIns="0" rtlCol="0" anchor="t"/>
          <a:lstStyle/>
          <a:p>
            <a:pPr indent="0" marL="0">
              <a:buNone/>
            </a:pPr>
            <a:r>
              <a:rPr lang="en-US" sz="1350" i="1" dirty="0">
                <a:solidFill>
                  <a:schemeClr val="bg1"/>
                </a:solidFill>
              </a:rPr>
              <a:t>For a replenishment planner at an existing SAP retailer, when a demand concern meets an ambiguous supplier reply, Demand Pulse gets the arrival and lot conditions that actually change the decision, applies the retailer's existing rules, and hands both sides a cited, authorisable proposal, so the exception closes with less manual reconciliation on both ends and nothing is committed that the evidence does not support.</a:t>
            </a:r>
            <a:endParaRPr lang="en-US" sz="1350" dirty="0"/>
          </a:p>
        </p:txBody>
      </p:sp>
      <p:sp>
        <p:nvSpPr>
          <p:cNvPr id="13" name="Shape 11"/>
          <p:cNvSpPr/>
          <p:nvPr/>
        </p:nvSpPr>
        <p:spPr>
          <a:xfrm>
            <a:off x="548640" y="4526280"/>
            <a:ext cx="3566160" cy="1691640"/>
          </a:xfrm>
          <a:prstGeom prst="roundRect">
            <a:avLst>
              <a:gd name="adj" fmla="val 3243"/>
            </a:avLst>
          </a:prstGeom>
          <a:solidFill>
            <a:schemeClr val="bg2"/>
          </a:solidFill>
          <a:ln w="9525">
            <a:solidFill>
              <a:srgbClr val="D9E6E1"/>
            </a:solidFill>
            <a:prstDash val="solid"/>
          </a:ln>
        </p:spPr>
      </p:sp>
      <p:sp>
        <p:nvSpPr>
          <p:cNvPr id="14" name="Text 12"/>
          <p:cNvSpPr txBox="1"/>
          <p:nvPr/>
        </p:nvSpPr>
        <p:spPr>
          <a:xfrm>
            <a:off x="731520" y="4672584"/>
            <a:ext cx="3200400" cy="329184"/>
          </a:xfrm>
          <a:prstGeom prst="rect">
            <a:avLst/>
          </a:prstGeom>
          <a:noFill/>
          <a:ln/>
        </p:spPr>
        <p:txBody>
          <a:bodyPr wrap="square" lIns="0" tIns="0" rIns="0" bIns="0" rtlCol="0" anchor="t"/>
          <a:lstStyle/>
          <a:p>
            <a:pPr indent="0" marL="0">
              <a:buNone/>
            </a:pPr>
            <a:r>
              <a:rPr lang="en-US" sz="1500" b="1" dirty="0">
                <a:solidFill>
                  <a:schemeClr val="tx2"/>
                </a:solidFill>
              </a:rPr>
              <a:t>Buyer</a:t>
            </a:r>
            <a:endParaRPr lang="en-US" sz="1500" dirty="0"/>
          </a:p>
        </p:txBody>
      </p:sp>
      <p:sp>
        <p:nvSpPr>
          <p:cNvPr id="15" name="Text 13"/>
          <p:cNvSpPr txBox="1"/>
          <p:nvPr/>
        </p:nvSpPr>
        <p:spPr>
          <a:xfrm>
            <a:off x="731520" y="5056632"/>
            <a:ext cx="3200400" cy="1051560"/>
          </a:xfrm>
          <a:prstGeom prst="rect">
            <a:avLst/>
          </a:prstGeom>
          <a:noFill/>
          <a:ln/>
        </p:spPr>
        <p:txBody>
          <a:bodyPr wrap="square" lIns="0" tIns="0" rIns="0" bIns="0" rtlCol="0" anchor="t"/>
          <a:lstStyle/>
          <a:p>
            <a:pPr indent="0" marL="0">
              <a:buNone/>
            </a:pPr>
            <a:r>
              <a:rPr lang="en-US" sz="1200" dirty="0">
                <a:solidFill>
                  <a:schemeClr val="tx1"/>
                </a:solidFill>
              </a:rPr>
              <a:t>Category or replenishment manager at an SAP retail customer. Economic owner: procurement operations. The retailer pays.</a:t>
            </a:r>
            <a:endParaRPr lang="en-US" sz="1200" dirty="0"/>
          </a:p>
        </p:txBody>
      </p:sp>
      <p:sp>
        <p:nvSpPr>
          <p:cNvPr id="16" name="Shape 14"/>
          <p:cNvSpPr/>
          <p:nvPr/>
        </p:nvSpPr>
        <p:spPr>
          <a:xfrm>
            <a:off x="4297680" y="4526280"/>
            <a:ext cx="3566160" cy="1691640"/>
          </a:xfrm>
          <a:prstGeom prst="roundRect">
            <a:avLst>
              <a:gd name="adj" fmla="val 3243"/>
            </a:avLst>
          </a:prstGeom>
          <a:solidFill>
            <a:schemeClr val="bg2"/>
          </a:solidFill>
          <a:ln w="9525">
            <a:solidFill>
              <a:srgbClr val="D9E6E1"/>
            </a:solidFill>
            <a:prstDash val="solid"/>
          </a:ln>
        </p:spPr>
      </p:sp>
      <p:sp>
        <p:nvSpPr>
          <p:cNvPr id="17" name="Text 15"/>
          <p:cNvSpPr txBox="1"/>
          <p:nvPr/>
        </p:nvSpPr>
        <p:spPr>
          <a:xfrm>
            <a:off x="4480560" y="4672584"/>
            <a:ext cx="3200400" cy="329184"/>
          </a:xfrm>
          <a:prstGeom prst="rect">
            <a:avLst/>
          </a:prstGeom>
          <a:noFill/>
          <a:ln/>
        </p:spPr>
        <p:txBody>
          <a:bodyPr wrap="square" lIns="0" tIns="0" rIns="0" bIns="0" rtlCol="0" anchor="t"/>
          <a:lstStyle/>
          <a:p>
            <a:pPr indent="0" marL="0">
              <a:buNone/>
            </a:pPr>
            <a:r>
              <a:rPr lang="en-US" sz="1500" b="1" dirty="0">
                <a:solidFill>
                  <a:schemeClr val="tx2"/>
                </a:solidFill>
              </a:rPr>
              <a:t>Second user</a:t>
            </a:r>
            <a:endParaRPr lang="en-US" sz="1500" dirty="0"/>
          </a:p>
        </p:txBody>
      </p:sp>
      <p:sp>
        <p:nvSpPr>
          <p:cNvPr id="18" name="Text 16"/>
          <p:cNvSpPr txBox="1"/>
          <p:nvPr/>
        </p:nvSpPr>
        <p:spPr>
          <a:xfrm>
            <a:off x="4480560" y="5056632"/>
            <a:ext cx="3200400" cy="1051560"/>
          </a:xfrm>
          <a:prstGeom prst="rect">
            <a:avLst/>
          </a:prstGeom>
          <a:noFill/>
          <a:ln/>
        </p:spPr>
        <p:txBody>
          <a:bodyPr wrap="square" lIns="0" tIns="0" rIns="0" bIns="0" rtlCol="0" anchor="t"/>
          <a:lstStyle/>
          <a:p>
            <a:pPr indent="0" marL="0">
              <a:buNone/>
            </a:pPr>
            <a:r>
              <a:rPr lang="en-US" sz="1200" dirty="0">
                <a:solidFill>
                  <a:schemeClr val="tx1"/>
                </a:solidFill>
              </a:rPr>
              <a:t>The supplier's customer-service or logistics coordinator: a private draft and an explicit authorisation step instead of an email thread. Free to the supplier.</a:t>
            </a:r>
            <a:endParaRPr lang="en-US" sz="1200" dirty="0"/>
          </a:p>
        </p:txBody>
      </p:sp>
      <p:sp>
        <p:nvSpPr>
          <p:cNvPr id="19" name="Shape 17"/>
          <p:cNvSpPr/>
          <p:nvPr/>
        </p:nvSpPr>
        <p:spPr>
          <a:xfrm>
            <a:off x="8046720" y="4526280"/>
            <a:ext cx="3566160" cy="1691640"/>
          </a:xfrm>
          <a:prstGeom prst="roundRect">
            <a:avLst>
              <a:gd name="adj" fmla="val 3243"/>
            </a:avLst>
          </a:prstGeom>
          <a:solidFill>
            <a:schemeClr val="bg2"/>
          </a:solidFill>
          <a:ln w="9525">
            <a:solidFill>
              <a:srgbClr val="D9E6E1"/>
            </a:solidFill>
            <a:prstDash val="solid"/>
          </a:ln>
        </p:spPr>
      </p:sp>
      <p:sp>
        <p:nvSpPr>
          <p:cNvPr id="20" name="Text 18"/>
          <p:cNvSpPr txBox="1"/>
          <p:nvPr/>
        </p:nvSpPr>
        <p:spPr>
          <a:xfrm>
            <a:off x="8229600" y="4672584"/>
            <a:ext cx="3200400" cy="329184"/>
          </a:xfrm>
          <a:prstGeom prst="rect">
            <a:avLst/>
          </a:prstGeom>
          <a:noFill/>
          <a:ln/>
        </p:spPr>
        <p:txBody>
          <a:bodyPr wrap="square" lIns="0" tIns="0" rIns="0" bIns="0" rtlCol="0" anchor="t"/>
          <a:lstStyle/>
          <a:p>
            <a:pPr indent="0" marL="0">
              <a:buNone/>
            </a:pPr>
            <a:r>
              <a:rPr lang="en-US" sz="1500" b="1" dirty="0">
                <a:solidFill>
                  <a:schemeClr val="tx2"/>
                </a:solidFill>
              </a:rPr>
              <a:t>Channel and claim</a:t>
            </a:r>
            <a:endParaRPr lang="en-US" sz="1500" dirty="0"/>
          </a:p>
        </p:txBody>
      </p:sp>
      <p:sp>
        <p:nvSpPr>
          <p:cNvPr id="21" name="Text 19"/>
          <p:cNvSpPr txBox="1"/>
          <p:nvPr/>
        </p:nvSpPr>
        <p:spPr>
          <a:xfrm>
            <a:off x="8229600" y="5056632"/>
            <a:ext cx="3200400" cy="1051560"/>
          </a:xfrm>
          <a:prstGeom prst="rect">
            <a:avLst/>
          </a:prstGeom>
          <a:noFill/>
          <a:ln/>
        </p:spPr>
        <p:txBody>
          <a:bodyPr wrap="square" lIns="0" tIns="0" rIns="0" bIns="0" rtlCol="0" anchor="t"/>
          <a:lstStyle/>
          <a:p>
            <a:pPr indent="0" marL="0">
              <a:buNone/>
            </a:pPr>
            <a:r>
              <a:rPr lang="en-US" sz="1200" dirty="0">
                <a:solidFill>
                  <a:schemeClr val="tx1"/>
                </a:solidFill>
              </a:rPr>
              <a:t>An SAP partner extension on the existing landscape, not a standalone network. We claim lower total work at equal correctness, not a lower price.</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Finance: model cost is measured and small; the business case is not yet measured</a:t>
            </a:r>
            <a:endParaRPr lang="en-US" sz="3000" dirty="0"/>
          </a:p>
        </p:txBody>
      </p:sp>
      <p:sp>
        <p:nvSpPr>
          <p:cNvPr id="3" name="Shape 1"/>
          <p:cNvSpPr/>
          <p:nvPr/>
        </p:nvSpPr>
        <p:spPr>
          <a:xfrm>
            <a:off x="548640" y="1371600"/>
            <a:ext cx="1143000" cy="274320"/>
          </a:xfrm>
          <a:prstGeom prst="roundRect">
            <a:avLst>
              <a:gd name="adj" fmla="val 50000"/>
            </a:avLst>
          </a:prstGeom>
          <a:solidFill>
            <a:schemeClr val="tx1"/>
          </a:solidFill>
          <a:ln w="12700">
            <a:solidFill>
              <a:schemeClr val="tx1"/>
            </a:solidFill>
            <a:prstDash val="solid"/>
          </a:ln>
        </p:spPr>
      </p:sp>
      <p:sp>
        <p:nvSpPr>
          <p:cNvPr id="4" name="Text 2"/>
          <p:cNvSpPr txBox="1"/>
          <p:nvPr/>
        </p:nvSpPr>
        <p:spPr>
          <a:xfrm>
            <a:off x="548640" y="13716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Real-model</a:t>
            </a:r>
            <a:endParaRPr lang="en-US" sz="1000" dirty="0"/>
          </a:p>
        </p:txBody>
      </p:sp>
      <p:sp>
        <p:nvSpPr>
          <p:cNvPr id="5" name="Shape 3"/>
          <p:cNvSpPr/>
          <p:nvPr/>
        </p:nvSpPr>
        <p:spPr>
          <a:xfrm>
            <a:off x="1801368" y="1371600"/>
            <a:ext cx="1143000" cy="274320"/>
          </a:xfrm>
          <a:prstGeom prst="roundRect">
            <a:avLst>
              <a:gd name="adj" fmla="val 50000"/>
            </a:avLst>
          </a:prstGeom>
          <a:solidFill>
            <a:schemeClr val="accent2"/>
          </a:solidFill>
          <a:ln w="12700">
            <a:solidFill>
              <a:schemeClr val="accent2"/>
            </a:solidFill>
            <a:prstDash val="solid"/>
          </a:ln>
        </p:spPr>
      </p:sp>
      <p:sp>
        <p:nvSpPr>
          <p:cNvPr id="6" name="Text 4"/>
          <p:cNvSpPr txBox="1"/>
          <p:nvPr/>
        </p:nvSpPr>
        <p:spPr>
          <a:xfrm>
            <a:off x="1801368" y="13716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Hypothesis</a:t>
            </a:r>
            <a:endParaRPr lang="en-US" sz="1000" dirty="0"/>
          </a:p>
        </p:txBody>
      </p:sp>
      <p:sp>
        <p:nvSpPr>
          <p:cNvPr id="7" name="Text 5"/>
          <p:cNvSpPr txBox="1"/>
          <p:nvPr/>
        </p:nvSpPr>
        <p:spPr>
          <a:xfrm>
            <a:off x="2926080" y="1344168"/>
            <a:ext cx="8686800" cy="365760"/>
          </a:xfrm>
          <a:prstGeom prst="rect">
            <a:avLst/>
          </a:prstGeom>
          <a:noFill/>
          <a:ln/>
        </p:spPr>
        <p:txBody>
          <a:bodyPr wrap="square" lIns="0" tIns="0" rIns="0" bIns="0" rtlCol="0" anchor="t"/>
          <a:lstStyle/>
          <a:p>
            <a:pPr indent="0" marL="0">
              <a:buNone/>
            </a:pPr>
            <a:r>
              <a:rPr lang="en-US" sz="1300" i="1" dirty="0">
                <a:solidFill>
                  <a:schemeClr val="accent4"/>
                </a:solidFill>
              </a:rPr>
              <a:t>"Show me the unit economics, and why should I believe any of it when your own report says the simulated profit gains failed replication?"</a:t>
            </a:r>
            <a:endParaRPr lang="en-US" sz="1300" dirty="0"/>
          </a:p>
        </p:txBody>
      </p:sp>
      <p:graphicFrame>
        <p:nvGraphicFramePr>
          <p:cNvPr id="8" name="Chart 0" descr=""/>
          <p:cNvGraphicFramePr/>
          <p:nvPr/>
        </p:nvGraphicFramePr>
        <p:xfrm>
          <a:off x="548640" y="1828800"/>
          <a:ext cx="5760720" cy="29260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0" y="1828800"/>
            <a:ext cx="5029200" cy="868680"/>
          </a:xfrm>
          <a:prstGeom prst="roundRect">
            <a:avLst>
              <a:gd name="adj" fmla="val 6316"/>
            </a:avLst>
          </a:prstGeom>
          <a:solidFill>
            <a:schemeClr val="bg2"/>
          </a:solidFill>
          <a:ln w="9525">
            <a:solidFill>
              <a:srgbClr val="D9E6E1"/>
            </a:solidFill>
            <a:prstDash val="solid"/>
          </a:ln>
        </p:spPr>
      </p:sp>
      <p:sp>
        <p:nvSpPr>
          <p:cNvPr id="10" name="Text 7"/>
          <p:cNvSpPr txBox="1"/>
          <p:nvPr/>
        </p:nvSpPr>
        <p:spPr>
          <a:xfrm>
            <a:off x="6766560" y="1938528"/>
            <a:ext cx="201168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&lt; USD 1</a:t>
            </a:r>
            <a:endParaRPr lang="en-US" sz="2600" dirty="0"/>
          </a:p>
        </p:txBody>
      </p:sp>
      <p:sp>
        <p:nvSpPr>
          <p:cNvPr id="11" name="Text 8"/>
          <p:cNvSpPr txBox="1"/>
          <p:nvPr/>
        </p:nvSpPr>
        <p:spPr>
          <a:xfrm>
            <a:off x="8778240" y="1965960"/>
            <a:ext cx="2743200" cy="640080"/>
          </a:xfrm>
          <a:prstGeom prst="rect">
            <a:avLst/>
          </a:prstGeom>
          <a:noFill/>
          <a:ln/>
        </p:spPr>
        <p:txBody>
          <a:bodyPr wrap="square" lIns="0" tIns="0" rIns="0" bIns="0" rtlCol="0" anchor="ctr"/>
          <a:lstStyle/>
          <a:p>
            <a:pPr indent="0" marL="0">
              <a:buNone/>
            </a:pPr>
            <a:r>
              <a:rPr lang="en-US" sz="1150" dirty="0">
                <a:solidFill>
                  <a:schemeClr val="tx1"/>
                </a:solidFill>
              </a:rPr>
              <a:t>per exception including one correction round, on prototype prompts</a:t>
            </a:r>
            <a:endParaRPr lang="en-US" sz="1150" dirty="0"/>
          </a:p>
        </p:txBody>
      </p:sp>
      <p:sp>
        <p:nvSpPr>
          <p:cNvPr id="12" name="Shape 9"/>
          <p:cNvSpPr/>
          <p:nvPr/>
        </p:nvSpPr>
        <p:spPr>
          <a:xfrm>
            <a:off x="6583680" y="2816352"/>
            <a:ext cx="5029200" cy="868680"/>
          </a:xfrm>
          <a:prstGeom prst="roundRect">
            <a:avLst>
              <a:gd name="adj" fmla="val 6316"/>
            </a:avLst>
          </a:prstGeom>
          <a:solidFill>
            <a:schemeClr val="bg2"/>
          </a:solidFill>
          <a:ln w="9525">
            <a:solidFill>
              <a:srgbClr val="D9E6E1"/>
            </a:solidFill>
            <a:prstDash val="solid"/>
          </a:ln>
        </p:spPr>
      </p:sp>
      <p:sp>
        <p:nvSpPr>
          <p:cNvPr id="13" name="Text 10"/>
          <p:cNvSpPr txBox="1"/>
          <p:nvPr/>
        </p:nvSpPr>
        <p:spPr>
          <a:xfrm>
            <a:off x="6766560" y="2926080"/>
            <a:ext cx="201168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3.03 / 4.00</a:t>
            </a:r>
            <a:endParaRPr lang="en-US" sz="2600" dirty="0"/>
          </a:p>
        </p:txBody>
      </p:sp>
      <p:sp>
        <p:nvSpPr>
          <p:cNvPr id="14" name="Text 11"/>
          <p:cNvSpPr txBox="1"/>
          <p:nvPr/>
        </p:nvSpPr>
        <p:spPr>
          <a:xfrm>
            <a:off x="8778240" y="2953512"/>
            <a:ext cx="2743200" cy="640080"/>
          </a:xfrm>
          <a:prstGeom prst="rect">
            <a:avLst/>
          </a:prstGeom>
          <a:noFill/>
          <a:ln/>
        </p:spPr>
        <p:txBody>
          <a:bodyPr wrap="square" lIns="0" tIns="0" rIns="0" bIns="0" rtlCol="0" anchor="ctr"/>
          <a:lstStyle/>
          <a:p>
            <a:pPr indent="0" marL="0">
              <a:buNone/>
            </a:pPr>
            <a:r>
              <a:rPr lang="en-US" sz="1150" dirty="0">
                <a:solidFill>
                  <a:schemeClr val="tx1"/>
                </a:solidFill>
              </a:rPr>
              <a:t>USD on the cloud ledger; project authorisation USD 20</a:t>
            </a:r>
            <a:endParaRPr lang="en-US" sz="1150" dirty="0"/>
          </a:p>
        </p:txBody>
      </p:sp>
      <p:sp>
        <p:nvSpPr>
          <p:cNvPr id="15" name="Shape 12"/>
          <p:cNvSpPr/>
          <p:nvPr/>
        </p:nvSpPr>
        <p:spPr>
          <a:xfrm>
            <a:off x="6583680" y="3803904"/>
            <a:ext cx="5029200" cy="868680"/>
          </a:xfrm>
          <a:prstGeom prst="roundRect">
            <a:avLst>
              <a:gd name="adj" fmla="val 6316"/>
            </a:avLst>
          </a:prstGeom>
          <a:solidFill>
            <a:schemeClr val="bg2"/>
          </a:solidFill>
          <a:ln w="9525">
            <a:solidFill>
              <a:srgbClr val="D9E6E1"/>
            </a:solidFill>
            <a:prstDash val="solid"/>
          </a:ln>
        </p:spPr>
      </p:sp>
      <p:sp>
        <p:nvSpPr>
          <p:cNvPr id="16" name="Text 13"/>
          <p:cNvSpPr txBox="1"/>
          <p:nvPr/>
        </p:nvSpPr>
        <p:spPr>
          <a:xfrm>
            <a:off x="6766560" y="3913632"/>
            <a:ext cx="201168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1 of 3</a:t>
            </a:r>
            <a:endParaRPr lang="en-US" sz="2600" dirty="0"/>
          </a:p>
        </p:txBody>
      </p:sp>
      <p:sp>
        <p:nvSpPr>
          <p:cNvPr id="17" name="Text 14"/>
          <p:cNvSpPr txBox="1"/>
          <p:nvPr/>
        </p:nvSpPr>
        <p:spPr>
          <a:xfrm>
            <a:off x="8778240" y="3941064"/>
            <a:ext cx="2743200" cy="640080"/>
          </a:xfrm>
          <a:prstGeom prst="rect">
            <a:avLst/>
          </a:prstGeom>
          <a:noFill/>
          <a:ln/>
        </p:spPr>
        <p:txBody>
          <a:bodyPr wrap="square" lIns="0" tIns="0" rIns="0" bIns="0" rtlCol="0" anchor="ctr"/>
          <a:lstStyle/>
          <a:p>
            <a:pPr indent="0" marL="0">
              <a:buNone/>
            </a:pPr>
            <a:r>
              <a:rPr lang="en-US" sz="1150" dirty="0">
                <a:solidFill>
                  <a:schemeClr val="tx1"/>
                </a:solidFill>
              </a:rPr>
              <a:t>items produced an unsupported quantity in prose; caught, quarantined, repaired</a:t>
            </a:r>
            <a:endParaRPr lang="en-US" sz="1150" dirty="0"/>
          </a:p>
        </p:txBody>
      </p:sp>
      <p:sp>
        <p:nvSpPr>
          <p:cNvPr id="18" name="Shape 15"/>
          <p:cNvSpPr/>
          <p:nvPr/>
        </p:nvSpPr>
        <p:spPr>
          <a:xfrm>
            <a:off x="548640" y="4937760"/>
            <a:ext cx="11064240" cy="1280160"/>
          </a:xfrm>
          <a:prstGeom prst="roundRect">
            <a:avLst>
              <a:gd name="adj" fmla="val 4286"/>
            </a:avLst>
          </a:prstGeom>
          <a:solidFill>
            <a:schemeClr val="bg1"/>
          </a:solidFill>
          <a:ln w="12700">
            <a:solidFill>
              <a:srgbClr val="C8781E"/>
            </a:solidFill>
            <a:prstDash val="solid"/>
          </a:ln>
        </p:spPr>
      </p:sp>
      <p:sp>
        <p:nvSpPr>
          <p:cNvPr id="19" name="Text 16"/>
          <p:cNvSpPr txBox="1"/>
          <p:nvPr/>
        </p:nvSpPr>
        <p:spPr>
          <a:xfrm>
            <a:off x="822960" y="5047488"/>
            <a:ext cx="10515600" cy="1097280"/>
          </a:xfrm>
          <a:prstGeom prst="rect">
            <a:avLst/>
          </a:prstGeom>
          <a:noFill/>
          <a:ln/>
        </p:spPr>
        <p:txBody>
          <a:bodyPr wrap="square" lIns="0" tIns="0" rIns="0" bIns="0" rtlCol="0" anchor="t"/>
          <a:lstStyle/>
          <a:p>
            <a:pPr indent="0" marL="0">
              <a:buNone/>
            </a:pPr>
            <a:r>
              <a:rPr lang="en-US" sz="1200" b="1" dirty="0">
                <a:solidFill>
                  <a:schemeClr val="accent2"/>
                </a:solidFill>
              </a:rPr>
              <a:t>What the break-even depends on, all unmeasured.  </a:t>
            </a:r>
            <a:pPr indent="0" marL="0">
              <a:buNone/>
            </a:pPr>
            <a:r>
              <a:rPr lang="en-US" sz="1200" dirty="0">
                <a:solidFill>
                  <a:schemeClr val="tx1"/>
                </a:solidFill>
              </a:rPr>
              <a:t>Active minutes saved per exception on both sides; critical errors avoided versus introduced; one-time integration and onboarding on the customer's SAP landscape. Illustrative only: at a CAD 45 per hour loaded planner cost, about one minute covers the model cost, so integration is the number that matters. The simulated demand-recovery gains were withdrawn (equal-cost recovery negative on FreshRetailNet-50K; replication failed) and are not in this case.</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Product strategy: a wedge chosen by elimination, released through gates</a:t>
            </a:r>
            <a:endParaRPr lang="en-US" sz="3000" dirty="0"/>
          </a:p>
        </p:txBody>
      </p:sp>
      <p:sp>
        <p:nvSpPr>
          <p:cNvPr id="3" name="Shape 1"/>
          <p:cNvSpPr/>
          <p:nvPr/>
        </p:nvSpPr>
        <p:spPr>
          <a:xfrm>
            <a:off x="548640" y="1371600"/>
            <a:ext cx="1143000" cy="274320"/>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548640" y="13716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Hypothesis</a:t>
            </a:r>
            <a:endParaRPr lang="en-US" sz="1000" dirty="0"/>
          </a:p>
        </p:txBody>
      </p:sp>
      <p:sp>
        <p:nvSpPr>
          <p:cNvPr id="5" name="Text 3"/>
          <p:cNvSpPr txBox="1"/>
          <p:nvPr/>
        </p:nvSpPr>
        <p:spPr>
          <a:xfrm>
            <a:off x="1828800" y="1344168"/>
            <a:ext cx="9784080" cy="365760"/>
          </a:xfrm>
          <a:prstGeom prst="rect">
            <a:avLst/>
          </a:prstGeom>
          <a:noFill/>
          <a:ln/>
        </p:spPr>
        <p:txBody>
          <a:bodyPr wrap="square" lIns="0" tIns="0" rIns="0" bIns="0" rtlCol="0" anchor="t"/>
          <a:lstStyle/>
          <a:p>
            <a:pPr indent="0" marL="0">
              <a:buNone/>
            </a:pPr>
            <a:r>
              <a:rPr lang="en-US" sz="1300" i="1" dirty="0">
                <a:solidFill>
                  <a:schemeClr val="accent4"/>
                </a:solidFill>
              </a:rPr>
              <a:t>"You started with a responsive supply network and ended with one exception on one synthetic case. Wedge or retreat?"</a:t>
            </a:r>
            <a:endParaRPr lang="en-US" sz="1300" dirty="0"/>
          </a:p>
        </p:txBody>
      </p:sp>
      <p:sp>
        <p:nvSpPr>
          <p:cNvPr id="6" name="Shape 4"/>
          <p:cNvSpPr/>
          <p:nvPr/>
        </p:nvSpPr>
        <p:spPr>
          <a:xfrm>
            <a:off x="548640" y="1874520"/>
            <a:ext cx="4206240" cy="4343400"/>
          </a:xfrm>
          <a:prstGeom prst="roundRect">
            <a:avLst>
              <a:gd name="adj" fmla="val 1304"/>
            </a:avLst>
          </a:prstGeom>
          <a:solidFill>
            <a:schemeClr val="bg2"/>
          </a:solidFill>
          <a:ln w="9525">
            <a:solidFill>
              <a:srgbClr val="D9E6E1"/>
            </a:solidFill>
            <a:prstDash val="solid"/>
          </a:ln>
        </p:spPr>
      </p:sp>
      <p:sp>
        <p:nvSpPr>
          <p:cNvPr id="7" name="Text 5"/>
          <p:cNvSpPr txBox="1"/>
          <p:nvPr/>
        </p:nvSpPr>
        <p:spPr>
          <a:xfrm>
            <a:off x="731520" y="2020824"/>
            <a:ext cx="3840480" cy="329184"/>
          </a:xfrm>
          <a:prstGeom prst="rect">
            <a:avLst/>
          </a:prstGeom>
          <a:noFill/>
          <a:ln/>
        </p:spPr>
        <p:txBody>
          <a:bodyPr wrap="square" lIns="0" tIns="0" rIns="0" bIns="0" rtlCol="0" anchor="t"/>
          <a:lstStyle/>
          <a:p>
            <a:pPr indent="0" marL="0">
              <a:buNone/>
            </a:pPr>
            <a:r>
              <a:rPr lang="en-US" sz="1500" b="1" dirty="0">
                <a:solidFill>
                  <a:schemeClr val="tx2"/>
                </a:solidFill>
              </a:rPr>
              <a:t>Tested and dropped</a:t>
            </a:r>
            <a:endParaRPr lang="en-US" sz="1500" dirty="0"/>
          </a:p>
        </p:txBody>
      </p:sp>
      <p:sp>
        <p:nvSpPr>
          <p:cNvPr id="8" name="Text 6"/>
          <p:cNvSpPr txBox="1"/>
          <p:nvPr/>
        </p:nvSpPr>
        <p:spPr>
          <a:xfrm>
            <a:off x="731520" y="2404872"/>
            <a:ext cx="3840480" cy="37033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A complete detection-and-response policy: did not reliably improve profit; could lose at equal cost</a:t>
            </a:r>
            <a:endParaRPr lang="en-US" sz="1200" dirty="0"/>
          </a:p>
          <a:p>
            <a:pPr marL="177800" indent="-177800">
              <a:spcAft>
                <a:spcPts val="400"/>
              </a:spcAft>
              <a:buSzPct val="100000"/>
              <a:buChar char="•"/>
            </a:pPr>
            <a:r>
              <a:rPr lang="en-US" sz="1200" dirty="0">
                <a:solidFill>
                  <a:schemeClr val="tx1"/>
                </a:solidFill>
              </a:rPr>
              <a:t>Store transfers: gains tiny, failed the preregistered replication criterion</a:t>
            </a:r>
            <a:endParaRPr lang="en-US" sz="1200" dirty="0"/>
          </a:p>
          <a:p>
            <a:pPr marL="177800" indent="-177800">
              <a:spcAft>
                <a:spcPts val="400"/>
              </a:spcAft>
              <a:buSzPct val="100000"/>
              <a:buChar char="•"/>
            </a:pPr>
            <a:r>
              <a:rPr lang="en-US" sz="1200" dirty="0">
                <a:solidFill>
                  <a:schemeClr val="tx1"/>
                </a:solidFill>
              </a:rPr>
              <a:t>Available supply as proof of demand: wrong, and now a rule violation</a:t>
            </a:r>
            <a:endParaRPr lang="en-US" sz="1200" dirty="0"/>
          </a:p>
          <a:p>
            <a:pPr marL="177800" indent="-177800">
              <a:spcAft>
                <a:spcPts val="400"/>
              </a:spcAft>
              <a:buSzPct val="100000"/>
              <a:buChar char="•"/>
            </a:pPr>
            <a:r>
              <a:rPr lang="en-US" sz="1200" dirty="0">
                <a:solidFill>
                  <a:schemeClr val="tx1"/>
                </a:solidFill>
              </a:rPr>
              <a:t>Low-friction supplier network as the differentiator: covered by incumbents</a:t>
            </a:r>
            <a:endParaRPr lang="en-US" sz="1200" dirty="0"/>
          </a:p>
        </p:txBody>
      </p:sp>
      <p:sp>
        <p:nvSpPr>
          <p:cNvPr id="9" name="Text 7"/>
          <p:cNvSpPr txBox="1"/>
          <p:nvPr/>
        </p:nvSpPr>
        <p:spPr>
          <a:xfrm>
            <a:off x="731520" y="5120640"/>
            <a:ext cx="3840480" cy="1005840"/>
          </a:xfrm>
          <a:prstGeom prst="rect">
            <a:avLst/>
          </a:prstGeom>
          <a:noFill/>
          <a:ln/>
        </p:spPr>
        <p:txBody>
          <a:bodyPr wrap="square" lIns="0" tIns="0" rIns="0" bIns="0" rtlCol="0" anchor="t"/>
          <a:lstStyle/>
          <a:p>
            <a:pPr indent="0" marL="0">
              <a:buNone/>
            </a:pPr>
            <a:r>
              <a:rPr lang="en-US" sz="1200" b="1" dirty="0">
                <a:solidFill>
                  <a:schemeClr val="tx2"/>
                </a:solidFill>
              </a:rPr>
              <a:t>What survived every test: evidence preparation across fragmented replies, bounded follow-up, explicit correction, separated authority. Useful even when the demand signal is noise, because the exception still has to be closed.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937760" y="1874520"/>
          <a:ext cx="6675120" cy="914400"/>
        </p:xfrm>
        <a:graphic>
          <a:graphicData uri="http://schemas.openxmlformats.org/drawingml/2006/table">
            <a:tbl>
              <a:tblPr/>
              <a:tblGrid>
                <a:gridCol w="1463040"/>
                <a:gridCol w="2743200"/>
                <a:gridCol w="24688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ships</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 to proceed</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r>
              <a:tr h="68580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0 · now</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v50 deployed; v51 in progress; sandbox, client and acceptance kit built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v51 validation record exists; feature freeze</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114300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1 · acceptance, then pilot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Twelve-day engineering acceptance on the connected loop; then three arms on 10–20 consecutive real exceptions with one partner</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Critical errors do not worsen; total human burden falls enough to cover model, verification and onboarding. If forms match, ship the form</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77724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2 · SAP read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Baseline PO, stock, inbound and status read from a real tenant; identities for planner and supplier roles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A tenant owner validates the boundary; no write yet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731520">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3 · SAP write</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Version-linked change request into the existing approval process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The approval owner accepts the disposition format; idempotent write path tested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4937760" y="5806440"/>
            <a:ext cx="6675120" cy="365760"/>
          </a:xfrm>
          <a:prstGeom prst="rect">
            <a:avLst/>
          </a:prstGeom>
          <a:noFill/>
          <a:ln/>
        </p:spPr>
        <p:txBody>
          <a:bodyPr wrap="square" lIns="0" tIns="0" rIns="0" bIns="0" rtlCol="0" anchor="t"/>
          <a:lstStyle/>
          <a:p>
            <a:pPr indent="0" marL="0">
              <a:buNone/>
            </a:pPr>
            <a:r>
              <a:rPr lang="en-US" sz="1150" dirty="0">
                <a:solidFill>
                  <a:schemeClr val="accent4"/>
                </a:solidFill>
              </a:rPr>
              <a:t>Stop conditions are on the next slide. Each gate is a decision the panel can hold us to.</a:t>
            </a:r>
            <a:endParaRPr lang="en-US" sz="11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How we lose: six conditions, decided before the first test</a:t>
            </a:r>
            <a:endParaRPr lang="en-US" sz="3000" dirty="0"/>
          </a:p>
        </p:txBody>
      </p:sp>
      <p:sp>
        <p:nvSpPr>
          <p:cNvPr id="3" name="Shape 1"/>
          <p:cNvSpPr/>
          <p:nvPr/>
        </p:nvSpPr>
        <p:spPr>
          <a:xfrm>
            <a:off x="548640" y="1463040"/>
            <a:ext cx="11064240" cy="914400"/>
          </a:xfrm>
          <a:prstGeom prst="roundRect">
            <a:avLst>
              <a:gd name="adj" fmla="val 6000"/>
            </a:avLst>
          </a:prstGeom>
          <a:solidFill>
            <a:schemeClr val="bg2"/>
          </a:solidFill>
          <a:ln w="9525">
            <a:solidFill>
              <a:srgbClr val="D9E6E1"/>
            </a:solidFill>
            <a:prstDash val="solid"/>
          </a:ln>
        </p:spPr>
      </p:sp>
      <p:sp>
        <p:nvSpPr>
          <p:cNvPr id="4" name="Text 2"/>
          <p:cNvSpPr txBox="1"/>
          <p:nvPr/>
        </p:nvSpPr>
        <p:spPr>
          <a:xfrm>
            <a:off x="822960" y="1572768"/>
            <a:ext cx="10515600" cy="731520"/>
          </a:xfrm>
          <a:prstGeom prst="rect">
            <a:avLst/>
          </a:prstGeom>
          <a:noFill/>
          <a:ln/>
        </p:spPr>
        <p:txBody>
          <a:bodyPr wrap="square" lIns="0" tIns="0" rIns="0" bIns="0" rtlCol="0" anchor="t"/>
          <a:lstStyle/>
          <a:p>
            <a:pPr indent="0" marL="0">
              <a:buNone/>
            </a:pPr>
            <a:r>
              <a:rPr lang="en-US" sz="1250" b="1" dirty="0">
                <a:solidFill>
                  <a:schemeClr val="tx2"/>
                </a:solidFill>
              </a:rPr>
              <a:t>Thesis under test.  </a:t>
            </a:r>
            <a:pPr indent="0" marL="0">
              <a:buNone/>
            </a:pPr>
            <a:r>
              <a:rPr lang="en-US" sz="1250" dirty="0">
                <a:solidFill>
                  <a:schemeClr val="tx1"/>
                </a:solidFill>
              </a:rPr>
              <a:t>On exceptions whose reply channel and procurement object are connected, Demand Pulse cuts the median combined active handling time of planner and supplier by at least 30 percent against the current manual process without increasing critical errors, and by a further 15 percent against a strong form-and-rules workflow without shifting work onto the supplier. Both percentages are pre-set targets, frozen with the pilot partner before run one.</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11064240" cy="914400"/>
        </p:xfrm>
        <a:graphic>
          <a:graphicData uri="http://schemas.openxmlformats.org/drawingml/2006/table">
            <a:tbl>
              <a:tblPr/>
              <a:tblGrid>
                <a:gridCol w="6400800"/>
                <a:gridCol w="46634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If the test shows</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Then we</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r>
              <a:tr h="475488">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After connection a human still re-keys or re-organises the same information</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Treat the loop as not closed; fix the workflow before claiming anything</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Active handling time misses the target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Do not claim an efficiency benefit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Strong form-and-rules performs as well as the Agent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Ship the form and rules; no AI for its own sake</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Supplier workload rises enough to offset the retailer's gain</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Redesign the division of work</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Any critical error: overstepped authority, wrong case matched, duplicate submission</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Suspend automatic submission</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Time is dominated by production and transport, not information handling</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b="1" dirty="0">
                          <a:solidFill>
                            <a:srgbClr val="14353A"/>
                          </a:solidFill>
                          <a:latin typeface="Calibri" pitchFamily="34" charset="0"/>
                          <a:ea typeface="Calibri" pitchFamily="34" charset="-122"/>
                          <a:cs typeface="Calibri" pitchFamily="34" charset="-120"/>
                        </a:rPr>
                        <a:t>Do not promise improved arrival</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150" dirty="0">
                <a:solidFill>
                  <a:schemeClr val="accent4"/>
                </a:solidFill>
              </a:rPr>
              <a:t>Ten tasks can surface problems and tell us whether to continue. They cannot establish a stable commercial return, and the 15 percent margin is not statistically detectable at that size. Real decisions wait for dozens of real tasks.</a:t>
            </a:r>
            <a:endParaRPr lang="en-US" sz="11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Two tests, reported apart: engineering acceptance, then business validation</a:t>
            </a:r>
            <a:endParaRPr lang="en-US" sz="3000" dirty="0"/>
          </a:p>
        </p:txBody>
      </p:sp>
      <p:sp>
        <p:nvSpPr>
          <p:cNvPr id="3" name="Shape 1"/>
          <p:cNvSpPr/>
          <p:nvPr/>
        </p:nvSpPr>
        <p:spPr>
          <a:xfrm>
            <a:off x="548640" y="1508760"/>
            <a:ext cx="5440680" cy="4709160"/>
          </a:xfrm>
          <a:prstGeom prst="roundRect">
            <a:avLst>
              <a:gd name="adj" fmla="val 1165"/>
            </a:avLst>
          </a:prstGeom>
          <a:solidFill>
            <a:schemeClr val="bg2"/>
          </a:solidFill>
          <a:ln w="9525">
            <a:solidFill>
              <a:srgbClr val="D9E6E1"/>
            </a:solidFill>
            <a:prstDash val="solid"/>
          </a:ln>
        </p:spPr>
      </p:sp>
      <p:sp>
        <p:nvSpPr>
          <p:cNvPr id="4" name="Shape 2"/>
          <p:cNvSpPr/>
          <p:nvPr/>
        </p:nvSpPr>
        <p:spPr>
          <a:xfrm>
            <a:off x="731520" y="1664208"/>
            <a:ext cx="1051560" cy="274320"/>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731520" y="1664208"/>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Built</a:t>
            </a:r>
            <a:endParaRPr lang="en-US" sz="1000" dirty="0"/>
          </a:p>
        </p:txBody>
      </p:sp>
      <p:sp>
        <p:nvSpPr>
          <p:cNvPr id="6" name="Text 4"/>
          <p:cNvSpPr txBox="1"/>
          <p:nvPr/>
        </p:nvSpPr>
        <p:spPr>
          <a:xfrm>
            <a:off x="1920240" y="1645920"/>
            <a:ext cx="3931920" cy="320040"/>
          </a:xfrm>
          <a:prstGeom prst="rect">
            <a:avLst/>
          </a:prstGeom>
          <a:noFill/>
          <a:ln/>
        </p:spPr>
        <p:txBody>
          <a:bodyPr wrap="square" lIns="0" tIns="0" rIns="0" bIns="0" rtlCol="0" anchor="t"/>
          <a:lstStyle/>
          <a:p>
            <a:pPr indent="0" marL="0">
              <a:buNone/>
            </a:pPr>
            <a:r>
              <a:rPr lang="en-US" sz="1450" b="1" dirty="0">
                <a:solidFill>
                  <a:schemeClr val="tx2"/>
                </a:solidFill>
              </a:rPr>
              <a:t>Engineering acceptance: ten frozen tasks</a:t>
            </a:r>
            <a:endParaRPr lang="en-US" sz="1450" dirty="0"/>
          </a:p>
        </p:txBody>
      </p:sp>
      <p:sp>
        <p:nvSpPr>
          <p:cNvPr id="7" name="Text 5"/>
          <p:cNvSpPr txBox="1"/>
          <p:nvPr/>
        </p:nvSpPr>
        <p:spPr>
          <a:xfrm>
            <a:off x="731520" y="2103120"/>
            <a:ext cx="5074920" cy="28346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chemeClr val="tx1"/>
                </a:solidFill>
              </a:rPr>
              <a:t>T01 Ambiguous reply → WAIT, no object</a:t>
            </a:r>
            <a:endParaRPr lang="en-US" sz="1150" dirty="0"/>
          </a:p>
          <a:p>
            <a:pPr marL="177800" indent="-177800">
              <a:spcAft>
                <a:spcPts val="300"/>
              </a:spcAft>
              <a:buSzPct val="100000"/>
              <a:buChar char="•"/>
            </a:pPr>
            <a:r>
              <a:rPr lang="en-US" sz="1150" dirty="0">
                <a:solidFill>
                  <a:schemeClr val="tx1"/>
                </a:solidFill>
              </a:rPr>
              <a:t>T02 Explicit revision → CHANGE 140, released</a:t>
            </a:r>
            <a:endParaRPr lang="en-US" sz="1150" dirty="0"/>
          </a:p>
          <a:p>
            <a:pPr marL="177800" indent="-177800">
              <a:spcAft>
                <a:spcPts val="300"/>
              </a:spcAft>
              <a:buSzPct val="100000"/>
              <a:buChar char="•"/>
            </a:pPr>
            <a:r>
              <a:rPr lang="en-US" sz="1150" dirty="0">
                <a:solidFill>
                  <a:schemeClr val="tx1"/>
                </a:solidFill>
              </a:rPr>
              <a:t>T03 Partial fulfilment → CHANGE 60 + WAIT 80</a:t>
            </a:r>
            <a:endParaRPr lang="en-US" sz="1150" dirty="0"/>
          </a:p>
          <a:p>
            <a:pPr marL="177800" indent="-177800">
              <a:spcAft>
                <a:spcPts val="300"/>
              </a:spcAft>
              <a:buSzPct val="100000"/>
              <a:buChar char="•"/>
            </a:pPr>
            <a:r>
              <a:rPr lang="en-US" sz="1150" dirty="0">
                <a:solidFill>
                  <a:schemeClr val="tx1"/>
                </a:solidFill>
              </a:rPr>
              <a:t>T04 Bottles not cases → 140 CS, never 3,360</a:t>
            </a:r>
            <a:endParaRPr lang="en-US" sz="1150" dirty="0"/>
          </a:p>
          <a:p>
            <a:pPr marL="177800" indent="-177800">
              <a:spcAft>
                <a:spcPts val="300"/>
              </a:spcAft>
              <a:buSzPct val="100000"/>
              <a:buChar char="•"/>
            </a:pPr>
            <a:r>
              <a:rPr lang="en-US" sz="1150" dirty="0">
                <a:solidFill>
                  <a:schemeClr val="tx1"/>
                </a:solidFill>
              </a:rPr>
              <a:t>T05 Wrong order → ask, no paid review</a:t>
            </a:r>
            <a:endParaRPr lang="en-US" sz="1150" dirty="0"/>
          </a:p>
          <a:p>
            <a:pPr marL="177800" indent="-177800">
              <a:spcAft>
                <a:spcPts val="300"/>
              </a:spcAft>
              <a:buSzPct val="100000"/>
              <a:buChar char="•"/>
            </a:pPr>
            <a:r>
              <a:rPr lang="en-US" sz="1150" dirty="0">
                <a:solidFill>
                  <a:schemeClr val="tx1"/>
                </a:solidFill>
              </a:rPr>
              <a:t>T06 Duplicate and forward → one review, one PR</a:t>
            </a:r>
            <a:endParaRPr lang="en-US" sz="1150" dirty="0"/>
          </a:p>
          <a:p>
            <a:pPr marL="177800" indent="-177800">
              <a:spcAft>
                <a:spcPts val="300"/>
              </a:spcAft>
              <a:buSzPct val="100000"/>
              <a:buChar char="•"/>
            </a:pPr>
            <a:r>
              <a:rPr lang="en-US" sz="1150" dirty="0">
                <a:solidFill>
                  <a:schemeClr val="tx1"/>
                </a:solidFill>
              </a:rPr>
              <a:t>T07 Stale after PO change → 412, re-review</a:t>
            </a:r>
            <a:endParaRPr lang="en-US" sz="1150" dirty="0"/>
          </a:p>
          <a:p>
            <a:pPr marL="177800" indent="-177800">
              <a:spcAft>
                <a:spcPts val="300"/>
              </a:spcAft>
              <a:buSzPct val="100000"/>
              <a:buChar char="•"/>
            </a:pPr>
            <a:r>
              <a:rPr lang="en-US" sz="1150" dirty="0">
                <a:solidFill>
                  <a:schemeClr val="tx1"/>
                </a:solidFill>
              </a:rPr>
              <a:t>T08 Rejected by procurement → returned, open</a:t>
            </a:r>
            <a:endParaRPr lang="en-US" sz="1150" dirty="0"/>
          </a:p>
          <a:p>
            <a:pPr marL="177800" indent="-177800">
              <a:spcAft>
                <a:spcPts val="300"/>
              </a:spcAft>
              <a:buSzPct val="100000"/>
              <a:buChar char="•"/>
            </a:pPr>
            <a:r>
              <a:rPr lang="en-US" sz="1150" dirty="0">
                <a:solidFill>
                  <a:schemeClr val="tx1"/>
                </a:solidFill>
              </a:rPr>
              <a:t>T09 Supply offered, no demand → KEEP or WAIT</a:t>
            </a:r>
            <a:endParaRPr lang="en-US" sz="1150" dirty="0"/>
          </a:p>
          <a:p>
            <a:pPr marL="177800" indent="-177800">
              <a:spcAft>
                <a:spcPts val="300"/>
              </a:spcAft>
              <a:buSzPct val="100000"/>
              <a:buChar char="•"/>
            </a:pPr>
            <a:r>
              <a:rPr lang="en-US" sz="1150" dirty="0">
                <a:solidFill>
                  <a:schemeClr val="tx1"/>
                </a:solidFill>
              </a:rPr>
              <a:t>T10 502 then retry same key → exactly one PR</a:t>
            </a:r>
            <a:endParaRPr lang="en-US" sz="1150" dirty="0"/>
          </a:p>
        </p:txBody>
      </p:sp>
      <p:sp>
        <p:nvSpPr>
          <p:cNvPr id="8" name="Text 6"/>
          <p:cNvSpPr txBox="1"/>
          <p:nvPr/>
        </p:nvSpPr>
        <p:spPr>
          <a:xfrm>
            <a:off x="731520" y="4983480"/>
            <a:ext cx="5074920" cy="1143000"/>
          </a:xfrm>
          <a:prstGeom prst="rect">
            <a:avLst/>
          </a:prstGeom>
          <a:noFill/>
          <a:ln/>
        </p:spPr>
        <p:txBody>
          <a:bodyPr wrap="square" lIns="0" tIns="0" rIns="0" bIns="0" rtlCol="0" anchor="t"/>
          <a:lstStyle/>
          <a:p>
            <a:pPr indent="0" marL="0">
              <a:buNone/>
            </a:pPr>
            <a:r>
              <a:rPr lang="en-US" sz="1150" dirty="0">
                <a:solidFill>
                  <a:schemeClr val="accent4"/>
                </a:solidFill>
              </a:rPr>
              <a:t>Sealed by hash before the first run. The scorer cross-checks the application's export against the sandbox's own records and writes a report that states no business value. Authored on the development side: a development check, not a blinded test.</a:t>
            </a:r>
            <a:endParaRPr lang="en-US" sz="1150" dirty="0"/>
          </a:p>
        </p:txBody>
      </p:sp>
      <p:sp>
        <p:nvSpPr>
          <p:cNvPr id="9" name="Shape 7"/>
          <p:cNvSpPr/>
          <p:nvPr/>
        </p:nvSpPr>
        <p:spPr>
          <a:xfrm>
            <a:off x="6172200" y="1508760"/>
            <a:ext cx="5440680" cy="4709160"/>
          </a:xfrm>
          <a:prstGeom prst="roundRect">
            <a:avLst>
              <a:gd name="adj" fmla="val 1165"/>
            </a:avLst>
          </a:prstGeom>
          <a:solidFill>
            <a:schemeClr val="bg2"/>
          </a:solidFill>
          <a:ln w="9525">
            <a:solidFill>
              <a:srgbClr val="D9E6E1"/>
            </a:solidFill>
            <a:prstDash val="solid"/>
          </a:ln>
        </p:spPr>
      </p:sp>
      <p:sp>
        <p:nvSpPr>
          <p:cNvPr id="10" name="Shape 8"/>
          <p:cNvSpPr/>
          <p:nvPr/>
        </p:nvSpPr>
        <p:spPr>
          <a:xfrm>
            <a:off x="6355080" y="1664208"/>
            <a:ext cx="1143000" cy="274320"/>
          </a:xfrm>
          <a:prstGeom prst="roundRect">
            <a:avLst>
              <a:gd name="adj" fmla="val 50000"/>
            </a:avLst>
          </a:prstGeom>
          <a:solidFill>
            <a:schemeClr val="accent2"/>
          </a:solidFill>
          <a:ln w="12700">
            <a:solidFill>
              <a:schemeClr val="accent2"/>
            </a:solidFill>
            <a:prstDash val="solid"/>
          </a:ln>
        </p:spPr>
      </p:sp>
      <p:sp>
        <p:nvSpPr>
          <p:cNvPr id="11" name="Text 9"/>
          <p:cNvSpPr txBox="1"/>
          <p:nvPr/>
        </p:nvSpPr>
        <p:spPr>
          <a:xfrm>
            <a:off x="6355080" y="1664208"/>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Hypothesis</a:t>
            </a:r>
            <a:endParaRPr lang="en-US" sz="1000" dirty="0"/>
          </a:p>
        </p:txBody>
      </p:sp>
      <p:sp>
        <p:nvSpPr>
          <p:cNvPr id="12" name="Text 10"/>
          <p:cNvSpPr txBox="1"/>
          <p:nvPr/>
        </p:nvSpPr>
        <p:spPr>
          <a:xfrm>
            <a:off x="7635240" y="1645920"/>
            <a:ext cx="3931920" cy="320040"/>
          </a:xfrm>
          <a:prstGeom prst="rect">
            <a:avLst/>
          </a:prstGeom>
          <a:noFill/>
          <a:ln/>
        </p:spPr>
        <p:txBody>
          <a:bodyPr wrap="square" lIns="0" tIns="0" rIns="0" bIns="0" rtlCol="0" anchor="t"/>
          <a:lstStyle/>
          <a:p>
            <a:pPr indent="0" marL="0">
              <a:buNone/>
            </a:pPr>
            <a:r>
              <a:rPr lang="en-US" sz="1450" b="1" dirty="0">
                <a:solidFill>
                  <a:schemeClr val="tx2"/>
                </a:solidFill>
              </a:rPr>
              <a:t>Business validation: real tasks, real people</a:t>
            </a:r>
            <a:endParaRPr lang="en-US" sz="1450" dirty="0"/>
          </a:p>
        </p:txBody>
      </p:sp>
      <p:sp>
        <p:nvSpPr>
          <p:cNvPr id="13" name="Text 11"/>
          <p:cNvSpPr txBox="1"/>
          <p:nvPr/>
        </p:nvSpPr>
        <p:spPr>
          <a:xfrm>
            <a:off x="6355080" y="2103120"/>
            <a:ext cx="5074920" cy="28346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Three arms on the same materials and information rights: current process; strong form-and-rules; Agent-assisted</a:t>
            </a:r>
            <a:endParaRPr lang="en-US" sz="1200" dirty="0"/>
          </a:p>
          <a:p>
            <a:pPr marL="177800" indent="-177800">
              <a:spcAft>
                <a:spcPts val="500"/>
              </a:spcAft>
              <a:buSzPct val="100000"/>
              <a:buChar char="•"/>
            </a:pPr>
            <a:r>
              <a:rPr lang="en-US" sz="1200" dirty="0">
                <a:solidFill>
                  <a:schemeClr val="tx1"/>
                </a:solidFill>
              </a:rPr>
              <a:t>10–20 consecutive real exceptions from one partner; counterbalanced so nobody handles a case twice</a:t>
            </a:r>
            <a:endParaRPr lang="en-US" sz="1200" dirty="0"/>
          </a:p>
          <a:p>
            <a:pPr marL="177800" indent="-177800">
              <a:spcAft>
                <a:spcPts val="500"/>
              </a:spcAft>
              <a:buSzPct val="100000"/>
              <a:buChar char="•"/>
            </a:pPr>
            <a:r>
              <a:rPr lang="en-US" sz="1200" dirty="0">
                <a:solidFill>
                  <a:schemeClr val="tx1"/>
                </a:solidFill>
              </a:rPr>
              <a:t>Active minutes for planner and for supplier, separately</a:t>
            </a:r>
            <a:endParaRPr lang="en-US" sz="1200" dirty="0"/>
          </a:p>
          <a:p>
            <a:pPr marL="177800" indent="-177800">
              <a:spcAft>
                <a:spcPts val="500"/>
              </a:spcAft>
              <a:buSzPct val="100000"/>
              <a:buChar char="•"/>
            </a:pPr>
            <a:r>
              <a:rPr lang="en-US" sz="1200" dirty="0">
                <a:solidFill>
                  <a:schemeClr val="tx1"/>
                </a:solidFill>
              </a:rPr>
              <a:t>Waiting time with its reason, separately; event gaps are not labour</a:t>
            </a:r>
            <a:endParaRPr lang="en-US" sz="1200" dirty="0"/>
          </a:p>
          <a:p>
            <a:pPr marL="177800" indent="-177800">
              <a:spcAft>
                <a:spcPts val="500"/>
              </a:spcAft>
              <a:buSzPct val="100000"/>
              <a:buChar char="•"/>
            </a:pPr>
            <a:r>
              <a:rPr lang="en-US" sz="1200" dirty="0">
                <a:solidFill>
                  <a:schemeClr val="tx1"/>
                </a:solidFill>
              </a:rPr>
              <a:t>Critical errors, rework, omissions; share reaching the procurement handoff</a:t>
            </a:r>
            <a:endParaRPr lang="en-US" sz="1200" dirty="0"/>
          </a:p>
          <a:p>
            <a:pPr marL="177800" indent="-177800">
              <a:spcAft>
                <a:spcPts val="500"/>
              </a:spcAft>
              <a:buSzPct val="100000"/>
              <a:buChar char="•"/>
            </a:pPr>
            <a:r>
              <a:rPr lang="en-US" sz="1200" dirty="0">
                <a:solidFill>
                  <a:schemeClr val="tx1"/>
                </a:solidFill>
              </a:rPr>
              <a:t>Model, verification, integration and maintenance cost</a:t>
            </a:r>
            <a:endParaRPr lang="en-US" sz="1200" dirty="0"/>
          </a:p>
        </p:txBody>
      </p:sp>
      <p:sp>
        <p:nvSpPr>
          <p:cNvPr id="14" name="Shape 12"/>
          <p:cNvSpPr/>
          <p:nvPr/>
        </p:nvSpPr>
        <p:spPr>
          <a:xfrm>
            <a:off x="6355080" y="5257800"/>
            <a:ext cx="5074920" cy="777240"/>
          </a:xfrm>
          <a:prstGeom prst="roundRect">
            <a:avLst>
              <a:gd name="adj" fmla="val 7059"/>
            </a:avLst>
          </a:prstGeom>
          <a:solidFill>
            <a:schemeClr val="bg1"/>
          </a:solidFill>
          <a:ln w="12700">
            <a:solidFill>
              <a:srgbClr val="B3261E"/>
            </a:solidFill>
            <a:prstDash val="solid"/>
          </a:ln>
        </p:spPr>
      </p:sp>
      <p:sp>
        <p:nvSpPr>
          <p:cNvPr id="15" name="Text 13"/>
          <p:cNvSpPr txBox="1"/>
          <p:nvPr/>
        </p:nvSpPr>
        <p:spPr>
          <a:xfrm>
            <a:off x="6537960" y="5349240"/>
            <a:ext cx="4754880" cy="640080"/>
          </a:xfrm>
          <a:prstGeom prst="rect">
            <a:avLst/>
          </a:prstGeom>
          <a:noFill/>
          <a:ln/>
        </p:spPr>
        <p:txBody>
          <a:bodyPr wrap="square" lIns="0" tIns="0" rIns="0" bIns="0" rtlCol="0" anchor="ctr"/>
          <a:lstStyle/>
          <a:p>
            <a:pPr indent="0" marL="0">
              <a:buNone/>
            </a:pPr>
            <a:r>
              <a:rPr lang="en-US" sz="1250" b="1" dirty="0">
                <a:solidFill>
                  <a:schemeClr val="accent3"/>
                </a:solidFill>
              </a:rPr>
              <a:t>Without real participants we report engineering completion and error counts only. We generate no time-saving conclusion.</a:t>
            </a:r>
            <a:endParaRPr lang="en-US" sz="12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Risks and limits we would rather name ourselves</a:t>
            </a:r>
            <a:endParaRPr lang="en-US" sz="3000" dirty="0"/>
          </a:p>
        </p:txBody>
      </p:sp>
      <p:sp>
        <p:nvSpPr>
          <p:cNvPr id="3" name="Shape 1"/>
          <p:cNvSpPr/>
          <p:nvPr/>
        </p:nvSpPr>
        <p:spPr>
          <a:xfrm>
            <a:off x="548640" y="1508760"/>
            <a:ext cx="3566160" cy="2148840"/>
          </a:xfrm>
          <a:prstGeom prst="roundRect">
            <a:avLst>
              <a:gd name="adj" fmla="val 2553"/>
            </a:avLst>
          </a:prstGeom>
          <a:solidFill>
            <a:schemeClr val="bg2"/>
          </a:solidFill>
          <a:ln w="9525">
            <a:solidFill>
              <a:srgbClr val="D9E6E1"/>
            </a:solidFill>
            <a:prstDash val="solid"/>
          </a:ln>
        </p:spPr>
      </p:sp>
      <p:sp>
        <p:nvSpPr>
          <p:cNvPr id="4" name="Shape 2"/>
          <p:cNvSpPr/>
          <p:nvPr/>
        </p:nvSpPr>
        <p:spPr>
          <a:xfrm>
            <a:off x="731520" y="1691640"/>
            <a:ext cx="365760" cy="365760"/>
          </a:xfrm>
          <a:prstGeom prst="ellipse">
            <a:avLst/>
          </a:prstGeom>
          <a:solidFill>
            <a:schemeClr val="accent3"/>
          </a:solidFill>
          <a:ln w="12700">
            <a:solidFill>
              <a:schemeClr val="accent3"/>
            </a:solidFill>
            <a:prstDash val="solid"/>
          </a:ln>
        </p:spPr>
      </p:sp>
      <p:sp>
        <p:nvSpPr>
          <p:cNvPr id="5" name="Text 3"/>
          <p:cNvSpPr txBox="1"/>
          <p:nvPr/>
        </p:nvSpPr>
        <p:spPr>
          <a:xfrm>
            <a:off x="731520" y="16916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1691640"/>
            <a:ext cx="2697480" cy="411480"/>
          </a:xfrm>
          <a:prstGeom prst="rect">
            <a:avLst/>
          </a:prstGeom>
          <a:noFill/>
          <a:ln/>
        </p:spPr>
        <p:txBody>
          <a:bodyPr wrap="square" lIns="0" tIns="0" rIns="0" bIns="0" rtlCol="0" anchor="ctr"/>
          <a:lstStyle/>
          <a:p>
            <a:pPr indent="0" marL="0">
              <a:buNone/>
            </a:pPr>
            <a:r>
              <a:rPr lang="en-US" sz="1400" b="1" dirty="0">
                <a:solidFill>
                  <a:schemeClr val="tx2"/>
                </a:solidFill>
              </a:rPr>
              <a:t>No measured business value</a:t>
            </a:r>
            <a:endParaRPr lang="en-US" sz="1400" dirty="0"/>
          </a:p>
        </p:txBody>
      </p:sp>
      <p:sp>
        <p:nvSpPr>
          <p:cNvPr id="7" name="Text 5"/>
          <p:cNvSpPr txBox="1"/>
          <p:nvPr/>
        </p:nvSpPr>
        <p:spPr>
          <a:xfrm>
            <a:off x="731520" y="2240280"/>
            <a:ext cx="3200400" cy="1280160"/>
          </a:xfrm>
          <a:prstGeom prst="rect">
            <a:avLst/>
          </a:prstGeom>
          <a:noFill/>
          <a:ln/>
        </p:spPr>
        <p:txBody>
          <a:bodyPr wrap="square" lIns="0" tIns="0" rIns="0" bIns="0" rtlCol="0" anchor="t"/>
          <a:lstStyle/>
          <a:p>
            <a:pPr indent="0" marL="0">
              <a:buNone/>
            </a:pPr>
            <a:r>
              <a:rPr lang="en-US" sz="1200" dirty="0">
                <a:solidFill>
                  <a:schemeClr val="tx1"/>
                </a:solidFill>
              </a:rPr>
              <a:t>No labour saving, demand accuracy, supplier adoption or financial return has been measured. Everything on that side is a target.</a:t>
            </a:r>
            <a:endParaRPr lang="en-US" sz="1200" dirty="0"/>
          </a:p>
        </p:txBody>
      </p:sp>
      <p:sp>
        <p:nvSpPr>
          <p:cNvPr id="8" name="Shape 6"/>
          <p:cNvSpPr/>
          <p:nvPr/>
        </p:nvSpPr>
        <p:spPr>
          <a:xfrm>
            <a:off x="4297680" y="1508760"/>
            <a:ext cx="3566160" cy="2148840"/>
          </a:xfrm>
          <a:prstGeom prst="roundRect">
            <a:avLst>
              <a:gd name="adj" fmla="val 2553"/>
            </a:avLst>
          </a:prstGeom>
          <a:solidFill>
            <a:schemeClr val="bg2"/>
          </a:solidFill>
          <a:ln w="9525">
            <a:solidFill>
              <a:srgbClr val="D9E6E1"/>
            </a:solidFill>
            <a:prstDash val="solid"/>
          </a:ln>
        </p:spPr>
      </p:sp>
      <p:sp>
        <p:nvSpPr>
          <p:cNvPr id="9" name="Shape 7"/>
          <p:cNvSpPr/>
          <p:nvPr/>
        </p:nvSpPr>
        <p:spPr>
          <a:xfrm>
            <a:off x="4480560" y="1691640"/>
            <a:ext cx="365760" cy="365760"/>
          </a:xfrm>
          <a:prstGeom prst="ellipse">
            <a:avLst/>
          </a:prstGeom>
          <a:solidFill>
            <a:schemeClr val="accent3"/>
          </a:solidFill>
          <a:ln w="12700">
            <a:solidFill>
              <a:schemeClr val="accent3"/>
            </a:solidFill>
            <a:prstDash val="solid"/>
          </a:ln>
        </p:spPr>
      </p:sp>
      <p:sp>
        <p:nvSpPr>
          <p:cNvPr id="10" name="Text 8"/>
          <p:cNvSpPr txBox="1"/>
          <p:nvPr/>
        </p:nvSpPr>
        <p:spPr>
          <a:xfrm>
            <a:off x="4480560" y="16916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4983480" y="1691640"/>
            <a:ext cx="2697480" cy="411480"/>
          </a:xfrm>
          <a:prstGeom prst="rect">
            <a:avLst/>
          </a:prstGeom>
          <a:noFill/>
          <a:ln/>
        </p:spPr>
        <p:txBody>
          <a:bodyPr wrap="square" lIns="0" tIns="0" rIns="0" bIns="0" rtlCol="0" anchor="ctr"/>
          <a:lstStyle/>
          <a:p>
            <a:pPr indent="0" marL="0">
              <a:buNone/>
            </a:pPr>
            <a:r>
              <a:rPr lang="en-US" sz="1400" b="1" dirty="0">
                <a:solidFill>
                  <a:schemeClr val="tx2"/>
                </a:solidFill>
              </a:rPr>
              <a:t>The sandbox is not SAP</a:t>
            </a:r>
            <a:endParaRPr lang="en-US" sz="1400" dirty="0"/>
          </a:p>
        </p:txBody>
      </p:sp>
      <p:sp>
        <p:nvSpPr>
          <p:cNvPr id="12" name="Text 10"/>
          <p:cNvSpPr txBox="1"/>
          <p:nvPr/>
        </p:nvSpPr>
        <p:spPr>
          <a:xfrm>
            <a:off x="4480560" y="2240280"/>
            <a:ext cx="3200400" cy="1280160"/>
          </a:xfrm>
          <a:prstGeom prst="rect">
            <a:avLst/>
          </a:prstGeom>
          <a:noFill/>
          <a:ln/>
        </p:spPr>
        <p:txBody>
          <a:bodyPr wrap="square" lIns="0" tIns="0" rIns="0" bIns="0" rtlCol="0" anchor="t"/>
          <a:lstStyle/>
          <a:p>
            <a:pPr indent="0" marL="0">
              <a:buNone/>
            </a:pPr>
            <a:r>
              <a:rPr lang="en-US" sz="1200" dirty="0">
                <a:solidFill>
                  <a:schemeClr val="tx1"/>
                </a:solidFill>
              </a:rPr>
              <a:t>An S/4HANA-shaped mock proves the application-layer loop and labels itself on every response. SAP write semantics, identity and tenant rules are untested.</a:t>
            </a:r>
            <a:endParaRPr lang="en-US" sz="1200" dirty="0"/>
          </a:p>
        </p:txBody>
      </p:sp>
      <p:sp>
        <p:nvSpPr>
          <p:cNvPr id="13" name="Shape 11"/>
          <p:cNvSpPr/>
          <p:nvPr/>
        </p:nvSpPr>
        <p:spPr>
          <a:xfrm>
            <a:off x="8046720" y="1508760"/>
            <a:ext cx="3566160" cy="2148840"/>
          </a:xfrm>
          <a:prstGeom prst="roundRect">
            <a:avLst>
              <a:gd name="adj" fmla="val 2553"/>
            </a:avLst>
          </a:prstGeom>
          <a:solidFill>
            <a:schemeClr val="bg2"/>
          </a:solidFill>
          <a:ln w="9525">
            <a:solidFill>
              <a:srgbClr val="D9E6E1"/>
            </a:solidFill>
            <a:prstDash val="solid"/>
          </a:ln>
        </p:spPr>
      </p:sp>
      <p:sp>
        <p:nvSpPr>
          <p:cNvPr id="14" name="Shape 12"/>
          <p:cNvSpPr/>
          <p:nvPr/>
        </p:nvSpPr>
        <p:spPr>
          <a:xfrm>
            <a:off x="8229600" y="1691640"/>
            <a:ext cx="365760" cy="365760"/>
          </a:xfrm>
          <a:prstGeom prst="ellipse">
            <a:avLst/>
          </a:prstGeom>
          <a:solidFill>
            <a:schemeClr val="accent3"/>
          </a:solidFill>
          <a:ln w="12700">
            <a:solidFill>
              <a:schemeClr val="accent3"/>
            </a:solidFill>
            <a:prstDash val="solid"/>
          </a:ln>
        </p:spPr>
      </p:sp>
      <p:sp>
        <p:nvSpPr>
          <p:cNvPr id="15" name="Text 13"/>
          <p:cNvSpPr txBox="1"/>
          <p:nvPr/>
        </p:nvSpPr>
        <p:spPr>
          <a:xfrm>
            <a:off x="8229600" y="16916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8732520" y="1691640"/>
            <a:ext cx="2697480" cy="411480"/>
          </a:xfrm>
          <a:prstGeom prst="rect">
            <a:avLst/>
          </a:prstGeom>
          <a:noFill/>
          <a:ln/>
        </p:spPr>
        <p:txBody>
          <a:bodyPr wrap="square" lIns="0" tIns="0" rIns="0" bIns="0" rtlCol="0" anchor="ctr"/>
          <a:lstStyle/>
          <a:p>
            <a:pPr indent="0" marL="0">
              <a:buNone/>
            </a:pPr>
            <a:r>
              <a:rPr lang="en-US" sz="1400" b="1" dirty="0">
                <a:solidFill>
                  <a:schemeClr val="tx2"/>
                </a:solidFill>
              </a:rPr>
              <a:t>Tasks authored on the development side</a:t>
            </a:r>
            <a:endParaRPr lang="en-US" sz="1400" dirty="0"/>
          </a:p>
        </p:txBody>
      </p:sp>
      <p:sp>
        <p:nvSpPr>
          <p:cNvPr id="17" name="Text 15"/>
          <p:cNvSpPr txBox="1"/>
          <p:nvPr/>
        </p:nvSpPr>
        <p:spPr>
          <a:xfrm>
            <a:off x="8229600" y="2240280"/>
            <a:ext cx="3200400" cy="1280160"/>
          </a:xfrm>
          <a:prstGeom prst="rect">
            <a:avLst/>
          </a:prstGeom>
          <a:noFill/>
          <a:ln/>
        </p:spPr>
        <p:txBody>
          <a:bodyPr wrap="square" lIns="0" tIns="0" rIns="0" bIns="0" rtlCol="0" anchor="t"/>
          <a:lstStyle/>
          <a:p>
            <a:pPr indent="0" marL="0">
              <a:buNone/>
            </a:pPr>
            <a:r>
              <a:rPr lang="en-US" sz="1200" dirty="0">
                <a:solidFill>
                  <a:schemeClr val="tx1"/>
                </a:solidFill>
              </a:rPr>
              <a:t>The ten acceptance tasks were written while building without a team. An outside author must rewrite bodies and keys, and re-freeze, before a result is cited.</a:t>
            </a:r>
            <a:endParaRPr lang="en-US" sz="1200" dirty="0"/>
          </a:p>
        </p:txBody>
      </p:sp>
      <p:sp>
        <p:nvSpPr>
          <p:cNvPr id="18" name="Shape 16"/>
          <p:cNvSpPr/>
          <p:nvPr/>
        </p:nvSpPr>
        <p:spPr>
          <a:xfrm>
            <a:off x="548640" y="3840480"/>
            <a:ext cx="3566160" cy="2148840"/>
          </a:xfrm>
          <a:prstGeom prst="roundRect">
            <a:avLst>
              <a:gd name="adj" fmla="val 2553"/>
            </a:avLst>
          </a:prstGeom>
          <a:solidFill>
            <a:schemeClr val="bg2"/>
          </a:solidFill>
          <a:ln w="9525">
            <a:solidFill>
              <a:srgbClr val="D9E6E1"/>
            </a:solidFill>
            <a:prstDash val="solid"/>
          </a:ln>
        </p:spPr>
      </p:sp>
      <p:sp>
        <p:nvSpPr>
          <p:cNvPr id="19" name="Shape 17"/>
          <p:cNvSpPr/>
          <p:nvPr/>
        </p:nvSpPr>
        <p:spPr>
          <a:xfrm>
            <a:off x="731520" y="4023360"/>
            <a:ext cx="365760" cy="365760"/>
          </a:xfrm>
          <a:prstGeom prst="ellipse">
            <a:avLst/>
          </a:prstGeom>
          <a:solidFill>
            <a:schemeClr val="accent3"/>
          </a:solidFill>
          <a:ln w="12700">
            <a:solidFill>
              <a:schemeClr val="accent3"/>
            </a:solidFill>
            <a:prstDash val="solid"/>
          </a:ln>
        </p:spPr>
      </p:sp>
      <p:sp>
        <p:nvSpPr>
          <p:cNvPr id="20" name="Text 18"/>
          <p:cNvSpPr txBox="1"/>
          <p:nvPr/>
        </p:nvSpPr>
        <p:spPr>
          <a:xfrm>
            <a:off x="731520" y="40233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1234440" y="4023360"/>
            <a:ext cx="2697480" cy="411480"/>
          </a:xfrm>
          <a:prstGeom prst="rect">
            <a:avLst/>
          </a:prstGeom>
          <a:noFill/>
          <a:ln/>
        </p:spPr>
        <p:txBody>
          <a:bodyPr wrap="square" lIns="0" tIns="0" rIns="0" bIns="0" rtlCol="0" anchor="ctr"/>
          <a:lstStyle/>
          <a:p>
            <a:pPr indent="0" marL="0">
              <a:buNone/>
            </a:pPr>
            <a:r>
              <a:rPr lang="en-US" sz="1400" b="1" dirty="0">
                <a:solidFill>
                  <a:schemeClr val="tx2"/>
                </a:solidFill>
              </a:rPr>
              <a:t>Mail receipt is simulated for now</a:t>
            </a:r>
            <a:endParaRPr lang="en-US" sz="1400" dirty="0"/>
          </a:p>
        </p:txBody>
      </p:sp>
      <p:sp>
        <p:nvSpPr>
          <p:cNvPr id="22" name="Text 20"/>
          <p:cNvSpPr txBox="1"/>
          <p:nvPr/>
        </p:nvSpPr>
        <p:spPr>
          <a:xfrm>
            <a:off x="731520" y="4572000"/>
            <a:ext cx="3200400" cy="1280160"/>
          </a:xfrm>
          <a:prstGeom prst="rect">
            <a:avLst/>
          </a:prstGeom>
          <a:noFill/>
          <a:ln/>
        </p:spPr>
        <p:txBody>
          <a:bodyPr wrap="square" lIns="0" tIns="0" rIns="0" bIns="0" rtlCol="0" anchor="t"/>
          <a:lstStyle/>
          <a:p>
            <a:pPr indent="0" marL="0">
              <a:buNone/>
            </a:pPr>
            <a:r>
              <a:rPr lang="en-US" sz="1200" dirty="0">
                <a:solidFill>
                  <a:schemeClr val="tx1"/>
                </a:solidFill>
              </a:rPr>
              <a:t>Until a case mailbox domain exists, the simulator stands in for the inbound webhook. "Mail receipt is a real connection" is not yet true.</a:t>
            </a:r>
            <a:endParaRPr lang="en-US" sz="1200" dirty="0"/>
          </a:p>
        </p:txBody>
      </p:sp>
      <p:sp>
        <p:nvSpPr>
          <p:cNvPr id="23" name="Shape 21"/>
          <p:cNvSpPr/>
          <p:nvPr/>
        </p:nvSpPr>
        <p:spPr>
          <a:xfrm>
            <a:off x="4297680" y="3840480"/>
            <a:ext cx="3566160" cy="2148840"/>
          </a:xfrm>
          <a:prstGeom prst="roundRect">
            <a:avLst>
              <a:gd name="adj" fmla="val 2553"/>
            </a:avLst>
          </a:prstGeom>
          <a:solidFill>
            <a:schemeClr val="bg2"/>
          </a:solidFill>
          <a:ln w="9525">
            <a:solidFill>
              <a:srgbClr val="D9E6E1"/>
            </a:solidFill>
            <a:prstDash val="solid"/>
          </a:ln>
        </p:spPr>
      </p:sp>
      <p:sp>
        <p:nvSpPr>
          <p:cNvPr id="24" name="Shape 22"/>
          <p:cNvSpPr/>
          <p:nvPr/>
        </p:nvSpPr>
        <p:spPr>
          <a:xfrm>
            <a:off x="4480560" y="4023360"/>
            <a:ext cx="365760" cy="365760"/>
          </a:xfrm>
          <a:prstGeom prst="ellipse">
            <a:avLst/>
          </a:prstGeom>
          <a:solidFill>
            <a:schemeClr val="accent3"/>
          </a:solidFill>
          <a:ln w="12700">
            <a:solidFill>
              <a:schemeClr val="accent3"/>
            </a:solidFill>
            <a:prstDash val="solid"/>
          </a:ln>
        </p:spPr>
      </p:sp>
      <p:sp>
        <p:nvSpPr>
          <p:cNvPr id="25" name="Text 23"/>
          <p:cNvSpPr txBox="1"/>
          <p:nvPr/>
        </p:nvSpPr>
        <p:spPr>
          <a:xfrm>
            <a:off x="4480560" y="40233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Text 24"/>
          <p:cNvSpPr txBox="1"/>
          <p:nvPr/>
        </p:nvSpPr>
        <p:spPr>
          <a:xfrm>
            <a:off x="4983480" y="4023360"/>
            <a:ext cx="2697480" cy="411480"/>
          </a:xfrm>
          <a:prstGeom prst="rect">
            <a:avLst/>
          </a:prstGeom>
          <a:noFill/>
          <a:ln/>
        </p:spPr>
        <p:txBody>
          <a:bodyPr wrap="square" lIns="0" tIns="0" rIns="0" bIns="0" rtlCol="0" anchor="ctr"/>
          <a:lstStyle/>
          <a:p>
            <a:pPr indent="0" marL="0">
              <a:buNone/>
            </a:pPr>
            <a:r>
              <a:rPr lang="en-US" sz="1400" b="1" dirty="0">
                <a:solidFill>
                  <a:schemeClr val="tx2"/>
                </a:solidFill>
              </a:rPr>
              <a:t>Correct structure, wrong prose</a:t>
            </a:r>
            <a:endParaRPr lang="en-US" sz="1400" dirty="0"/>
          </a:p>
        </p:txBody>
      </p:sp>
      <p:sp>
        <p:nvSpPr>
          <p:cNvPr id="27" name="Text 25"/>
          <p:cNvSpPr txBox="1"/>
          <p:nvPr/>
        </p:nvSpPr>
        <p:spPr>
          <a:xfrm>
            <a:off x="4480560" y="4572000"/>
            <a:ext cx="3200400" cy="1280160"/>
          </a:xfrm>
          <a:prstGeom prst="rect">
            <a:avLst/>
          </a:prstGeom>
          <a:noFill/>
          <a:ln/>
        </p:spPr>
        <p:txBody>
          <a:bodyPr wrap="square" lIns="0" tIns="0" rIns="0" bIns="0" rtlCol="0" anchor="t"/>
          <a:lstStyle/>
          <a:p>
            <a:pPr indent="0" marL="0">
              <a:buNone/>
            </a:pPr>
            <a:r>
              <a:rPr lang="en-US" sz="1200" dirty="0">
                <a:solidFill>
                  <a:schemeClr val="tx1"/>
                </a:solidFill>
              </a:rPr>
              <a:t>Twice an output passed every provenance and schema check with a false statement in its text. A second model audit is a fallible review, not proof.</a:t>
            </a:r>
            <a:endParaRPr lang="en-US" sz="1200" dirty="0"/>
          </a:p>
        </p:txBody>
      </p:sp>
      <p:sp>
        <p:nvSpPr>
          <p:cNvPr id="28" name="Shape 26"/>
          <p:cNvSpPr/>
          <p:nvPr/>
        </p:nvSpPr>
        <p:spPr>
          <a:xfrm>
            <a:off x="8046720" y="3840480"/>
            <a:ext cx="3566160" cy="2148840"/>
          </a:xfrm>
          <a:prstGeom prst="roundRect">
            <a:avLst>
              <a:gd name="adj" fmla="val 2553"/>
            </a:avLst>
          </a:prstGeom>
          <a:solidFill>
            <a:schemeClr val="bg2"/>
          </a:solidFill>
          <a:ln w="9525">
            <a:solidFill>
              <a:srgbClr val="D9E6E1"/>
            </a:solidFill>
            <a:prstDash val="solid"/>
          </a:ln>
        </p:spPr>
      </p:sp>
      <p:sp>
        <p:nvSpPr>
          <p:cNvPr id="29" name="Shape 27"/>
          <p:cNvSpPr/>
          <p:nvPr/>
        </p:nvSpPr>
        <p:spPr>
          <a:xfrm>
            <a:off x="8229600" y="4023360"/>
            <a:ext cx="365760" cy="365760"/>
          </a:xfrm>
          <a:prstGeom prst="ellipse">
            <a:avLst/>
          </a:prstGeom>
          <a:solidFill>
            <a:schemeClr val="accent3"/>
          </a:solidFill>
          <a:ln w="12700">
            <a:solidFill>
              <a:schemeClr val="accent3"/>
            </a:solidFill>
            <a:prstDash val="solid"/>
          </a:ln>
        </p:spPr>
      </p:sp>
      <p:sp>
        <p:nvSpPr>
          <p:cNvPr id="30" name="Text 28"/>
          <p:cNvSpPr txBox="1"/>
          <p:nvPr/>
        </p:nvSpPr>
        <p:spPr>
          <a:xfrm>
            <a:off x="8229600" y="40233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Text 29"/>
          <p:cNvSpPr txBox="1"/>
          <p:nvPr/>
        </p:nvSpPr>
        <p:spPr>
          <a:xfrm>
            <a:off x="8732520" y="4023360"/>
            <a:ext cx="2697480" cy="411480"/>
          </a:xfrm>
          <a:prstGeom prst="rect">
            <a:avLst/>
          </a:prstGeom>
          <a:noFill/>
          <a:ln/>
        </p:spPr>
        <p:txBody>
          <a:bodyPr wrap="square" lIns="0" tIns="0" rIns="0" bIns="0" rtlCol="0" anchor="ctr"/>
          <a:lstStyle/>
          <a:p>
            <a:pPr indent="0" marL="0">
              <a:buNone/>
            </a:pPr>
            <a:r>
              <a:rPr lang="en-US" sz="1400" b="1" dirty="0">
                <a:solidFill>
                  <a:schemeClr val="tx2"/>
                </a:solidFill>
              </a:rPr>
              <a:t>Incumbents may already cover this</a:t>
            </a:r>
            <a:endParaRPr lang="en-US" sz="1400" dirty="0"/>
          </a:p>
        </p:txBody>
      </p:sp>
      <p:sp>
        <p:nvSpPr>
          <p:cNvPr id="32" name="Text 30"/>
          <p:cNvSpPr txBox="1"/>
          <p:nvPr/>
        </p:nvSpPr>
        <p:spPr>
          <a:xfrm>
            <a:off x="8229600" y="4572000"/>
            <a:ext cx="3200400" cy="1280160"/>
          </a:xfrm>
          <a:prstGeom prst="rect">
            <a:avLst/>
          </a:prstGeom>
          <a:noFill/>
          <a:ln/>
        </p:spPr>
        <p:txBody>
          <a:bodyPr wrap="square" lIns="0" tIns="0" rIns="0" bIns="0" rtlCol="0" anchor="t"/>
          <a:lstStyle/>
          <a:p>
            <a:pPr indent="0" marL="0">
              <a:buNone/>
            </a:pPr>
            <a:r>
              <a:rPr lang="en-US" sz="1200" dirty="0">
                <a:solidFill>
                  <a:schemeClr val="tx1"/>
                </a:solidFill>
              </a:rPr>
              <a:t>SAP Business Network Assistant, SourceDay and Microsoft's Procurement Agent cover adjacent steps. The form-and-rules arm exists so we find out before scaling.</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we ask of this panel</a:t>
            </a:r>
            <a:endParaRPr lang="en-US" sz="3200" dirty="0"/>
          </a:p>
        </p:txBody>
      </p:sp>
      <p:sp>
        <p:nvSpPr>
          <p:cNvPr id="3" name="Shape 1"/>
          <p:cNvSpPr/>
          <p:nvPr/>
        </p:nvSpPr>
        <p:spPr>
          <a:xfrm>
            <a:off x="548640" y="1508760"/>
            <a:ext cx="5440680" cy="1600200"/>
          </a:xfrm>
          <a:prstGeom prst="roundRect">
            <a:avLst>
              <a:gd name="adj" fmla="val 3429"/>
            </a:avLst>
          </a:prstGeom>
          <a:solidFill>
            <a:schemeClr val="tx2"/>
          </a:solidFill>
          <a:ln w="12700">
            <a:solidFill>
              <a:srgbClr val="0F5C4D"/>
            </a:solidFill>
            <a:prstDash val="solid"/>
          </a:ln>
        </p:spPr>
      </p:sp>
      <p:sp>
        <p:nvSpPr>
          <p:cNvPr id="4" name="Text 2"/>
          <p:cNvSpPr txBox="1"/>
          <p:nvPr/>
        </p:nvSpPr>
        <p:spPr>
          <a:xfrm>
            <a:off x="777240" y="1691640"/>
            <a:ext cx="4983480" cy="320040"/>
          </a:xfrm>
          <a:prstGeom prst="rect">
            <a:avLst/>
          </a:prstGeom>
          <a:noFill/>
          <a:ln/>
        </p:spPr>
        <p:txBody>
          <a:bodyPr wrap="square" lIns="0" tIns="0" rIns="0" bIns="0" rtlCol="0" anchor="t"/>
          <a:lstStyle/>
          <a:p>
            <a:pPr indent="0" marL="0">
              <a:buNone/>
            </a:pPr>
            <a:r>
              <a:rPr lang="en-US" sz="1500" b="1" dirty="0">
                <a:solidFill>
                  <a:schemeClr val="accent6"/>
                </a:solidFill>
              </a:rPr>
              <a:t>Software development</a:t>
            </a:r>
            <a:endParaRPr lang="en-US" sz="1500" dirty="0"/>
          </a:p>
        </p:txBody>
      </p:sp>
      <p:sp>
        <p:nvSpPr>
          <p:cNvPr id="5" name="Text 3"/>
          <p:cNvSpPr txBox="1"/>
          <p:nvPr/>
        </p:nvSpPr>
        <p:spPr>
          <a:xfrm>
            <a:off x="777240" y="2057400"/>
            <a:ext cx="4983480" cy="960120"/>
          </a:xfrm>
          <a:prstGeom prst="rect">
            <a:avLst/>
          </a:prstGeom>
          <a:noFill/>
          <a:ln/>
        </p:spPr>
        <p:txBody>
          <a:bodyPr wrap="square" lIns="0" tIns="0" rIns="0" bIns="0" rtlCol="0" anchor="t"/>
          <a:lstStyle/>
          <a:p>
            <a:pPr indent="0" marL="0">
              <a:buNone/>
            </a:pPr>
            <a:r>
              <a:rPr lang="en-US" sz="1300" dirty="0">
                <a:solidFill>
                  <a:schemeClr val="bg1"/>
                </a:solidFill>
              </a:rPr>
              <a:t>Review the sandbox contract and the SAP boundary; agree the production-gap list as the definition of done for phase 2.</a:t>
            </a:r>
            <a:endParaRPr lang="en-US" sz="1300" dirty="0"/>
          </a:p>
        </p:txBody>
      </p:sp>
      <p:sp>
        <p:nvSpPr>
          <p:cNvPr id="6" name="Shape 4"/>
          <p:cNvSpPr/>
          <p:nvPr/>
        </p:nvSpPr>
        <p:spPr>
          <a:xfrm>
            <a:off x="6172200" y="1508760"/>
            <a:ext cx="5440680" cy="1600200"/>
          </a:xfrm>
          <a:prstGeom prst="roundRect">
            <a:avLst>
              <a:gd name="adj" fmla="val 3429"/>
            </a:avLst>
          </a:prstGeom>
          <a:solidFill>
            <a:schemeClr val="tx2"/>
          </a:solidFill>
          <a:ln w="12700">
            <a:solidFill>
              <a:srgbClr val="0F5C4D"/>
            </a:solidFill>
            <a:prstDash val="solid"/>
          </a:ln>
        </p:spPr>
      </p:sp>
      <p:sp>
        <p:nvSpPr>
          <p:cNvPr id="7" name="Text 5"/>
          <p:cNvSpPr txBox="1"/>
          <p:nvPr/>
        </p:nvSpPr>
        <p:spPr>
          <a:xfrm>
            <a:off x="6400800" y="1691640"/>
            <a:ext cx="4983480" cy="320040"/>
          </a:xfrm>
          <a:prstGeom prst="rect">
            <a:avLst/>
          </a:prstGeom>
          <a:noFill/>
          <a:ln/>
        </p:spPr>
        <p:txBody>
          <a:bodyPr wrap="square" lIns="0" tIns="0" rIns="0" bIns="0" rtlCol="0" anchor="t"/>
          <a:lstStyle/>
          <a:p>
            <a:pPr indent="0" marL="0">
              <a:buNone/>
            </a:pPr>
            <a:r>
              <a:rPr lang="en-US" sz="1500" b="1" dirty="0">
                <a:solidFill>
                  <a:schemeClr val="accent6"/>
                </a:solidFill>
              </a:rPr>
              <a:t>Marketing</a:t>
            </a:r>
            <a:endParaRPr lang="en-US" sz="1500" dirty="0"/>
          </a:p>
        </p:txBody>
      </p:sp>
      <p:sp>
        <p:nvSpPr>
          <p:cNvPr id="8" name="Text 6"/>
          <p:cNvSpPr txBox="1"/>
          <p:nvPr/>
        </p:nvSpPr>
        <p:spPr>
          <a:xfrm>
            <a:off x="6400800" y="2057400"/>
            <a:ext cx="4983480" cy="960120"/>
          </a:xfrm>
          <a:prstGeom prst="rect">
            <a:avLst/>
          </a:prstGeom>
          <a:noFill/>
          <a:ln/>
        </p:spPr>
        <p:txBody>
          <a:bodyPr wrap="square" lIns="0" tIns="0" rIns="0" bIns="0" rtlCol="0" anchor="t"/>
          <a:lstStyle/>
          <a:p>
            <a:pPr indent="0" marL="0">
              <a:buNone/>
            </a:pPr>
            <a:r>
              <a:rPr lang="en-US" sz="1300" dirty="0">
                <a:solidFill>
                  <a:schemeClr val="bg1"/>
                </a:solidFill>
              </a:rPr>
              <a:t>Approve the one-sentence positioning and the four withdrawn claims; agree that "hidden demand recovery" is not said.</a:t>
            </a:r>
            <a:endParaRPr lang="en-US" sz="1300" dirty="0"/>
          </a:p>
        </p:txBody>
      </p:sp>
      <p:sp>
        <p:nvSpPr>
          <p:cNvPr id="9" name="Shape 7"/>
          <p:cNvSpPr/>
          <p:nvPr/>
        </p:nvSpPr>
        <p:spPr>
          <a:xfrm>
            <a:off x="548640" y="3291840"/>
            <a:ext cx="5440680" cy="1600200"/>
          </a:xfrm>
          <a:prstGeom prst="roundRect">
            <a:avLst>
              <a:gd name="adj" fmla="val 3429"/>
            </a:avLst>
          </a:prstGeom>
          <a:solidFill>
            <a:schemeClr val="tx2"/>
          </a:solidFill>
          <a:ln w="12700">
            <a:solidFill>
              <a:srgbClr val="0F5C4D"/>
            </a:solidFill>
            <a:prstDash val="solid"/>
          </a:ln>
        </p:spPr>
      </p:sp>
      <p:sp>
        <p:nvSpPr>
          <p:cNvPr id="10" name="Text 8"/>
          <p:cNvSpPr txBox="1"/>
          <p:nvPr/>
        </p:nvSpPr>
        <p:spPr>
          <a:xfrm>
            <a:off x="777240" y="3474720"/>
            <a:ext cx="4983480" cy="320040"/>
          </a:xfrm>
          <a:prstGeom prst="rect">
            <a:avLst/>
          </a:prstGeom>
          <a:noFill/>
          <a:ln/>
        </p:spPr>
        <p:txBody>
          <a:bodyPr wrap="square" lIns="0" tIns="0" rIns="0" bIns="0" rtlCol="0" anchor="t"/>
          <a:lstStyle/>
          <a:p>
            <a:pPr indent="0" marL="0">
              <a:buNone/>
            </a:pPr>
            <a:r>
              <a:rPr lang="en-US" sz="1500" b="1" dirty="0">
                <a:solidFill>
                  <a:schemeClr val="accent6"/>
                </a:solidFill>
              </a:rPr>
              <a:t>Finance</a:t>
            </a:r>
            <a:endParaRPr lang="en-US" sz="1500" dirty="0"/>
          </a:p>
        </p:txBody>
      </p:sp>
      <p:sp>
        <p:nvSpPr>
          <p:cNvPr id="11" name="Text 9"/>
          <p:cNvSpPr txBox="1"/>
          <p:nvPr/>
        </p:nvSpPr>
        <p:spPr>
          <a:xfrm>
            <a:off x="777240" y="3840480"/>
            <a:ext cx="4983480" cy="960120"/>
          </a:xfrm>
          <a:prstGeom prst="rect">
            <a:avLst/>
          </a:prstGeom>
          <a:noFill/>
          <a:ln/>
        </p:spPr>
        <p:txBody>
          <a:bodyPr wrap="square" lIns="0" tIns="0" rIns="0" bIns="0" rtlCol="0" anchor="t"/>
          <a:lstStyle/>
          <a:p>
            <a:pPr indent="0" marL="0">
              <a:buNone/>
            </a:pPr>
            <a:r>
              <a:rPr lang="en-US" sz="1300" dirty="0">
                <a:solidFill>
                  <a:schemeClr val="bg1"/>
                </a:solidFill>
              </a:rPr>
              <a:t>Accept that costs are reported as measured and savings as hypotheses until the pilot; help size the integration scoping engagement.</a:t>
            </a:r>
            <a:endParaRPr lang="en-US" sz="1300" dirty="0"/>
          </a:p>
        </p:txBody>
      </p:sp>
      <p:sp>
        <p:nvSpPr>
          <p:cNvPr id="12" name="Shape 10"/>
          <p:cNvSpPr/>
          <p:nvPr/>
        </p:nvSpPr>
        <p:spPr>
          <a:xfrm>
            <a:off x="6172200" y="3291840"/>
            <a:ext cx="5440680" cy="1600200"/>
          </a:xfrm>
          <a:prstGeom prst="roundRect">
            <a:avLst>
              <a:gd name="adj" fmla="val 3429"/>
            </a:avLst>
          </a:prstGeom>
          <a:solidFill>
            <a:schemeClr val="tx2"/>
          </a:solidFill>
          <a:ln w="12700">
            <a:solidFill>
              <a:srgbClr val="0F5C4D"/>
            </a:solidFill>
            <a:prstDash val="solid"/>
          </a:ln>
        </p:spPr>
      </p:sp>
      <p:sp>
        <p:nvSpPr>
          <p:cNvPr id="13" name="Text 11"/>
          <p:cNvSpPr txBox="1"/>
          <p:nvPr/>
        </p:nvSpPr>
        <p:spPr>
          <a:xfrm>
            <a:off x="6400800" y="3474720"/>
            <a:ext cx="4983480" cy="320040"/>
          </a:xfrm>
          <a:prstGeom prst="rect">
            <a:avLst/>
          </a:prstGeom>
          <a:noFill/>
          <a:ln/>
        </p:spPr>
        <p:txBody>
          <a:bodyPr wrap="square" lIns="0" tIns="0" rIns="0" bIns="0" rtlCol="0" anchor="t"/>
          <a:lstStyle/>
          <a:p>
            <a:pPr indent="0" marL="0">
              <a:buNone/>
            </a:pPr>
            <a:r>
              <a:rPr lang="en-US" sz="1500" b="1" dirty="0">
                <a:solidFill>
                  <a:schemeClr val="accent6"/>
                </a:solidFill>
              </a:rPr>
              <a:t>Product strategy</a:t>
            </a:r>
            <a:endParaRPr lang="en-US" sz="1500" dirty="0"/>
          </a:p>
        </p:txBody>
      </p:sp>
      <p:sp>
        <p:nvSpPr>
          <p:cNvPr id="14" name="Text 12"/>
          <p:cNvSpPr txBox="1"/>
          <p:nvPr/>
        </p:nvSpPr>
        <p:spPr>
          <a:xfrm>
            <a:off x="6400800" y="3840480"/>
            <a:ext cx="4983480" cy="960120"/>
          </a:xfrm>
          <a:prstGeom prst="rect">
            <a:avLst/>
          </a:prstGeom>
          <a:noFill/>
          <a:ln/>
        </p:spPr>
        <p:txBody>
          <a:bodyPr wrap="square" lIns="0" tIns="0" rIns="0" bIns="0" rtlCol="0" anchor="t"/>
          <a:lstStyle/>
          <a:p>
            <a:pPr indent="0" marL="0">
              <a:buNone/>
            </a:pPr>
            <a:r>
              <a:rPr lang="en-US" sz="1300" dirty="0">
                <a:solidFill>
                  <a:schemeClr val="bg1"/>
                </a:solidFill>
              </a:rPr>
              <a:t>Approve the gated roadmap and the six stop conditions; help find one partner for ten to twenty consecutive real exceptions.</a:t>
            </a:r>
            <a:endParaRPr lang="en-US" sz="1300" dirty="0"/>
          </a:p>
        </p:txBody>
      </p:sp>
      <p:sp>
        <p:nvSpPr>
          <p:cNvPr id="15" name="Text 13"/>
          <p:cNvSpPr txBox="1"/>
          <p:nvPr/>
        </p:nvSpPr>
        <p:spPr>
          <a:xfrm>
            <a:off x="548640" y="5166360"/>
            <a:ext cx="5486400" cy="320040"/>
          </a:xfrm>
          <a:prstGeom prst="rect">
            <a:avLst/>
          </a:prstGeom>
          <a:noFill/>
          <a:ln/>
        </p:spPr>
        <p:txBody>
          <a:bodyPr wrap="square" lIns="0" tIns="0" rIns="0" bIns="0" rtlCol="0" anchor="t"/>
          <a:lstStyle/>
          <a:p>
            <a:pPr indent="0" marL="0">
              <a:buNone/>
            </a:pPr>
            <a:r>
              <a:rPr lang="en-US" sz="1300" b="1" dirty="0">
                <a:solidFill>
                  <a:schemeClr val="accent6"/>
                </a:solidFill>
              </a:rPr>
              <a:t>Next twelve days if approved</a:t>
            </a:r>
            <a:endParaRPr lang="en-US" sz="1300" dirty="0"/>
          </a:p>
        </p:txBody>
      </p:sp>
      <p:sp>
        <p:nvSpPr>
          <p:cNvPr id="16" name="Text 14"/>
          <p:cNvSpPr txBox="1"/>
          <p:nvPr/>
        </p:nvSpPr>
        <p:spPr>
          <a:xfrm>
            <a:off x="548640" y="5486400"/>
            <a:ext cx="11064240" cy="868680"/>
          </a:xfrm>
          <a:prstGeom prst="rect">
            <a:avLst/>
          </a:prstGeom>
          <a:noFill/>
          <a:ln/>
        </p:spPr>
        <p:txBody>
          <a:bodyPr wrap="square" lIns="0" tIns="0" rIns="0" bIns="0" rtlCol="0" anchor="t"/>
          <a:lstStyle/>
          <a:p>
            <a:pPr indent="0" marL="0">
              <a:buNone/>
            </a:pPr>
            <a:r>
              <a:rPr lang="en-US" sz="1250" dirty="0">
                <a:solidFill>
                  <a:schemeClr val="bg1"/>
                </a:solidFill>
              </a:rPr>
              <a:t>Days 1–3: inbound endpoint, case matching, duplicate guard, transition timestamps.  Days 4–7: procurement approver role, submission with receipts and staleness check, case closure; one version, then freeze.  Days 8–12: run the ten frozen tasks, score against sandbox records, publish the engineering report. Business validation starts only when a partner provides real tasks.</a:t>
            </a:r>
            <a:endParaRPr lang="en-US" sz="12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indent="0" marL="0">
              <a:buNone/>
            </a:pPr>
            <a:r>
              <a:rPr lang="en-US" sz="3000" b="1" dirty="0">
                <a:solidFill>
                  <a:schemeClr val="tx1"/>
                </a:solidFill>
              </a:rPr>
              <a:t>Appendix: numbers to have ready</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4023360"/>
                <a:gridCol w="4023360"/>
                <a:gridCol w="30175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Figure</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54864" marR="54864" marT="54864" marB="54864" anchor="ctr">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0F5C4D"/>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Real-model calls in v48 tests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34 (A 15, B 11, C 8); USD 1.11</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competition_v48/VALIDATION.txt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Correction calls in v49</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5 (A 3, C 2); USD 0.147</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competition_v49/VALIDATION.txt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Model cost per exception incl. one correction</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under USD 1</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same</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Cloud ledger / cap; project authorisation</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USD 3.03 / 4.00; USD 20</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docs/PROGRESS.md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Sandbox and acceptance tests; v50 offline tests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41 passed; 6 passed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procurement_sandbox/tests; competition_v50</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Real-model items failing semantic review before correction</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1 of 3 (item C)</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docs/VALIDATION.md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Free-form inference on frozen novel packets (v36)</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0 of 6; then 2 of 2 by labels with a manual semantic defect</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competition_v36/RESULTS.md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Simulated unmet-demand recovery, FRN: same safety stock vs equal waste</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+46.6% vs −4.7%</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for_docs/key_numbers_simulation.md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BPI 2019 order-to-first-goods-receipt median; simulated saving</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9.3 days; 5–11%</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for_docs/key_numbers.md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Pre-set pilot targets (not results)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−30% active time vs manual; −15% further vs strong forms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docs/PRODUCT_THESIS_AND_ SANDBOX_PLAN.md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Pilot size</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10–20 consecutive exceptions, three arms</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c>
                  <a:txBody>
                    <a:bodyPr/>
                    <a:lstStyle/>
                    <a:p>
                      <a:pPr indent="0" marL="0">
                        <a:buNone/>
                      </a:pPr>
                      <a:r>
                        <a:rPr lang="en-US" sz="1150" dirty="0">
                          <a:solidFill>
                            <a:srgbClr val="14353A"/>
                          </a:solidFill>
                          <a:latin typeface="Calibri" pitchFamily="34" charset="0"/>
                          <a:ea typeface="Calibri" pitchFamily="34" charset="-122"/>
                          <a:cs typeface="Calibri" pitchFamily="34" charset="-120"/>
                        </a:rPr>
                        <a:t>docs/VALIDATION.md</a:t>
                      </a:r>
                      <a:endParaRPr lang="en-US" sz="1150" dirty="0">
                        <a:latin typeface="Calibri" charset="0"/>
                        <a:ea typeface="Calibri" charset="0"/>
                        <a:cs typeface="Calibri" charset="0"/>
                      </a:endParaRPr>
                    </a:p>
                  </a:txBody>
                  <a:tcPr marL="54864" marR="54864" marT="54864" marB="54864" anchor="t">
                    <a:lnL w="6350" cap="flat" cmpd="sng" algn="ctr">
                      <a:solidFill>
                        <a:srgbClr val="D9E6E1"/>
                      </a:solidFill>
                      <a:prstDash val="solid"/>
                      <a:round/>
                      <a:headEnd type="none" w="med" len="med"/>
                      <a:tailEnd type="none" w="med" len="med"/>
                    </a:lnL>
                    <a:lnR w="6350" cap="flat" cmpd="sng" algn="ctr">
                      <a:solidFill>
                        <a:srgbClr val="D9E6E1"/>
                      </a:solidFill>
                      <a:prstDash val="solid"/>
                      <a:round/>
                      <a:headEnd type="none" w="med" len="med"/>
                      <a:tailEnd type="none" w="med" len="med"/>
                    </a:lnR>
                    <a:lnT w="6350" cap="flat" cmpd="sng" algn="ctr">
                      <a:solidFill>
                        <a:srgbClr val="D9E6E1"/>
                      </a:solidFill>
                      <a:prstDash val="solid"/>
                      <a:round/>
                      <a:headEnd type="none" w="med" len="med"/>
                      <a:tailEnd type="none" w="med" len="med"/>
                    </a:lnT>
                    <a:lnB w="6350" cap="flat" cmpd="sng" algn="ctr">
                      <a:solidFill>
                        <a:srgbClr val="D9E6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144768"/>
            <a:ext cx="10972800" cy="274320"/>
          </a:xfrm>
          <a:prstGeom prst="rect">
            <a:avLst/>
          </a:prstGeom>
          <a:noFill/>
          <a:ln/>
        </p:spPr>
        <p:txBody>
          <a:bodyPr wrap="square" lIns="0" tIns="0" rIns="0" bIns="0" rtlCol="0" anchor="t"/>
          <a:lstStyle/>
          <a:p>
            <a:pPr indent="0" marL="0">
              <a:buNone/>
            </a:pPr>
            <a:r>
              <a:rPr lang="en-US" sz="1050" dirty="0">
                <a:solidFill>
                  <a:schemeClr val="accent4"/>
                </a:solidFill>
              </a:rPr>
              <a:t>Paths are relative to the repository logisticPM/sap; competition_v&lt;NN&gt; records live in the full project folder.</a:t>
            </a:r>
            <a:endParaRPr lang="en-US" sz="10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Demand Pulse Evidence">
  <a:themeElements>
    <a:clrScheme name="Demand Pulse Evidence">
      <a:dk1>
        <a:srgbClr val="14353A"/>
      </a:dk1>
      <a:lt1>
        <a:srgbClr val="FFFFFF"/>
      </a:lt1>
      <a:dk2>
        <a:srgbClr val="0F5C4D"/>
      </a:dk2>
      <a:lt2>
        <a:srgbClr val="EEF4F2"/>
      </a:lt2>
      <a:accent1>
        <a:srgbClr val="16765F"/>
      </a:accent1>
      <a:accent2>
        <a:srgbClr val="C8781E"/>
      </a:accent2>
      <a:accent3>
        <a:srgbClr val="B3261E"/>
      </a:accent3>
      <a:accent4>
        <a:srgbClr val="557078"/>
      </a:accent4>
      <a:accent5>
        <a:srgbClr val="D9E6E1"/>
      </a:accent5>
      <a:accent6>
        <a:srgbClr val="9AB7AE"/>
      </a:accent6>
      <a:hlink>
        <a:srgbClr val="0F5C4D"/>
      </a:hlink>
      <a:folHlink>
        <a:srgbClr val="557078"/>
      </a:folHlink>
    </a:clrScheme>
    <a:fontScheme name="Demand Pulse Evid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Pulse business case</dc:title>
  <dc:subject>Internal stakeholder review</dc:subject>
  <dc:creator>The J Collective</dc:creator>
  <cp:lastModifiedBy>The J Collective</cp:lastModifiedBy>
  <cp:revision>1</cp:revision>
  <dcterms:created xsi:type="dcterms:W3CDTF">2026-10-25T10:16:40Z</dcterms:created>
  <dcterms:modified xsi:type="dcterms:W3CDTF">2026-10-25T10:16:40Z</dcterms:modified>
</cp:coreProperties>
</file>